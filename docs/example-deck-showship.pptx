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Development work</c:v>
                </c:pt>
              </c:strCache>
            </c:strRef>
          </c:tx>
          <c:spPr>
            <a:solidFill>
              <a:srgbClr val="6C4CF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</c:v>
                </c:pt>
                <c:pt idx="1">
                  <c:v>14</c:v>
                </c:pt>
                <c:pt idx="2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Features submitted</c:v>
                </c:pt>
              </c:strCache>
            </c:strRef>
          </c:tx>
          <c:spPr>
            <a:solidFill>
              <a:srgbClr val="1715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Features approved</c:v>
                </c:pt>
              </c:strCache>
            </c:strRef>
          </c:tx>
          <c:spPr>
            <a:solidFill>
              <a:srgbClr val="B9AE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2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Reviews given</c:v>
                </c:pt>
              </c:strCache>
            </c:strRef>
          </c:tx>
          <c:spPr>
            <a:solidFill>
              <a:srgbClr val="10A6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7153A"/>
                    </a:solidFill>
                    <a:latin typeface="Poppins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Leo Park @Leo</c:v>
                  </c:pt>
                  <c:pt idx="1">
                    <c:v>Nina Rao @Nina</c:v>
                  </c:pt>
                  <c:pt idx="2">
                    <c:v>Maya Lin @Maya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7153A"/>
                  </a:solidFill>
                  <a:latin typeface="Poppi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7153A"/>
                </a:solidFill>
                <a:latin typeface="Poppi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EEECF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
              <a:latin typeface="Poppins"/>
              <a:cs typeface="Poppin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boo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o8V0pU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44" y="658368"/>
            <a:ext cx="521232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592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40080" y="2331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640080" y="269748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Weekly Development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Report</a:t>
            </a:r>
            <a:endParaRPr lang="en-US" sz="4800" dirty="0"/>
          </a:p>
        </p:txBody>
      </p:sp>
      <p:sp>
        <p:nvSpPr>
          <p:cNvPr id="7" name="Shape 3"/>
          <p:cNvSpPr/>
          <p:nvPr/>
        </p:nvSpPr>
        <p:spPr>
          <a:xfrm>
            <a:off x="640080" y="5577840"/>
            <a:ext cx="2322576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23225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3191256" y="5577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191256" y="5577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11" name="Image 2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7607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66960" y="5733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Executive Summary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 at a Glance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422904" cy="3611880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12700">
            <a:solidFill>
              <a:srgbClr val="DAD2FD"/>
            </a:solidFill>
            <a:prstDash val="solid"/>
          </a:ln>
          <a:effectLst>
            <a:outerShdw sx="100000" sy="100000" kx="0" ky="0" algn="bl" rotWithShape="0" blurRad="152400" dist="38100" dir="5400000">
              <a:srgbClr val="6C4CF5">
                <a:alpha val="12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8680" y="2011680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EDEAFE"/>
          </a:solidFill>
          <a:ln/>
        </p:spPr>
      </p:sp>
      <p:sp>
        <p:nvSpPr>
          <p:cNvPr id="11" name="Shape 7"/>
          <p:cNvSpPr/>
          <p:nvPr/>
        </p:nvSpPr>
        <p:spPr>
          <a:xfrm>
            <a:off x="987552" y="2148840"/>
            <a:ext cx="109728" cy="109728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12" name="Text 8"/>
          <p:cNvSpPr/>
          <p:nvPr/>
        </p:nvSpPr>
        <p:spPr>
          <a:xfrm>
            <a:off x="1170432" y="2011680"/>
            <a:ext cx="2554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1391412" y="2560320"/>
            <a:ext cx="1920240" cy="192024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E9E4FE"/>
          </a:solidFill>
          <a:ln/>
        </p:spPr>
      </p:sp>
      <p:sp>
        <p:nvSpPr>
          <p:cNvPr id="14" name="Shape 10"/>
          <p:cNvSpPr/>
          <p:nvPr/>
        </p:nvSpPr>
        <p:spPr>
          <a:xfrm>
            <a:off x="1391412" y="2560320"/>
            <a:ext cx="1920240" cy="192024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6C4CF5"/>
          </a:solidFill>
          <a:ln/>
        </p:spPr>
      </p:sp>
      <p:sp>
        <p:nvSpPr>
          <p:cNvPr id="15" name="Text 11"/>
          <p:cNvSpPr/>
          <p:nvPr/>
        </p:nvSpPr>
        <p:spPr>
          <a:xfrm>
            <a:off x="1391412" y="296357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100%</a:t>
            </a:r>
            <a:endParaRPr lang="en-US" sz="3000" dirty="0"/>
          </a:p>
        </p:txBody>
      </p:sp>
      <p:sp>
        <p:nvSpPr>
          <p:cNvPr id="16" name="Shape 12"/>
          <p:cNvSpPr/>
          <p:nvPr/>
        </p:nvSpPr>
        <p:spPr>
          <a:xfrm>
            <a:off x="1864614" y="3657600"/>
            <a:ext cx="973836" cy="27432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17" name="Text 13"/>
          <p:cNvSpPr/>
          <p:nvPr/>
        </p:nvSpPr>
        <p:spPr>
          <a:xfrm>
            <a:off x="1864614" y="365760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14400" y="40690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Account Verified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914400" y="4434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approved our company account; the app is now in TestFlight.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4383024" y="1783080"/>
            <a:ext cx="3422904" cy="3611880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12700">
            <a:solidFill>
              <a:srgbClr val="C3E9E7"/>
            </a:solidFill>
            <a:prstDash val="solid"/>
          </a:ln>
          <a:effectLst>
            <a:outerShdw sx="100000" sy="100000" kx="0" ky="0" algn="bl" rotWithShape="0" blurRad="152400" dist="38100" dir="5400000">
              <a:srgbClr val="10A6A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611624" y="2011680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E2F4F4"/>
          </a:solidFill>
          <a:ln/>
        </p:spPr>
      </p:sp>
      <p:sp>
        <p:nvSpPr>
          <p:cNvPr id="22" name="Shape 18"/>
          <p:cNvSpPr/>
          <p:nvPr/>
        </p:nvSpPr>
        <p:spPr>
          <a:xfrm>
            <a:off x="4730496" y="2148840"/>
            <a:ext cx="109728" cy="109728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3" name="Text 19"/>
          <p:cNvSpPr/>
          <p:nvPr/>
        </p:nvSpPr>
        <p:spPr>
          <a:xfrm>
            <a:off x="4913376" y="2011680"/>
            <a:ext cx="2554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&amp; Clinic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134356" y="2560320"/>
            <a:ext cx="1920240" cy="192024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F2F1"/>
          </a:solidFill>
          <a:ln/>
        </p:spPr>
      </p:sp>
      <p:sp>
        <p:nvSpPr>
          <p:cNvPr id="25" name="Shape 21"/>
          <p:cNvSpPr/>
          <p:nvPr/>
        </p:nvSpPr>
        <p:spPr>
          <a:xfrm>
            <a:off x="5134356" y="2560320"/>
            <a:ext cx="1920240" cy="1920240"/>
          </a:xfrm>
          <a:prstGeom prst="blockArc">
            <a:avLst>
              <a:gd name="adj1" fmla="val 10800000"/>
              <a:gd name="adj2" fmla="val 17820000"/>
              <a:gd name="adj3" fmla="val 11000"/>
            </a:avLst>
          </a:prstGeom>
          <a:solidFill>
            <a:srgbClr val="10A6A0"/>
          </a:solidFill>
          <a:ln/>
        </p:spPr>
      </p:sp>
      <p:sp>
        <p:nvSpPr>
          <p:cNvPr id="26" name="Text 22"/>
          <p:cNvSpPr/>
          <p:nvPr/>
        </p:nvSpPr>
        <p:spPr>
          <a:xfrm>
            <a:off x="5134356" y="2963570"/>
            <a:ext cx="192024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3000" dirty="0"/>
          </a:p>
        </p:txBody>
      </p:sp>
      <p:sp>
        <p:nvSpPr>
          <p:cNvPr id="27" name="Shape 23"/>
          <p:cNvSpPr/>
          <p:nvPr/>
        </p:nvSpPr>
        <p:spPr>
          <a:xfrm>
            <a:off x="5646420" y="365760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28" name="Text 24"/>
          <p:cNvSpPr/>
          <p:nvPr/>
        </p:nvSpPr>
        <p:spPr>
          <a:xfrm>
            <a:off x="5646420" y="3657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657344" y="40690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 of 8 Phases Complete</a:t>
            </a:r>
            <a:endParaRPr lang="en-US" sz="1450" dirty="0"/>
          </a:p>
        </p:txBody>
      </p:sp>
      <p:sp>
        <p:nvSpPr>
          <p:cNvPr id="30" name="Text 26"/>
          <p:cNvSpPr/>
          <p:nvPr/>
        </p:nvSpPr>
        <p:spPr>
          <a:xfrm>
            <a:off x="4657344" y="4434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app and clinic dashboard are being built in parallel.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8125968" y="1783080"/>
            <a:ext cx="3422904" cy="3611880"/>
          </a:xfrm>
          <a:prstGeom prst="roundRect">
            <a:avLst>
              <a:gd name="adj" fmla="val 5877"/>
            </a:avLst>
          </a:prstGeom>
          <a:solidFill>
            <a:srgbClr val="FFFFFF"/>
          </a:solidFill>
          <a:ln w="12700">
            <a:solidFill>
              <a:srgbClr val="FFDAD2"/>
            </a:solidFill>
            <a:prstDash val="solid"/>
          </a:ln>
          <a:effectLst>
            <a:outerShdw sx="100000" sy="100000" kx="0" ky="0" algn="bl" rotWithShape="0" blurRad="152400" dist="38100" dir="5400000">
              <a:srgbClr val="FF6B4A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8354568" y="2011680"/>
            <a:ext cx="2965704" cy="384048"/>
          </a:xfrm>
          <a:prstGeom prst="roundRect">
            <a:avLst>
              <a:gd name="adj" fmla="val 50000"/>
            </a:avLst>
          </a:prstGeom>
          <a:solidFill>
            <a:srgbClr val="FFEDE9"/>
          </a:solidFill>
          <a:ln/>
        </p:spPr>
      </p:sp>
      <p:sp>
        <p:nvSpPr>
          <p:cNvPr id="33" name="Shape 29"/>
          <p:cNvSpPr/>
          <p:nvPr/>
        </p:nvSpPr>
        <p:spPr>
          <a:xfrm>
            <a:off x="8473440" y="2148840"/>
            <a:ext cx="109728" cy="1097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34" name="Text 30"/>
          <p:cNvSpPr/>
          <p:nvPr/>
        </p:nvSpPr>
        <p:spPr>
          <a:xfrm>
            <a:off x="8656320" y="2011680"/>
            <a:ext cx="25542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Analytics</a:t>
            </a:r>
            <a:endParaRPr lang="en-US" sz="1100" dirty="0"/>
          </a:p>
        </p:txBody>
      </p:sp>
      <p:sp>
        <p:nvSpPr>
          <p:cNvPr id="35" name="Text 31"/>
          <p:cNvSpPr/>
          <p:nvPr/>
        </p:nvSpPr>
        <p:spPr>
          <a:xfrm>
            <a:off x="8877300" y="2560320"/>
            <a:ext cx="192024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/ 2</a:t>
            </a:r>
            <a:endParaRPr lang="en-US" sz="3400" dirty="0"/>
          </a:p>
        </p:txBody>
      </p:sp>
      <p:sp>
        <p:nvSpPr>
          <p:cNvPr id="36" name="Shape 32"/>
          <p:cNvSpPr/>
          <p:nvPr/>
        </p:nvSpPr>
        <p:spPr>
          <a:xfrm>
            <a:off x="8959596" y="3328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7" name="Shape 33"/>
          <p:cNvSpPr/>
          <p:nvPr/>
        </p:nvSpPr>
        <p:spPr>
          <a:xfrm>
            <a:off x="9892284" y="3328416"/>
            <a:ext cx="822960" cy="182880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38" name="Shape 34"/>
          <p:cNvSpPr/>
          <p:nvPr/>
        </p:nvSpPr>
        <p:spPr>
          <a:xfrm>
            <a:off x="9389364" y="365760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39" name="Text 35"/>
          <p:cNvSpPr/>
          <p:nvPr/>
        </p:nvSpPr>
        <p:spPr>
          <a:xfrm>
            <a:off x="9389364" y="365760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 track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400288" y="4069080"/>
            <a:ext cx="2874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Workstreams Complete</a:t>
            </a:r>
            <a:endParaRPr lang="en-US" sz="1450" dirty="0"/>
          </a:p>
        </p:txBody>
      </p:sp>
      <p:sp>
        <p:nvSpPr>
          <p:cNvPr id="41" name="Text 37"/>
          <p:cNvSpPr/>
          <p:nvPr/>
        </p:nvSpPr>
        <p:spPr>
          <a:xfrm>
            <a:off x="8400288" y="4434840"/>
            <a:ext cx="2874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transfer to the new system finished; usage tracking is being rolled out.</a:t>
            </a:r>
            <a:endParaRPr lang="en-US" sz="1150" dirty="0"/>
          </a:p>
        </p:txBody>
      </p:sp>
      <p:sp>
        <p:nvSpPr>
          <p:cNvPr id="42" name="Shape 38"/>
          <p:cNvSpPr/>
          <p:nvPr/>
        </p:nvSpPr>
        <p:spPr>
          <a:xfrm>
            <a:off x="640080" y="5577840"/>
            <a:ext cx="10908792" cy="640080"/>
          </a:xfrm>
          <a:prstGeom prst="roundRect">
            <a:avLst>
              <a:gd name="adj" fmla="val 50000"/>
            </a:avLst>
          </a:prstGeom>
          <a:solidFill>
            <a:srgbClr val="17153A"/>
          </a:solidFill>
          <a:ln/>
        </p:spPr>
      </p:sp>
      <p:sp>
        <p:nvSpPr>
          <p:cNvPr id="43" name="Shape 39"/>
          <p:cNvSpPr/>
          <p:nvPr/>
        </p:nvSpPr>
        <p:spPr>
          <a:xfrm>
            <a:off x="731520" y="566928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FFC94A"/>
          </a:solidFill>
          <a:ln/>
        </p:spPr>
      </p:sp>
      <p:sp>
        <p:nvSpPr>
          <p:cNvPr id="44" name="Text 40"/>
          <p:cNvSpPr/>
          <p:nvPr/>
        </p:nvSpPr>
        <p:spPr>
          <a:xfrm>
            <a:off x="731520" y="5669280"/>
            <a:ext cx="1508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update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2423160" y="55778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One decision is needed this week: can patients turn off SMS reminders and keep email only? (see Decisions Needed)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Mobile · App Store Release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Store: Developer Account Verified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10030968" y="896112"/>
            <a:ext cx="1517904" cy="27432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10" name="Text 6"/>
          <p:cNvSpPr/>
          <p:nvPr/>
        </p:nvSpPr>
        <p:spPr>
          <a:xfrm>
            <a:off x="10030968" y="89611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 resolved</a:t>
            </a:r>
            <a:endParaRPr lang="en-US" sz="1100" dirty="0"/>
          </a:p>
        </p:txBody>
      </p:sp>
      <p:pic>
        <p:nvPicPr>
          <p:cNvPr id="11" name="Image 2" descr="/var/folders/lw/rmylcyvd5rjfxk9g1z9rrm8w0000gq/T/showship-deck-o8V0pU/trail_tl_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011680"/>
            <a:ext cx="10908792" cy="164592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645920" y="2404872"/>
            <a:ext cx="548640" cy="548640"/>
          </a:xfrm>
          <a:prstGeom prst="ellipse">
            <a:avLst/>
          </a:prstGeom>
          <a:solidFill>
            <a:srgbClr val="F0503C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F0503C">
                <a:alpha val="25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1645920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!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40080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5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Last week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640080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640080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for the company's D-U-N-S business number.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429658" y="2807208"/>
            <a:ext cx="548640" cy="548640"/>
          </a:xfrm>
          <a:prstGeom prst="ellipse">
            <a:avLst/>
          </a:prstGeom>
          <a:solidFill>
            <a:srgbClr val="6C4CF5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6C4CF5">
                <a:alpha val="2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429658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3423818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3423818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Number Received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3423818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provided the D-U-N-S number.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7213397" y="2404872"/>
            <a:ext cx="548640" cy="548640"/>
          </a:xfrm>
          <a:prstGeom prst="ellipse">
            <a:avLst/>
          </a:prstGeom>
          <a:solidFill>
            <a:srgbClr val="6C4CF5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6C4CF5">
                <a:alpha val="2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213397" y="24048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207557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6207557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Account Verified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207557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Apple verified the company developer account.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9997135" y="2807208"/>
            <a:ext cx="548640" cy="548640"/>
          </a:xfrm>
          <a:prstGeom prst="ellipse">
            <a:avLst/>
          </a:prstGeom>
          <a:solidFill>
            <a:srgbClr val="6C4CF5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25400" dir="5400000">
              <a:srgbClr val="6C4CF5">
                <a:alpha val="25000"/>
              </a:srgbClr>
            </a:outerShdw>
          </a:effectLst>
        </p:spPr>
      </p:sp>
      <p:sp>
        <p:nvSpPr>
          <p:cNvPr id="28" name="Text 23"/>
          <p:cNvSpPr/>
          <p:nvPr/>
        </p:nvSpPr>
        <p:spPr>
          <a:xfrm>
            <a:off x="9997135" y="280720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8991295" y="37947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This week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8991295" y="4050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TestFlight</a:t>
            </a:r>
            <a:endParaRPr lang="en-US" sz="1500" dirty="0"/>
          </a:p>
        </p:txBody>
      </p:sp>
      <p:sp>
        <p:nvSpPr>
          <p:cNvPr id="31" name="Text 26"/>
          <p:cNvSpPr/>
          <p:nvPr/>
        </p:nvSpPr>
        <p:spPr>
          <a:xfrm>
            <a:off x="8991295" y="44348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build available to internal testers.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640080" y="5577840"/>
            <a:ext cx="10908792" cy="640080"/>
          </a:xfrm>
          <a:prstGeom prst="roundRect">
            <a:avLst>
              <a:gd name="adj" fmla="val 50000"/>
            </a:avLst>
          </a:prstGeom>
          <a:solidFill>
            <a:srgbClr val="EDEAFE"/>
          </a:solidFill>
          <a:ln/>
        </p:spPr>
      </p:sp>
      <p:sp>
        <p:nvSpPr>
          <p:cNvPr id="33" name="Shape 28"/>
          <p:cNvSpPr/>
          <p:nvPr/>
        </p:nvSpPr>
        <p:spPr>
          <a:xfrm>
            <a:off x="731520" y="5669280"/>
            <a:ext cx="1783080" cy="45720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34" name="Text 29"/>
          <p:cNvSpPr/>
          <p:nvPr/>
        </p:nvSpPr>
        <p:spPr>
          <a:xfrm>
            <a:off x="731520" y="56692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2697480" y="55778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app is published under the company's own verified account, ready for beta testers.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Progress Overview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Patient App &amp; Clinic Dashboard Progress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484632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1371600" y="2606040"/>
            <a:ext cx="3383280" cy="338328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F2F1"/>
          </a:solidFill>
          <a:ln/>
        </p:spPr>
      </p:sp>
      <p:sp>
        <p:nvSpPr>
          <p:cNvPr id="11" name="Shape 7"/>
          <p:cNvSpPr/>
          <p:nvPr/>
        </p:nvSpPr>
        <p:spPr>
          <a:xfrm>
            <a:off x="1371600" y="2606040"/>
            <a:ext cx="3383280" cy="3383280"/>
          </a:xfrm>
          <a:prstGeom prst="blockArc">
            <a:avLst>
              <a:gd name="adj1" fmla="val 10800000"/>
              <a:gd name="adj2" fmla="val 17820000"/>
              <a:gd name="adj3" fmla="val 11000"/>
            </a:avLst>
          </a:prstGeom>
          <a:solidFill>
            <a:srgbClr val="10A6A0"/>
          </a:solidFill>
          <a:ln/>
        </p:spPr>
      </p:sp>
      <p:sp>
        <p:nvSpPr>
          <p:cNvPr id="12" name="Text 8"/>
          <p:cNvSpPr/>
          <p:nvPr/>
        </p:nvSpPr>
        <p:spPr>
          <a:xfrm>
            <a:off x="1371600" y="320040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65%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914400" y="45720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Combined Progress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14400" y="49834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 + Clinic dashboard · 8 phases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914400" y="56692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Progress = average completion of each track's four phases.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760720" y="1783080"/>
            <a:ext cx="2756916" cy="219456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361938" y="2331720"/>
            <a:ext cx="1554480" cy="155448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F2F1"/>
          </a:solidFill>
          <a:ln/>
        </p:spPr>
      </p:sp>
      <p:sp>
        <p:nvSpPr>
          <p:cNvPr id="18" name="Shape 14"/>
          <p:cNvSpPr/>
          <p:nvPr/>
        </p:nvSpPr>
        <p:spPr>
          <a:xfrm>
            <a:off x="6361938" y="2331720"/>
            <a:ext cx="1554480" cy="1554480"/>
          </a:xfrm>
          <a:prstGeom prst="blockArc">
            <a:avLst>
              <a:gd name="adj1" fmla="val 10800000"/>
              <a:gd name="adj2" fmla="val 17280000"/>
              <a:gd name="adj3" fmla="val 11000"/>
            </a:avLst>
          </a:prstGeom>
          <a:solidFill>
            <a:srgbClr val="10A6A0"/>
          </a:solidFill>
          <a:ln/>
        </p:spPr>
      </p:sp>
      <p:sp>
        <p:nvSpPr>
          <p:cNvPr id="19" name="Text 15"/>
          <p:cNvSpPr/>
          <p:nvPr/>
        </p:nvSpPr>
        <p:spPr>
          <a:xfrm>
            <a:off x="6361938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5943600" y="3246120"/>
            <a:ext cx="2391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943600" y="3566160"/>
            <a:ext cx="2391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791956" y="1783080"/>
            <a:ext cx="2756916" cy="2194560"/>
          </a:xfrm>
          <a:prstGeom prst="roundRect">
            <a:avLst>
              <a:gd name="adj" fmla="val 9167"/>
            </a:avLst>
          </a:prstGeom>
          <a:solidFill>
            <a:srgbClr val="FFFFFF"/>
          </a:solidFill>
          <a:ln w="12700">
            <a:solidFill>
              <a:srgbClr val="CAE2E1"/>
            </a:solidFill>
            <a:prstDash val="solid"/>
          </a:ln>
          <a:effectLst>
            <a:outerShdw sx="100000" sy="100000" kx="0" ky="0" algn="bl" rotWithShape="0" blurRad="127000" dist="25400" dir="5400000">
              <a:srgbClr val="0C7D78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9393174" y="2331720"/>
            <a:ext cx="1554480" cy="1554480"/>
          </a:xfrm>
          <a:prstGeom prst="blockArc">
            <a:avLst>
              <a:gd name="adj1" fmla="val 10800000"/>
              <a:gd name="adj2" fmla="val 0"/>
              <a:gd name="adj3" fmla="val 11000"/>
            </a:avLst>
          </a:prstGeom>
          <a:solidFill>
            <a:srgbClr val="DBECEB"/>
          </a:solidFill>
          <a:ln/>
        </p:spPr>
      </p:sp>
      <p:sp>
        <p:nvSpPr>
          <p:cNvPr id="24" name="Shape 20"/>
          <p:cNvSpPr/>
          <p:nvPr/>
        </p:nvSpPr>
        <p:spPr>
          <a:xfrm>
            <a:off x="9393174" y="2331720"/>
            <a:ext cx="1554480" cy="1554480"/>
          </a:xfrm>
          <a:prstGeom prst="blockArc">
            <a:avLst>
              <a:gd name="adj1" fmla="val 10800000"/>
              <a:gd name="adj2" fmla="val 18360000"/>
              <a:gd name="adj3" fmla="val 11000"/>
            </a:avLst>
          </a:prstGeom>
          <a:solidFill>
            <a:srgbClr val="0C7D78"/>
          </a:solidFill>
          <a:ln/>
        </p:spPr>
      </p:sp>
      <p:sp>
        <p:nvSpPr>
          <p:cNvPr id="25" name="Text 21"/>
          <p:cNvSpPr/>
          <p:nvPr/>
        </p:nvSpPr>
        <p:spPr>
          <a:xfrm>
            <a:off x="9393174" y="25603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2200" dirty="0"/>
          </a:p>
        </p:txBody>
      </p:sp>
      <p:sp>
        <p:nvSpPr>
          <p:cNvPr id="26" name="Text 22"/>
          <p:cNvSpPr/>
          <p:nvPr/>
        </p:nvSpPr>
        <p:spPr>
          <a:xfrm>
            <a:off x="8974836" y="3246120"/>
            <a:ext cx="23911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8974836" y="3566160"/>
            <a:ext cx="23911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Nina Rao @Nina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760720" y="4251960"/>
            <a:ext cx="5788152" cy="1965960"/>
          </a:xfrm>
          <a:prstGeom prst="roundRect">
            <a:avLst>
              <a:gd name="adj" fmla="val 10233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29" name="Text 25"/>
          <p:cNvSpPr/>
          <p:nvPr/>
        </p:nvSpPr>
        <p:spPr>
          <a:xfrm>
            <a:off x="603504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03504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1" name="Shape 27"/>
          <p:cNvSpPr/>
          <p:nvPr/>
        </p:nvSpPr>
        <p:spPr>
          <a:xfrm>
            <a:off x="658368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2" name="Shape 28"/>
          <p:cNvSpPr/>
          <p:nvPr/>
        </p:nvSpPr>
        <p:spPr>
          <a:xfrm>
            <a:off x="713232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3" name="Shape 29"/>
          <p:cNvSpPr/>
          <p:nvPr/>
        </p:nvSpPr>
        <p:spPr>
          <a:xfrm>
            <a:off x="768096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10A6A0"/>
          </a:solidFill>
          <a:ln/>
        </p:spPr>
      </p:sp>
      <p:sp>
        <p:nvSpPr>
          <p:cNvPr id="34" name="Shape 30"/>
          <p:cNvSpPr/>
          <p:nvPr/>
        </p:nvSpPr>
        <p:spPr>
          <a:xfrm>
            <a:off x="822960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FDBD9"/>
          </a:solidFill>
          <a:ln/>
        </p:spPr>
      </p:sp>
      <p:sp>
        <p:nvSpPr>
          <p:cNvPr id="35" name="Shape 31"/>
          <p:cNvSpPr/>
          <p:nvPr/>
        </p:nvSpPr>
        <p:spPr>
          <a:xfrm>
            <a:off x="877824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9FDBD9"/>
          </a:solidFill>
          <a:ln/>
        </p:spPr>
      </p:sp>
      <p:sp>
        <p:nvSpPr>
          <p:cNvPr id="36" name="Shape 32"/>
          <p:cNvSpPr/>
          <p:nvPr/>
        </p:nvSpPr>
        <p:spPr>
          <a:xfrm>
            <a:off x="932688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AF5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37" name="Shape 33"/>
          <p:cNvSpPr/>
          <p:nvPr/>
        </p:nvSpPr>
        <p:spPr>
          <a:xfrm>
            <a:off x="9875520" y="48006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ECEAF5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38" name="Shape 34"/>
          <p:cNvSpPr/>
          <p:nvPr/>
        </p:nvSpPr>
        <p:spPr>
          <a:xfrm>
            <a:off x="6035040" y="5550408"/>
            <a:ext cx="128016" cy="128016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9" name="Text 35"/>
          <p:cNvSpPr/>
          <p:nvPr/>
        </p:nvSpPr>
        <p:spPr>
          <a:xfrm>
            <a:off x="6236208" y="539496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 Completed</a:t>
            </a:r>
            <a:endParaRPr lang="en-US" sz="2000" dirty="0"/>
          </a:p>
        </p:txBody>
      </p:sp>
      <p:sp>
        <p:nvSpPr>
          <p:cNvPr id="40" name="Shape 36"/>
          <p:cNvSpPr/>
          <p:nvPr/>
        </p:nvSpPr>
        <p:spPr>
          <a:xfrm>
            <a:off x="7781544" y="5550408"/>
            <a:ext cx="128016" cy="128016"/>
          </a:xfrm>
          <a:prstGeom prst="ellipse">
            <a:avLst/>
          </a:prstGeom>
          <a:solidFill>
            <a:srgbClr val="9FDBD9"/>
          </a:solidFill>
          <a:ln/>
        </p:spPr>
      </p:sp>
      <p:sp>
        <p:nvSpPr>
          <p:cNvPr id="41" name="Text 37"/>
          <p:cNvSpPr/>
          <p:nvPr/>
        </p:nvSpPr>
        <p:spPr>
          <a:xfrm>
            <a:off x="7982712" y="539496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 In Progress</a:t>
            </a:r>
            <a:endParaRPr lang="en-US" sz="2000" dirty="0"/>
          </a:p>
        </p:txBody>
      </p:sp>
      <p:sp>
        <p:nvSpPr>
          <p:cNvPr id="42" name="Shape 38"/>
          <p:cNvSpPr/>
          <p:nvPr/>
        </p:nvSpPr>
        <p:spPr>
          <a:xfrm>
            <a:off x="9528048" y="5550408"/>
            <a:ext cx="128016" cy="128016"/>
          </a:xfrm>
          <a:prstGeom prst="ellipse">
            <a:avLst/>
          </a:prstGeom>
          <a:solidFill>
            <a:srgbClr val="C9C6D8"/>
          </a:solidFill>
          <a:ln/>
        </p:spPr>
      </p:sp>
      <p:sp>
        <p:nvSpPr>
          <p:cNvPr id="43" name="Text 39"/>
          <p:cNvSpPr/>
          <p:nvPr/>
        </p:nvSpPr>
        <p:spPr>
          <a:xfrm>
            <a:off x="9729216" y="5394960"/>
            <a:ext cx="15179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Phases Not Started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Phase Breakdown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Status of Each Phase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10908792" cy="2125980"/>
          </a:xfrm>
          <a:prstGeom prst="roundRect">
            <a:avLst>
              <a:gd name="adj" fmla="val 9462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14400" y="2084832"/>
            <a:ext cx="146304" cy="146304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1" name="Text 7"/>
          <p:cNvSpPr/>
          <p:nvPr/>
        </p:nvSpPr>
        <p:spPr>
          <a:xfrm>
            <a:off x="1143000" y="19659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Patient App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1143000" y="2313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778240" y="19202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pPr algn="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track</a:t>
            </a:r>
            <a:endParaRPr lang="en-US" sz="3000" dirty="0"/>
          </a:p>
        </p:txBody>
      </p:sp>
      <p:sp>
        <p:nvSpPr>
          <p:cNvPr id="14" name="Shape 10"/>
          <p:cNvSpPr/>
          <p:nvPr/>
        </p:nvSpPr>
        <p:spPr>
          <a:xfrm>
            <a:off x="914400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4EFEE"/>
          </a:solidFill>
          <a:ln/>
        </p:spPr>
      </p:sp>
      <p:sp>
        <p:nvSpPr>
          <p:cNvPr id="15" name="Shape 11"/>
          <p:cNvSpPr/>
          <p:nvPr/>
        </p:nvSpPr>
        <p:spPr>
          <a:xfrm>
            <a:off x="914400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16" name="Text 12"/>
          <p:cNvSpPr/>
          <p:nvPr/>
        </p:nvSpPr>
        <p:spPr>
          <a:xfrm>
            <a:off x="1024128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914400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Accounts &amp; Sign-in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3522726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4EFEE"/>
          </a:solidFill>
          <a:ln/>
        </p:spPr>
      </p:sp>
      <p:sp>
        <p:nvSpPr>
          <p:cNvPr id="19" name="Shape 15"/>
          <p:cNvSpPr/>
          <p:nvPr/>
        </p:nvSpPr>
        <p:spPr>
          <a:xfrm>
            <a:off x="3522726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0" name="Text 16"/>
          <p:cNvSpPr/>
          <p:nvPr/>
        </p:nvSpPr>
        <p:spPr>
          <a:xfrm>
            <a:off x="3632454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522726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&amp; Maps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131052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4EFEE"/>
          </a:solidFill>
          <a:ln/>
        </p:spPr>
      </p:sp>
      <p:sp>
        <p:nvSpPr>
          <p:cNvPr id="23" name="Shape 19"/>
          <p:cNvSpPr/>
          <p:nvPr/>
        </p:nvSpPr>
        <p:spPr>
          <a:xfrm>
            <a:off x="6131052" y="2743200"/>
            <a:ext cx="1014070" cy="384048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4" name="Text 20"/>
          <p:cNvSpPr/>
          <p:nvPr/>
        </p:nvSpPr>
        <p:spPr>
          <a:xfrm>
            <a:off x="7218274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40%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31052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8739378" y="27432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F1F0F6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27" name="Text 23"/>
          <p:cNvSpPr/>
          <p:nvPr/>
        </p:nvSpPr>
        <p:spPr>
          <a:xfrm>
            <a:off x="8849106" y="27432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739378" y="32004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&amp; Receipts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914400" y="34975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Booking calendar underway; payments are next.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40080" y="4183380"/>
            <a:ext cx="10908792" cy="2125980"/>
          </a:xfrm>
          <a:prstGeom prst="roundRect">
            <a:avLst>
              <a:gd name="adj" fmla="val 9462"/>
            </a:avLst>
          </a:prstGeom>
          <a:solidFill>
            <a:srgbClr val="FFFFFF"/>
          </a:solidFill>
          <a:ln w="12700">
            <a:solidFill>
              <a:srgbClr val="C9E0E0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14400" y="4485132"/>
            <a:ext cx="146304" cy="146304"/>
          </a:xfrm>
          <a:prstGeom prst="ellipse">
            <a:avLst/>
          </a:prstGeom>
          <a:solidFill>
            <a:srgbClr val="0B7470"/>
          </a:solidFill>
          <a:ln/>
        </p:spPr>
      </p:sp>
      <p:sp>
        <p:nvSpPr>
          <p:cNvPr id="32" name="Text 28"/>
          <p:cNvSpPr/>
          <p:nvPr/>
        </p:nvSpPr>
        <p:spPr>
          <a:xfrm>
            <a:off x="1143000" y="43662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 Dashboard</a:t>
            </a:r>
            <a:endParaRPr lang="en-US" sz="1700" dirty="0"/>
          </a:p>
        </p:txBody>
      </p:sp>
      <p:sp>
        <p:nvSpPr>
          <p:cNvPr id="33" name="Text 29"/>
          <p:cNvSpPr/>
          <p:nvPr/>
        </p:nvSpPr>
        <p:spPr>
          <a:xfrm>
            <a:off x="1143000" y="47137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778240" y="432054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B747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pPr algn="r"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 track</a:t>
            </a:r>
            <a:endParaRPr lang="en-US" sz="3000" dirty="0"/>
          </a:p>
        </p:txBody>
      </p:sp>
      <p:sp>
        <p:nvSpPr>
          <p:cNvPr id="35" name="Shape 31"/>
          <p:cNvSpPr/>
          <p:nvPr/>
        </p:nvSpPr>
        <p:spPr>
          <a:xfrm>
            <a:off x="914400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3E6E5"/>
          </a:solidFill>
          <a:ln/>
        </p:spPr>
      </p:sp>
      <p:sp>
        <p:nvSpPr>
          <p:cNvPr id="36" name="Shape 32"/>
          <p:cNvSpPr/>
          <p:nvPr/>
        </p:nvSpPr>
        <p:spPr>
          <a:xfrm>
            <a:off x="914400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0B7470"/>
          </a:solidFill>
          <a:ln/>
        </p:spPr>
      </p:sp>
      <p:sp>
        <p:nvSpPr>
          <p:cNvPr id="37" name="Text 33"/>
          <p:cNvSpPr/>
          <p:nvPr/>
        </p:nvSpPr>
        <p:spPr>
          <a:xfrm>
            <a:off x="1024128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914400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Clinic Onboarding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3522726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3E6E5"/>
          </a:solidFill>
          <a:ln/>
        </p:spPr>
      </p:sp>
      <p:sp>
        <p:nvSpPr>
          <p:cNvPr id="40" name="Shape 36"/>
          <p:cNvSpPr/>
          <p:nvPr/>
        </p:nvSpPr>
        <p:spPr>
          <a:xfrm>
            <a:off x="3522726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0B7470"/>
          </a:solidFill>
          <a:ln/>
        </p:spPr>
      </p:sp>
      <p:sp>
        <p:nvSpPr>
          <p:cNvPr id="41" name="Text 37"/>
          <p:cNvSpPr/>
          <p:nvPr/>
        </p:nvSpPr>
        <p:spPr>
          <a:xfrm>
            <a:off x="3632454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✓  100%</a:t>
            </a:r>
            <a:endParaRPr lang="en-US" sz="1100" dirty="0"/>
          </a:p>
        </p:txBody>
      </p:sp>
      <p:sp>
        <p:nvSpPr>
          <p:cNvPr id="42" name="Text 38"/>
          <p:cNvSpPr/>
          <p:nvPr/>
        </p:nvSpPr>
        <p:spPr>
          <a:xfrm>
            <a:off x="3522726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Doctor Schedules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6131052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F1F0F6"/>
          </a:solidFill>
          <a:ln w="12700">
            <a:solidFill>
              <a:srgbClr val="C9C6D8"/>
            </a:solidFill>
            <a:prstDash val="dash"/>
          </a:ln>
        </p:spPr>
      </p:sp>
      <p:sp>
        <p:nvSpPr>
          <p:cNvPr id="44" name="Text 40"/>
          <p:cNvSpPr/>
          <p:nvPr/>
        </p:nvSpPr>
        <p:spPr>
          <a:xfrm>
            <a:off x="6240780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6131052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Reports &amp; Exports</a:t>
            </a:r>
            <a:endParaRPr lang="en-US" sz="1100" dirty="0"/>
          </a:p>
        </p:txBody>
      </p:sp>
      <p:sp>
        <p:nvSpPr>
          <p:cNvPr id="46" name="Shape 42"/>
          <p:cNvSpPr/>
          <p:nvPr/>
        </p:nvSpPr>
        <p:spPr>
          <a:xfrm>
            <a:off x="8739378" y="5143500"/>
            <a:ext cx="2535174" cy="384048"/>
          </a:xfrm>
          <a:prstGeom prst="roundRect">
            <a:avLst>
              <a:gd name="adj" fmla="val 50000"/>
            </a:avLst>
          </a:prstGeom>
          <a:solidFill>
            <a:srgbClr val="D3E6E5"/>
          </a:solidFill>
          <a:ln/>
        </p:spPr>
      </p:sp>
      <p:sp>
        <p:nvSpPr>
          <p:cNvPr id="47" name="Shape 43"/>
          <p:cNvSpPr/>
          <p:nvPr/>
        </p:nvSpPr>
        <p:spPr>
          <a:xfrm>
            <a:off x="8739378" y="5143500"/>
            <a:ext cx="2028139" cy="384048"/>
          </a:xfrm>
          <a:prstGeom prst="roundRect">
            <a:avLst>
              <a:gd name="adj" fmla="val 50000"/>
            </a:avLst>
          </a:prstGeom>
          <a:solidFill>
            <a:srgbClr val="0B7470"/>
          </a:solidFill>
          <a:ln/>
        </p:spPr>
      </p:sp>
      <p:sp>
        <p:nvSpPr>
          <p:cNvPr id="48" name="Text 44"/>
          <p:cNvSpPr/>
          <p:nvPr/>
        </p:nvSpPr>
        <p:spPr>
          <a:xfrm>
            <a:off x="8849106" y="5143500"/>
            <a:ext cx="23157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80%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739378" y="5600700"/>
            <a:ext cx="253517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Reminders &amp; Notifications</a:t>
            </a:r>
            <a:endParaRPr lang="en-US" sz="1100" dirty="0"/>
          </a:p>
        </p:txBody>
      </p:sp>
      <p:sp>
        <p:nvSpPr>
          <p:cNvPr id="50" name="Text 46"/>
          <p:cNvSpPr/>
          <p:nvPr/>
        </p:nvSpPr>
        <p:spPr>
          <a:xfrm>
            <a:off x="914400" y="589788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Reminders are in final review; 4 of 5 parts verified.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ClinicBook: What Was Done on Each Task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453384" cy="416052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868680" y="1783080"/>
            <a:ext cx="822960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11" name="Shape 7"/>
          <p:cNvSpPr/>
          <p:nvPr/>
        </p:nvSpPr>
        <p:spPr>
          <a:xfrm>
            <a:off x="868680" y="1965960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196596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68680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868680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868680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pick a doctor, a day and a time slot in one screen. Free slots update as other patients book, so nobody is offered a time that is already taken.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868680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868680" y="4130421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8" name="Text 14"/>
          <p:cNvSpPr/>
          <p:nvPr/>
        </p:nvSpPr>
        <p:spPr>
          <a:xfrm>
            <a:off x="1115568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Doctor and day picker built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68680" y="4352925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0" name="Text 16"/>
          <p:cNvSpPr/>
          <p:nvPr/>
        </p:nvSpPr>
        <p:spPr>
          <a:xfrm>
            <a:off x="1115568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time slots shown live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68680" y="4575429"/>
            <a:ext cx="118872" cy="118872"/>
          </a:xfrm>
          <a:prstGeom prst="ellipse">
            <a:avLst/>
          </a:prstGeom>
          <a:ln w="19050">
            <a:solidFill>
              <a:srgbClr val="10A6A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1115568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Booking confirmation screen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868680" y="4797933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1115568" y="4743069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Rescheduling an existing booking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868680" y="5020437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15568" y="4965573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with clinic notice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367784" y="1783080"/>
            <a:ext cx="3453384" cy="416052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4596384" y="1783080"/>
            <a:ext cx="822960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29" name="Shape 25"/>
          <p:cNvSpPr/>
          <p:nvPr/>
        </p:nvSpPr>
        <p:spPr>
          <a:xfrm>
            <a:off x="4596384" y="1965960"/>
            <a:ext cx="973836" cy="27432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30" name="Text 26"/>
          <p:cNvSpPr/>
          <p:nvPr/>
        </p:nvSpPr>
        <p:spPr>
          <a:xfrm>
            <a:off x="4596384" y="1965960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Completed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4596384" y="2313432"/>
            <a:ext cx="299618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and Maps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4596384" y="283540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4596384" y="3109722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find nearby clinics by name, specialty or distance and open directions in their maps app. Reviewed and approved this week.</a:t>
            </a: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4596384" y="4039362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596384" y="4368546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6" name="Text 32"/>
          <p:cNvSpPr/>
          <p:nvPr/>
        </p:nvSpPr>
        <p:spPr>
          <a:xfrm>
            <a:off x="4843272" y="4313682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name and specialty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596384" y="4591050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8" name="Text 34"/>
          <p:cNvSpPr/>
          <p:nvPr/>
        </p:nvSpPr>
        <p:spPr>
          <a:xfrm>
            <a:off x="4843272" y="4536186"/>
            <a:ext cx="2749296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sorting from the patient's location</a:t>
            </a:r>
            <a:endParaRPr lang="en-US" sz="1100" dirty="0"/>
          </a:p>
        </p:txBody>
      </p:sp>
      <p:sp>
        <p:nvSpPr>
          <p:cNvPr id="39" name="Shape 35"/>
          <p:cNvSpPr/>
          <p:nvPr/>
        </p:nvSpPr>
        <p:spPr>
          <a:xfrm>
            <a:off x="4596384" y="4981194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0" name="Text 36"/>
          <p:cNvSpPr/>
          <p:nvPr/>
        </p:nvSpPr>
        <p:spPr>
          <a:xfrm>
            <a:off x="4843272" y="4926330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open in the maps app</a:t>
            </a:r>
            <a:endParaRPr lang="en-US" sz="1100" dirty="0"/>
          </a:p>
        </p:txBody>
      </p:sp>
      <p:sp>
        <p:nvSpPr>
          <p:cNvPr id="41" name="Shape 37"/>
          <p:cNvSpPr/>
          <p:nvPr/>
        </p:nvSpPr>
        <p:spPr>
          <a:xfrm>
            <a:off x="4596384" y="5203698"/>
            <a:ext cx="118872" cy="11887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2" name="Text 38"/>
          <p:cNvSpPr/>
          <p:nvPr/>
        </p:nvSpPr>
        <p:spPr>
          <a:xfrm>
            <a:off x="4843272" y="5148834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offline for recent searches</a:t>
            </a:r>
            <a:endParaRPr lang="en-US" sz="1100" dirty="0"/>
          </a:p>
        </p:txBody>
      </p:sp>
      <p:sp>
        <p:nvSpPr>
          <p:cNvPr id="43" name="Shape 39"/>
          <p:cNvSpPr/>
          <p:nvPr/>
        </p:nvSpPr>
        <p:spPr>
          <a:xfrm>
            <a:off x="8095488" y="1783080"/>
            <a:ext cx="3453384" cy="416052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44" name="Shape 40"/>
          <p:cNvSpPr/>
          <p:nvPr/>
        </p:nvSpPr>
        <p:spPr>
          <a:xfrm>
            <a:off x="8324088" y="1783080"/>
            <a:ext cx="822960" cy="64008"/>
          </a:xfrm>
          <a:prstGeom prst="rect">
            <a:avLst/>
          </a:prstGeom>
          <a:solidFill>
            <a:srgbClr val="10A6A0"/>
          </a:solidFill>
          <a:ln/>
        </p:spPr>
      </p:sp>
      <p:sp>
        <p:nvSpPr>
          <p:cNvPr id="45" name="Shape 41"/>
          <p:cNvSpPr/>
          <p:nvPr/>
        </p:nvSpPr>
        <p:spPr>
          <a:xfrm>
            <a:off x="8324088" y="1965960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F0F0F3"/>
          </a:solidFill>
          <a:ln/>
        </p:spPr>
      </p:sp>
      <p:sp>
        <p:nvSpPr>
          <p:cNvPr id="46" name="Text 42"/>
          <p:cNvSpPr/>
          <p:nvPr/>
        </p:nvSpPr>
        <p:spPr>
          <a:xfrm>
            <a:off x="8324088" y="196596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started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8324088" y="2313432"/>
            <a:ext cx="299618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and Receipts</a:t>
            </a:r>
            <a:endParaRPr lang="en-US" sz="1500" dirty="0"/>
          </a:p>
        </p:txBody>
      </p:sp>
      <p:sp>
        <p:nvSpPr>
          <p:cNvPr id="48" name="Text 44"/>
          <p:cNvSpPr/>
          <p:nvPr/>
        </p:nvSpPr>
        <p:spPr>
          <a:xfrm>
            <a:off x="8324088" y="259727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Owner: Leo Park @Leo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324088" y="2871597"/>
            <a:ext cx="2996184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pay the booking deposit in the app and get a receipt by email. Starts after the booking calendar is approved.</a:t>
            </a:r>
            <a:endParaRPr lang="en-US" sz="1200" dirty="0"/>
          </a:p>
        </p:txBody>
      </p:sp>
      <p:sp>
        <p:nvSpPr>
          <p:cNvPr id="50" name="Text 46"/>
          <p:cNvSpPr/>
          <p:nvPr/>
        </p:nvSpPr>
        <p:spPr>
          <a:xfrm>
            <a:off x="8324088" y="3801237"/>
            <a:ext cx="2996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Details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8324088" y="4130421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8570976" y="4075557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a payment method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8324088" y="4352925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570976" y="4298061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the booking deposit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8324088" y="4575429"/>
            <a:ext cx="118872" cy="118872"/>
          </a:xfrm>
          <a:prstGeom prst="ellipse">
            <a:avLst/>
          </a:prstGeom>
          <a:ln w="19050">
            <a:solidFill>
              <a:srgbClr val="9A98B0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8570976" y="4520565"/>
            <a:ext cx="2749296" cy="222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Receipt sent by email</a:t>
            </a:r>
            <a:endParaRPr lang="en-US" sz="11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as of this week's review; detail comes from the task tracker and the lead's code reviews.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· Code Review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Quality Check: Issues Caught Before Release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108960" cy="1356360"/>
          </a:xfrm>
          <a:prstGeom prst="roundRect">
            <a:avLst>
              <a:gd name="adj" fmla="val 14831"/>
            </a:avLst>
          </a:prstGeom>
          <a:solidFill>
            <a:srgbClr val="E9E4FE"/>
          </a:solidFill>
          <a:ln/>
        </p:spPr>
      </p:sp>
      <p:sp>
        <p:nvSpPr>
          <p:cNvPr id="10" name="Text 6"/>
          <p:cNvSpPr/>
          <p:nvPr/>
        </p:nvSpPr>
        <p:spPr>
          <a:xfrm>
            <a:off x="914400" y="1783080"/>
            <a:ext cx="1280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400" dirty="0"/>
          </a:p>
        </p:txBody>
      </p:sp>
      <p:sp>
        <p:nvSpPr>
          <p:cNvPr id="11" name="Text 7"/>
          <p:cNvSpPr/>
          <p:nvPr/>
        </p:nvSpPr>
        <p:spPr>
          <a:xfrm>
            <a:off x="2148840" y="1783080"/>
            <a:ext cx="146304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reviewed this week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40080" y="3322320"/>
            <a:ext cx="3108960" cy="1356360"/>
          </a:xfrm>
          <a:prstGeom prst="roundRect">
            <a:avLst>
              <a:gd name="adj" fmla="val 14831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3322320"/>
            <a:ext cx="1280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400" dirty="0"/>
          </a:p>
        </p:txBody>
      </p:sp>
      <p:sp>
        <p:nvSpPr>
          <p:cNvPr id="14" name="Text 10"/>
          <p:cNvSpPr/>
          <p:nvPr/>
        </p:nvSpPr>
        <p:spPr>
          <a:xfrm>
            <a:off x="2148840" y="3322320"/>
            <a:ext cx="146304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Approved for release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861560"/>
            <a:ext cx="3108960" cy="1356360"/>
          </a:xfrm>
          <a:prstGeom prst="roundRect">
            <a:avLst>
              <a:gd name="adj" fmla="val 14831"/>
            </a:avLst>
          </a:prstGeom>
          <a:solidFill>
            <a:srgbClr val="FFFFFF"/>
          </a:solidFill>
          <a:ln w="12700">
            <a:solidFill>
              <a:srgbClr val="E3E0E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14400" y="4861560"/>
            <a:ext cx="128016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212</a:t>
            </a:r>
            <a:endParaRPr lang="en-US" sz="3400" dirty="0"/>
          </a:p>
        </p:txBody>
      </p:sp>
      <p:sp>
        <p:nvSpPr>
          <p:cNvPr id="17" name="Text 13"/>
          <p:cNvSpPr/>
          <p:nvPr/>
        </p:nvSpPr>
        <p:spPr>
          <a:xfrm>
            <a:off x="2148840" y="4861560"/>
            <a:ext cx="1463040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tests passing (100%)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4023360" y="1783080"/>
            <a:ext cx="7525512" cy="124663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251960" y="2132076"/>
            <a:ext cx="548640" cy="548640"/>
          </a:xfrm>
          <a:prstGeom prst="ellipse">
            <a:avLst/>
          </a:prstGeom>
          <a:solidFill>
            <a:srgbClr val="10A6A0"/>
          </a:solidFill>
          <a:ln/>
        </p:spPr>
      </p:sp>
      <p:pic>
        <p:nvPicPr>
          <p:cNvPr id="20" name="Image 2" descr="/var/folders/lw/rmylcyvd5rjfxk9g1z9rrm8w0000gq/T/showship-deck-o8V0pU/iconc_Check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269236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83480" y="1911096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Appointment Reminders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983480" y="2167128"/>
            <a:ext cx="4325112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Clinics can send SMS and email reminders 24 hours and 2 hours before each appointment.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10424160" y="191109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4" name="Text 19"/>
          <p:cNvSpPr/>
          <p:nvPr/>
        </p:nvSpPr>
        <p:spPr>
          <a:xfrm>
            <a:off x="10424160" y="191109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023360" y="3194304"/>
            <a:ext cx="7525512" cy="124663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12700">
            <a:solidFill>
              <a:srgbClr val="FDEBCF"/>
            </a:solidFill>
            <a:prstDash val="solid"/>
          </a:ln>
          <a:effectLst>
            <a:outerShdw sx="100000" sy="100000" kx="0" ky="0" algn="bl" rotWithShape="0" blurRad="127000" dist="25400" dir="5400000">
              <a:srgbClr val="F5A524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251960" y="3543300"/>
            <a:ext cx="548640" cy="548640"/>
          </a:xfrm>
          <a:prstGeom prst="ellipse">
            <a:avLst/>
          </a:prstGeom>
          <a:solidFill>
            <a:srgbClr val="F5A524"/>
          </a:solidFill>
          <a:ln/>
        </p:spPr>
      </p:sp>
      <p:pic>
        <p:nvPicPr>
          <p:cNvPr id="27" name="Image 3" descr="/var/folders/lw/rmylcyvd5rjfxk9g1z9rrm8w0000gq/T/showship-deck-o8V0pU/iconc_Wrench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68046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4983480" y="3322320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Reliability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4983480" y="3578352"/>
            <a:ext cx="4325112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could receive the same reminder twice if sending is retried. Small fix identified.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9646920" y="3322320"/>
            <a:ext cx="1673352" cy="274320"/>
          </a:xfrm>
          <a:prstGeom prst="roundRect">
            <a:avLst>
              <a:gd name="adj" fmla="val 50000"/>
            </a:avLst>
          </a:prstGeom>
          <a:solidFill>
            <a:srgbClr val="FEF2DE"/>
          </a:solidFill>
          <a:ln/>
        </p:spPr>
      </p:sp>
      <p:sp>
        <p:nvSpPr>
          <p:cNvPr id="31" name="Text 25"/>
          <p:cNvSpPr/>
          <p:nvPr/>
        </p:nvSpPr>
        <p:spPr>
          <a:xfrm>
            <a:off x="9646920" y="3322320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Fix before release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023360" y="4605528"/>
            <a:ext cx="7525512" cy="1246632"/>
          </a:xfrm>
          <a:prstGeom prst="roundRect">
            <a:avLst>
              <a:gd name="adj" fmla="val 1613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4251960" y="4954524"/>
            <a:ext cx="548640" cy="548640"/>
          </a:xfrm>
          <a:prstGeom prst="ellipse">
            <a:avLst/>
          </a:prstGeom>
          <a:solidFill>
            <a:srgbClr val="10A6A0"/>
          </a:solidFill>
          <a:ln/>
        </p:spPr>
      </p:sp>
      <p:pic>
        <p:nvPicPr>
          <p:cNvPr id="34" name="Image 4" descr="/var/folders/lw/rmylcyvd5rjfxk9g1z9rrm8w0000gq/T/showship-deck-o8V0pU/iconc_Check_FFFFF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5091684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4983480" y="4733544"/>
            <a:ext cx="4233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Privacy</a:t>
            </a:r>
            <a:endParaRPr lang="en-US" sz="1100" dirty="0"/>
          </a:p>
        </p:txBody>
      </p:sp>
      <p:sp>
        <p:nvSpPr>
          <p:cNvPr id="36" name="Text 29"/>
          <p:cNvSpPr/>
          <p:nvPr/>
        </p:nvSpPr>
        <p:spPr>
          <a:xfrm>
            <a:off x="4983480" y="4989576"/>
            <a:ext cx="4325112" cy="7894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15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phone numbers are hidden in system logs and only visible to clinic staff.</a:t>
            </a:r>
            <a:endParaRPr lang="en-US" sz="1200" dirty="0"/>
          </a:p>
        </p:txBody>
      </p:sp>
      <p:sp>
        <p:nvSpPr>
          <p:cNvPr id="37" name="Shape 30"/>
          <p:cNvSpPr/>
          <p:nvPr/>
        </p:nvSpPr>
        <p:spPr>
          <a:xfrm>
            <a:off x="10424160" y="4733544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38" name="Text 31"/>
          <p:cNvSpPr/>
          <p:nvPr/>
        </p:nvSpPr>
        <p:spPr>
          <a:xfrm>
            <a:off x="10424160" y="4733544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Verified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4023360" y="5925312"/>
            <a:ext cx="7525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lead's code reviews this week.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Needs Attention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&amp; Decisions Needed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8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5294376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FCD9D4"/>
            </a:solidFill>
            <a:prstDash val="solid"/>
          </a:ln>
          <a:effectLst>
            <a:outerShdw sx="100000" sy="100000" kx="0" ky="0" algn="bl" rotWithShape="0" blurRad="127000" dist="25400" dir="5400000">
              <a:srgbClr val="F0503C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640080" y="1783080"/>
            <a:ext cx="5294376" cy="777240"/>
          </a:xfrm>
          <a:prstGeom prst="roundRect">
            <a:avLst>
              <a:gd name="adj" fmla="val 25882"/>
            </a:avLst>
          </a:prstGeom>
          <a:solidFill>
            <a:srgbClr val="F0503C"/>
          </a:solidFill>
          <a:ln/>
        </p:spPr>
      </p:sp>
      <p:sp>
        <p:nvSpPr>
          <p:cNvPr id="11" name="Shape 7"/>
          <p:cNvSpPr/>
          <p:nvPr/>
        </p:nvSpPr>
        <p:spPr>
          <a:xfrm>
            <a:off x="640080" y="2240280"/>
            <a:ext cx="5294376" cy="320040"/>
          </a:xfrm>
          <a:prstGeom prst="rect">
            <a:avLst/>
          </a:prstGeom>
          <a:solidFill>
            <a:srgbClr val="F0503C"/>
          </a:solidFill>
          <a:ln/>
        </p:spPr>
      </p:sp>
      <p:pic>
        <p:nvPicPr>
          <p:cNvPr id="12" name="Image 2" descr="/var/folders/lw/rmylcyvd5rjfxk9g1z9rrm8w0000gq/T/showship-deck-o8V0pU/iconc_TriangleAlert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01168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1783080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Blockers &amp; Risks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065776" y="1938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Shape 10"/>
          <p:cNvSpPr/>
          <p:nvPr/>
        </p:nvSpPr>
        <p:spPr>
          <a:xfrm>
            <a:off x="960120" y="2807208"/>
            <a:ext cx="402336" cy="402336"/>
          </a:xfrm>
          <a:prstGeom prst="ellipse">
            <a:avLst/>
          </a:prstGeom>
          <a:solidFill>
            <a:srgbClr val="FDE5E2"/>
          </a:solidFill>
          <a:ln/>
        </p:spPr>
      </p:sp>
      <p:sp>
        <p:nvSpPr>
          <p:cNvPr id="16" name="Text 11"/>
          <p:cNvSpPr/>
          <p:nvPr/>
        </p:nvSpPr>
        <p:spPr>
          <a:xfrm>
            <a:off x="960120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503C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508760" y="2788920"/>
            <a:ext cx="41056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Reminders release waiting on one fix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Duplicate reminders must be prevented before release. Fix is small and already tested.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Owner: Nina Rao @Nina · Expected: next week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254496" y="1783080"/>
            <a:ext cx="5294376" cy="2651760"/>
          </a:xfrm>
          <a:prstGeom prst="roundRect">
            <a:avLst>
              <a:gd name="adj" fmla="val 7586"/>
            </a:avLst>
          </a:prstGeom>
          <a:solidFill>
            <a:srgbClr val="FFFFFF"/>
          </a:solidFill>
          <a:ln w="12700">
            <a:solidFill>
              <a:srgbClr val="DFD8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254496" y="1783080"/>
            <a:ext cx="5294376" cy="777240"/>
          </a:xfrm>
          <a:prstGeom prst="roundRect">
            <a:avLst>
              <a:gd name="adj" fmla="val 25882"/>
            </a:avLst>
          </a:prstGeom>
          <a:solidFill>
            <a:srgbClr val="6C4CF5"/>
          </a:solidFill>
          <a:ln/>
        </p:spPr>
      </p:sp>
      <p:sp>
        <p:nvSpPr>
          <p:cNvPr id="20" name="Shape 15"/>
          <p:cNvSpPr/>
          <p:nvPr/>
        </p:nvSpPr>
        <p:spPr>
          <a:xfrm>
            <a:off x="6254496" y="2240280"/>
            <a:ext cx="5294376" cy="320040"/>
          </a:xfrm>
          <a:prstGeom prst="rect">
            <a:avLst/>
          </a:prstGeom>
          <a:solidFill>
            <a:srgbClr val="6C4CF5"/>
          </a:solidFill>
          <a:ln/>
        </p:spPr>
      </p:sp>
      <p:pic>
        <p:nvPicPr>
          <p:cNvPr id="21" name="Image 3" descr="/var/folders/lw/rmylcyvd5rjfxk9g1z9rrm8w0000gq/T/showship-deck-o8V0pU/iconc_MessageCircleQuestion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011680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86016" y="1783080"/>
            <a:ext cx="3648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Decisions Needed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0680192" y="19385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6574536" y="2807208"/>
            <a:ext cx="402336" cy="402336"/>
          </a:xfrm>
          <a:prstGeom prst="ellipse">
            <a:avLst/>
          </a:prstGeom>
          <a:solidFill>
            <a:srgbClr val="E9E4FE"/>
          </a:solidFill>
          <a:ln/>
        </p:spPr>
      </p:sp>
      <p:sp>
        <p:nvSpPr>
          <p:cNvPr id="25" name="Text 19"/>
          <p:cNvSpPr/>
          <p:nvPr/>
        </p:nvSpPr>
        <p:spPr>
          <a:xfrm>
            <a:off x="6574536" y="28072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7123176" y="2788920"/>
            <a:ext cx="410565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 patients turn off SMS reminders and keep email only?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Today every patient with a phone number receives SMS reminders; some clinics report complaints.</a:t>
            </a:r>
            <a:endParaRPr lang="en-US" sz="1400" dirty="0"/>
          </a:p>
          <a:p>
            <a:pPr indent="0" marL="0">
              <a:lnSpc>
                <a:spcPct val="110000"/>
              </a:lnSpc>
              <a:spcAft>
                <a:spcPts val="400"/>
              </a:spcAft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Options: allow opt-out · clinic decides per patient · keep as today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· Task Tracker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Developer Task Track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9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3453384" cy="420624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914400" y="2057400"/>
            <a:ext cx="566928" cy="566928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11" name="Text 7"/>
          <p:cNvSpPr/>
          <p:nvPr/>
        </p:nvSpPr>
        <p:spPr>
          <a:xfrm>
            <a:off x="914400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LP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00200" y="2039112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1600200" y="2350008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14400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15" name="Shape 11"/>
          <p:cNvSpPr/>
          <p:nvPr/>
        </p:nvSpPr>
        <p:spPr>
          <a:xfrm>
            <a:off x="1271016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16" name="Shape 12"/>
          <p:cNvSpPr/>
          <p:nvPr/>
        </p:nvSpPr>
        <p:spPr>
          <a:xfrm>
            <a:off x="1627632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17" name="Shape 13"/>
          <p:cNvSpPr/>
          <p:nvPr/>
        </p:nvSpPr>
        <p:spPr>
          <a:xfrm>
            <a:off x="198424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EFEE"/>
          </a:solidFill>
          <a:ln/>
        </p:spPr>
      </p:sp>
      <p:sp>
        <p:nvSpPr>
          <p:cNvPr id="18" name="Shape 14"/>
          <p:cNvSpPr/>
          <p:nvPr/>
        </p:nvSpPr>
        <p:spPr>
          <a:xfrm>
            <a:off x="2340864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EFEE"/>
          </a:solidFill>
          <a:ln/>
        </p:spPr>
      </p:sp>
      <p:sp>
        <p:nvSpPr>
          <p:cNvPr id="19" name="Text 15"/>
          <p:cNvSpPr/>
          <p:nvPr/>
        </p:nvSpPr>
        <p:spPr>
          <a:xfrm>
            <a:off x="914400" y="3200400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done  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open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2904744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60%</a:t>
            </a:r>
            <a:endParaRPr lang="en-US" sz="1800" dirty="0"/>
          </a:p>
        </p:txBody>
      </p:sp>
      <p:sp>
        <p:nvSpPr>
          <p:cNvPr id="21" name="Shape 17"/>
          <p:cNvSpPr/>
          <p:nvPr/>
        </p:nvSpPr>
        <p:spPr>
          <a:xfrm>
            <a:off x="914400" y="3593592"/>
            <a:ext cx="2904744" cy="128016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22" name="Shape 18"/>
          <p:cNvSpPr/>
          <p:nvPr/>
        </p:nvSpPr>
        <p:spPr>
          <a:xfrm>
            <a:off x="914400" y="3593592"/>
            <a:ext cx="1742846" cy="128016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3" name="Text 19"/>
          <p:cNvSpPr/>
          <p:nvPr/>
        </p:nvSpPr>
        <p:spPr>
          <a:xfrm>
            <a:off x="914400" y="3813048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Sign-in and clinic search done; booking calendar in progress.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914400" y="453542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5" name="Text 21"/>
          <p:cNvSpPr/>
          <p:nvPr/>
        </p:nvSpPr>
        <p:spPr>
          <a:xfrm>
            <a:off x="1188720" y="448056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Accounts &amp; Sign-in (3/3)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914400" y="488975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27" name="Text 23"/>
          <p:cNvSpPr/>
          <p:nvPr/>
        </p:nvSpPr>
        <p:spPr>
          <a:xfrm>
            <a:off x="1188720" y="483489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Clinic Search &amp; Maps (5/5)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914400" y="5244084"/>
            <a:ext cx="164592" cy="164592"/>
          </a:xfrm>
          <a:prstGeom prst="ellipse">
            <a:avLst/>
          </a:prstGeom>
          <a:solidFill>
            <a:srgbClr val="9FDBD9"/>
          </a:solidFill>
          <a:ln/>
        </p:spPr>
      </p:sp>
      <p:sp>
        <p:nvSpPr>
          <p:cNvPr id="29" name="Text 25"/>
          <p:cNvSpPr/>
          <p:nvPr/>
        </p:nvSpPr>
        <p:spPr>
          <a:xfrm>
            <a:off x="1188720" y="518922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Booking Calendar (2/5)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914400" y="559841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C6D8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1188720" y="554355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Payments &amp; Receipts (0/4)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367784" y="1783080"/>
            <a:ext cx="3453384" cy="420624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33" name="Shape 29"/>
          <p:cNvSpPr/>
          <p:nvPr/>
        </p:nvSpPr>
        <p:spPr>
          <a:xfrm>
            <a:off x="4642104" y="2057400"/>
            <a:ext cx="566928" cy="566928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34" name="Text 30"/>
          <p:cNvSpPr/>
          <p:nvPr/>
        </p:nvSpPr>
        <p:spPr>
          <a:xfrm>
            <a:off x="464210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NR</a:t>
            </a:r>
            <a:endParaRPr lang="en-US" sz="1400" dirty="0"/>
          </a:p>
        </p:txBody>
      </p:sp>
      <p:sp>
        <p:nvSpPr>
          <p:cNvPr id="35" name="Text 31"/>
          <p:cNvSpPr/>
          <p:nvPr/>
        </p:nvSpPr>
        <p:spPr>
          <a:xfrm>
            <a:off x="5327904" y="2039112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400" dirty="0"/>
          </a:p>
        </p:txBody>
      </p:sp>
      <p:sp>
        <p:nvSpPr>
          <p:cNvPr id="36" name="Text 32"/>
          <p:cNvSpPr/>
          <p:nvPr/>
        </p:nvSpPr>
        <p:spPr>
          <a:xfrm>
            <a:off x="5327904" y="2350008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4642104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38" name="Shape 34"/>
          <p:cNvSpPr/>
          <p:nvPr/>
        </p:nvSpPr>
        <p:spPr>
          <a:xfrm>
            <a:off x="4998720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39" name="Shape 35"/>
          <p:cNvSpPr/>
          <p:nvPr/>
        </p:nvSpPr>
        <p:spPr>
          <a:xfrm>
            <a:off x="5355336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40" name="Shape 36"/>
          <p:cNvSpPr/>
          <p:nvPr/>
        </p:nvSpPr>
        <p:spPr>
          <a:xfrm>
            <a:off x="5711952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0A6A0"/>
          </a:solidFill>
          <a:ln/>
        </p:spPr>
      </p:sp>
      <p:sp>
        <p:nvSpPr>
          <p:cNvPr id="41" name="Shape 37"/>
          <p:cNvSpPr/>
          <p:nvPr/>
        </p:nvSpPr>
        <p:spPr>
          <a:xfrm>
            <a:off x="606856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D4EFEE"/>
          </a:solidFill>
          <a:ln/>
        </p:spPr>
      </p:sp>
      <p:sp>
        <p:nvSpPr>
          <p:cNvPr id="42" name="Text 38"/>
          <p:cNvSpPr/>
          <p:nvPr/>
        </p:nvSpPr>
        <p:spPr>
          <a:xfrm>
            <a:off x="4642104" y="3200400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done  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open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6632448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70%</a:t>
            </a:r>
            <a:endParaRPr lang="en-US" sz="1800" dirty="0"/>
          </a:p>
        </p:txBody>
      </p:sp>
      <p:sp>
        <p:nvSpPr>
          <p:cNvPr id="44" name="Shape 40"/>
          <p:cNvSpPr/>
          <p:nvPr/>
        </p:nvSpPr>
        <p:spPr>
          <a:xfrm>
            <a:off x="4642104" y="3593592"/>
            <a:ext cx="2904744" cy="128016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45" name="Shape 41"/>
          <p:cNvSpPr/>
          <p:nvPr/>
        </p:nvSpPr>
        <p:spPr>
          <a:xfrm>
            <a:off x="4642104" y="3593592"/>
            <a:ext cx="2033321" cy="128016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46" name="Text 42"/>
          <p:cNvSpPr/>
          <p:nvPr/>
        </p:nvSpPr>
        <p:spPr>
          <a:xfrm>
            <a:off x="4642104" y="3813048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Onboarding and schedules done; reminders in final review.</a:t>
            </a:r>
            <a:endParaRPr lang="en-US" sz="1100" dirty="0"/>
          </a:p>
        </p:txBody>
      </p:sp>
      <p:sp>
        <p:nvSpPr>
          <p:cNvPr id="47" name="Shape 43"/>
          <p:cNvSpPr/>
          <p:nvPr/>
        </p:nvSpPr>
        <p:spPr>
          <a:xfrm>
            <a:off x="4642104" y="453542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48" name="Text 44"/>
          <p:cNvSpPr/>
          <p:nvPr/>
        </p:nvSpPr>
        <p:spPr>
          <a:xfrm>
            <a:off x="4916424" y="448056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P1 · Clinic Onboarding (3/3)</a:t>
            </a:r>
            <a:endParaRPr lang="en-US" sz="1100" dirty="0"/>
          </a:p>
        </p:txBody>
      </p:sp>
      <p:sp>
        <p:nvSpPr>
          <p:cNvPr id="49" name="Shape 45"/>
          <p:cNvSpPr/>
          <p:nvPr/>
        </p:nvSpPr>
        <p:spPr>
          <a:xfrm>
            <a:off x="4642104" y="4889754"/>
            <a:ext cx="164592" cy="164592"/>
          </a:xfrm>
          <a:prstGeom prst="ellipse">
            <a:avLst/>
          </a:prstGeom>
          <a:solidFill>
            <a:srgbClr val="10A6A0"/>
          </a:solidFill>
          <a:ln/>
        </p:spPr>
      </p:sp>
      <p:sp>
        <p:nvSpPr>
          <p:cNvPr id="50" name="Text 46"/>
          <p:cNvSpPr/>
          <p:nvPr/>
        </p:nvSpPr>
        <p:spPr>
          <a:xfrm>
            <a:off x="4916424" y="483489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P2 · Doctor Schedules (5/5)</a:t>
            </a:r>
            <a:endParaRPr lang="en-US" sz="1100" dirty="0"/>
          </a:p>
        </p:txBody>
      </p:sp>
      <p:sp>
        <p:nvSpPr>
          <p:cNvPr id="51" name="Shape 47"/>
          <p:cNvSpPr/>
          <p:nvPr/>
        </p:nvSpPr>
        <p:spPr>
          <a:xfrm>
            <a:off x="4642104" y="5244084"/>
            <a:ext cx="164592" cy="164592"/>
          </a:xfrm>
          <a:prstGeom prst="ellipse">
            <a:avLst/>
          </a:prstGeom>
          <a:solidFill>
            <a:srgbClr val="9FDBD9"/>
          </a:solidFill>
          <a:ln/>
        </p:spPr>
      </p:sp>
      <p:sp>
        <p:nvSpPr>
          <p:cNvPr id="52" name="Text 48"/>
          <p:cNvSpPr/>
          <p:nvPr/>
        </p:nvSpPr>
        <p:spPr>
          <a:xfrm>
            <a:off x="4916424" y="518922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Reminders, in review (5/5)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4642104" y="5598414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C6D8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916424" y="554355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Reports &amp; Exports (0/3)</a:t>
            </a:r>
            <a:endParaRPr lang="en-US" sz="1100" dirty="0"/>
          </a:p>
        </p:txBody>
      </p:sp>
      <p:sp>
        <p:nvSpPr>
          <p:cNvPr id="55" name="Shape 51"/>
          <p:cNvSpPr/>
          <p:nvPr/>
        </p:nvSpPr>
        <p:spPr>
          <a:xfrm>
            <a:off x="8095488" y="1783080"/>
            <a:ext cx="3453384" cy="4206240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FFDED7"/>
            </a:solidFill>
            <a:prstDash val="solid"/>
          </a:ln>
          <a:effectLst>
            <a:outerShdw sx="100000" sy="100000" kx="0" ky="0" algn="bl" rotWithShape="0" blurRad="127000" dist="25400" dir="5400000">
              <a:srgbClr val="FF6B4A">
                <a:alpha val="1000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8369808" y="2057400"/>
            <a:ext cx="566928" cy="566928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57" name="Text 53"/>
          <p:cNvSpPr/>
          <p:nvPr/>
        </p:nvSpPr>
        <p:spPr>
          <a:xfrm>
            <a:off x="8369808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400" dirty="0"/>
          </a:p>
        </p:txBody>
      </p:sp>
      <p:sp>
        <p:nvSpPr>
          <p:cNvPr id="58" name="Text 54"/>
          <p:cNvSpPr/>
          <p:nvPr/>
        </p:nvSpPr>
        <p:spPr>
          <a:xfrm>
            <a:off x="9055608" y="2039112"/>
            <a:ext cx="2218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400" dirty="0"/>
          </a:p>
        </p:txBody>
      </p:sp>
      <p:sp>
        <p:nvSpPr>
          <p:cNvPr id="59" name="Text 55"/>
          <p:cNvSpPr/>
          <p:nvPr/>
        </p:nvSpPr>
        <p:spPr>
          <a:xfrm>
            <a:off x="9055608" y="2350008"/>
            <a:ext cx="2218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Analytics</a:t>
            </a:r>
            <a:endParaRPr lang="en-US" sz="1100" dirty="0"/>
          </a:p>
        </p:txBody>
      </p:sp>
      <p:sp>
        <p:nvSpPr>
          <p:cNvPr id="60" name="Shape 56"/>
          <p:cNvSpPr/>
          <p:nvPr/>
        </p:nvSpPr>
        <p:spPr>
          <a:xfrm>
            <a:off x="836980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1" name="Shape 57"/>
          <p:cNvSpPr/>
          <p:nvPr/>
        </p:nvSpPr>
        <p:spPr>
          <a:xfrm>
            <a:off x="8726424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2" name="Shape 58"/>
          <p:cNvSpPr/>
          <p:nvPr/>
        </p:nvSpPr>
        <p:spPr>
          <a:xfrm>
            <a:off x="9083040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3" name="Shape 59"/>
          <p:cNvSpPr/>
          <p:nvPr/>
        </p:nvSpPr>
        <p:spPr>
          <a:xfrm>
            <a:off x="9439656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4" name="Shape 60"/>
          <p:cNvSpPr/>
          <p:nvPr/>
        </p:nvSpPr>
        <p:spPr>
          <a:xfrm>
            <a:off x="9796272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6B4A"/>
          </a:solidFill>
          <a:ln/>
        </p:spPr>
      </p:sp>
      <p:sp>
        <p:nvSpPr>
          <p:cNvPr id="65" name="Shape 61"/>
          <p:cNvSpPr/>
          <p:nvPr/>
        </p:nvSpPr>
        <p:spPr>
          <a:xfrm>
            <a:off x="10152888" y="28346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FFE4DE"/>
          </a:solidFill>
          <a:ln/>
        </p:spPr>
      </p:sp>
      <p:sp>
        <p:nvSpPr>
          <p:cNvPr id="66" name="Text 62"/>
          <p:cNvSpPr/>
          <p:nvPr/>
        </p:nvSpPr>
        <p:spPr>
          <a:xfrm>
            <a:off x="8369808" y="3200400"/>
            <a:ext cx="2081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done  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open</a:t>
            </a:r>
            <a:endParaRPr lang="en-US" sz="1100" dirty="0"/>
          </a:p>
        </p:txBody>
      </p:sp>
      <p:sp>
        <p:nvSpPr>
          <p:cNvPr id="67" name="Text 63"/>
          <p:cNvSpPr/>
          <p:nvPr/>
        </p:nvSpPr>
        <p:spPr>
          <a:xfrm>
            <a:off x="10360152" y="3154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75%</a:t>
            </a:r>
            <a:endParaRPr lang="en-US" sz="1800" dirty="0"/>
          </a:p>
        </p:txBody>
      </p:sp>
      <p:sp>
        <p:nvSpPr>
          <p:cNvPr id="68" name="Shape 64"/>
          <p:cNvSpPr/>
          <p:nvPr/>
        </p:nvSpPr>
        <p:spPr>
          <a:xfrm>
            <a:off x="8369808" y="3593592"/>
            <a:ext cx="2904744" cy="128016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69" name="Shape 65"/>
          <p:cNvSpPr/>
          <p:nvPr/>
        </p:nvSpPr>
        <p:spPr>
          <a:xfrm>
            <a:off x="8369808" y="3593592"/>
            <a:ext cx="2178558" cy="128016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70" name="Text 66"/>
          <p:cNvSpPr/>
          <p:nvPr/>
        </p:nvSpPr>
        <p:spPr>
          <a:xfrm>
            <a:off x="8369808" y="3813048"/>
            <a:ext cx="2904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i="1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transfer done; usage tracking rolling out.</a:t>
            </a:r>
            <a:endParaRPr lang="en-US" sz="1100" dirty="0"/>
          </a:p>
        </p:txBody>
      </p:sp>
      <p:sp>
        <p:nvSpPr>
          <p:cNvPr id="71" name="Shape 67"/>
          <p:cNvSpPr/>
          <p:nvPr/>
        </p:nvSpPr>
        <p:spPr>
          <a:xfrm>
            <a:off x="8369808" y="453542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2" name="Text 68"/>
          <p:cNvSpPr/>
          <p:nvPr/>
        </p:nvSpPr>
        <p:spPr>
          <a:xfrm>
            <a:off x="8644128" y="448056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 transfer to new system</a:t>
            </a:r>
            <a:endParaRPr lang="en-US" sz="1100" dirty="0"/>
          </a:p>
        </p:txBody>
      </p:sp>
      <p:sp>
        <p:nvSpPr>
          <p:cNvPr id="73" name="Shape 69"/>
          <p:cNvSpPr/>
          <p:nvPr/>
        </p:nvSpPr>
        <p:spPr>
          <a:xfrm>
            <a:off x="8369808" y="488975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4" name="Text 70"/>
          <p:cNvSpPr/>
          <p:nvPr/>
        </p:nvSpPr>
        <p:spPr>
          <a:xfrm>
            <a:off x="8644128" y="483489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Event plan agreed</a:t>
            </a:r>
            <a:endParaRPr lang="en-US" sz="1100" dirty="0"/>
          </a:p>
        </p:txBody>
      </p:sp>
      <p:sp>
        <p:nvSpPr>
          <p:cNvPr id="75" name="Shape 71"/>
          <p:cNvSpPr/>
          <p:nvPr/>
        </p:nvSpPr>
        <p:spPr>
          <a:xfrm>
            <a:off x="8369808" y="5244084"/>
            <a:ext cx="164592" cy="164592"/>
          </a:xfrm>
          <a:prstGeom prst="ellipse">
            <a:avLst/>
          </a:prstGeom>
          <a:solidFill>
            <a:srgbClr val="FFC4B7"/>
          </a:solidFill>
          <a:ln/>
        </p:spPr>
      </p:sp>
      <p:sp>
        <p:nvSpPr>
          <p:cNvPr id="76" name="Text 72"/>
          <p:cNvSpPr/>
          <p:nvPr/>
        </p:nvSpPr>
        <p:spPr>
          <a:xfrm>
            <a:off x="8644128" y="518922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Usage tracking rollout</a:t>
            </a:r>
            <a:endParaRPr lang="en-US" sz="1100" dirty="0"/>
          </a:p>
        </p:txBody>
      </p:sp>
      <p:sp>
        <p:nvSpPr>
          <p:cNvPr id="77" name="Shape 73"/>
          <p:cNvSpPr/>
          <p:nvPr/>
        </p:nvSpPr>
        <p:spPr>
          <a:xfrm>
            <a:off x="8369808" y="5598414"/>
            <a:ext cx="164592" cy="164592"/>
          </a:xfrm>
          <a:prstGeom prst="ellipse">
            <a:avLst/>
          </a:prstGeom>
          <a:solidFill>
            <a:srgbClr val="FF6B4A"/>
          </a:solidFill>
          <a:ln/>
        </p:spPr>
      </p:sp>
      <p:sp>
        <p:nvSpPr>
          <p:cNvPr id="78" name="Text 74"/>
          <p:cNvSpPr/>
          <p:nvPr/>
        </p:nvSpPr>
        <p:spPr>
          <a:xfrm>
            <a:off x="8644128" y="5543550"/>
            <a:ext cx="2630424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reviews, 3 features</a:t>
            </a:r>
            <a:endParaRPr lang="en-US" sz="1100" dirty="0"/>
          </a:p>
        </p:txBody>
      </p:sp>
      <p:sp>
        <p:nvSpPr>
          <p:cNvPr id="79" name="Text 75"/>
          <p:cNvSpPr/>
          <p:nvPr/>
        </p:nvSpPr>
        <p:spPr>
          <a:xfrm>
            <a:off x="640080" y="6062472"/>
            <a:ext cx="10908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Done/Open = planned tasks this week; work in review stays open until approved.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Engineering Activity · GitHub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Team Delivery Activity This Week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40080" y="1783080"/>
            <a:ext cx="7726680" cy="4434840"/>
          </a:xfrm>
          <a:prstGeom prst="roundRect">
            <a:avLst>
              <a:gd name="adj" fmla="val 4536"/>
            </a:avLst>
          </a:prstGeom>
          <a:solidFill>
            <a:srgbClr val="FFFFFF"/>
          </a:solidFill>
          <a:ln w="12700">
            <a:solidFill>
              <a:srgbClr val="DFD8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graphicFrame>
        <p:nvGraphicFramePr>
          <p:cNvPr id="10" name="Chart 0" descr=""/>
          <p:cNvGraphicFramePr/>
          <p:nvPr/>
        </p:nvGraphicFramePr>
        <p:xfrm>
          <a:off x="822960" y="1920240"/>
          <a:ext cx="736092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1" name="Text 6"/>
          <p:cNvSpPr/>
          <p:nvPr/>
        </p:nvSpPr>
        <p:spPr>
          <a:xfrm>
            <a:off x="914400" y="576072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GitHub activity this week.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8641080" y="1783080"/>
            <a:ext cx="2907792" cy="1344168"/>
          </a:xfrm>
          <a:prstGeom prst="roundRect">
            <a:avLst>
              <a:gd name="adj" fmla="val 14966"/>
            </a:avLst>
          </a:prstGeom>
          <a:solidFill>
            <a:srgbClr val="6C4CF5"/>
          </a:solidFill>
          <a:ln/>
          <a:effectLst>
            <a:outerShdw sx="100000" sy="100000" kx="0" ky="0" algn="bl" rotWithShape="0" blurRad="127000" dist="25400" dir="5400000">
              <a:srgbClr val="6C4CF5">
                <a:alpha val="30000"/>
              </a:srgbClr>
            </a:outerShdw>
          </a:effectLst>
        </p:spPr>
      </p:sp>
      <p:sp>
        <p:nvSpPr>
          <p:cNvPr id="13" name="Text 8"/>
          <p:cNvSpPr/>
          <p:nvPr/>
        </p:nvSpPr>
        <p:spPr>
          <a:xfrm>
            <a:off x="8915400" y="1874520"/>
            <a:ext cx="235915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8915400" y="2562697"/>
            <a:ext cx="2359152" cy="47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 approved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641080" y="3328416"/>
            <a:ext cx="2907792" cy="1344168"/>
          </a:xfrm>
          <a:prstGeom prst="roundRect">
            <a:avLst>
              <a:gd name="adj" fmla="val 14966"/>
            </a:avLst>
          </a:prstGeom>
          <a:solidFill>
            <a:srgbClr val="FFFFFF"/>
          </a:solidFill>
          <a:ln w="12700">
            <a:solidFill>
              <a:srgbClr val="DAD2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8915400" y="3419856"/>
            <a:ext cx="235915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2"/>
          <p:cNvSpPr/>
          <p:nvPr/>
        </p:nvSpPr>
        <p:spPr>
          <a:xfrm>
            <a:off x="8915400" y="4108033"/>
            <a:ext cx="2359152" cy="47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final review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8641080" y="4873752"/>
            <a:ext cx="2907792" cy="1344168"/>
          </a:xfrm>
          <a:prstGeom prst="roundRect">
            <a:avLst>
              <a:gd name="adj" fmla="val 14966"/>
            </a:avLst>
          </a:prstGeom>
          <a:solidFill>
            <a:srgbClr val="FFFFFF"/>
          </a:solidFill>
          <a:ln w="12700">
            <a:solidFill>
              <a:srgbClr val="DAD2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19" name="Text 14"/>
          <p:cNvSpPr/>
          <p:nvPr/>
        </p:nvSpPr>
        <p:spPr>
          <a:xfrm>
            <a:off x="8915400" y="4965192"/>
            <a:ext cx="2359152" cy="60487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0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8915400" y="5653369"/>
            <a:ext cx="2359152" cy="4704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Code reviews completed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cor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3047695" cy="731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48640"/>
            <a:ext cx="118872" cy="118872"/>
          </a:xfrm>
          <a:prstGeom prst="ellipse">
            <a:avLst/>
          </a:prstGeom>
          <a:solidFill>
            <a:srgbClr val="6C4CF5"/>
          </a:solidFill>
          <a:ln/>
        </p:spPr>
      </p:sp>
      <p:sp>
        <p:nvSpPr>
          <p:cNvPr id="4" name="Text 1"/>
          <p:cNvSpPr/>
          <p:nvPr/>
        </p:nvSpPr>
        <p:spPr>
          <a:xfrm>
            <a:off x="841248" y="457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Looking Ahead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40080" y="77724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Week's Plan</a:t>
            </a:r>
            <a:endParaRPr lang="en-US" sz="2800" dirty="0"/>
          </a:p>
        </p:txBody>
      </p:sp>
      <p:pic>
        <p:nvPicPr>
          <p:cNvPr id="6" name="Image 1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0928" y="6492240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66960" y="64739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274552" y="6473952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11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1051560" y="16916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/ track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3566160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Owner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394960" y="1691640"/>
            <a:ext cx="4325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Next focus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9720072" y="1691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A98B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Status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2057400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40080" y="205740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15" name="Text 11"/>
          <p:cNvSpPr/>
          <p:nvPr/>
        </p:nvSpPr>
        <p:spPr>
          <a:xfrm>
            <a:off x="1051560" y="2057400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Patient App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3566160" y="2308860"/>
            <a:ext cx="365760" cy="365760"/>
          </a:xfrm>
          <a:prstGeom prst="ellipse">
            <a:avLst/>
          </a:prstGeom>
          <a:solidFill>
            <a:srgbClr val="D4EFEE"/>
          </a:solidFill>
          <a:ln/>
        </p:spPr>
      </p:sp>
      <p:sp>
        <p:nvSpPr>
          <p:cNvPr id="17" name="Text 13"/>
          <p:cNvSpPr/>
          <p:nvPr/>
        </p:nvSpPr>
        <p:spPr>
          <a:xfrm>
            <a:off x="3566160" y="23088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LP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023360" y="2057400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Leo Park @Leo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5394960" y="2057400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the booking calendar, then start payments and receipts.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10424160" y="2354580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21" name="Text 17"/>
          <p:cNvSpPr/>
          <p:nvPr/>
        </p:nvSpPr>
        <p:spPr>
          <a:xfrm>
            <a:off x="10424160" y="2354580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P3 · 40%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640080" y="3054096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CAEBEA"/>
            </a:solidFill>
            <a:prstDash val="solid"/>
          </a:ln>
          <a:effectLst>
            <a:outerShdw sx="100000" sy="100000" kx="0" ky="0" algn="bl" rotWithShape="0" blurRad="127000" dist="25400" dir="5400000">
              <a:srgbClr val="10A6A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40080" y="3054096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10A6A0"/>
          </a:solidFill>
          <a:ln/>
        </p:spPr>
      </p:sp>
      <p:sp>
        <p:nvSpPr>
          <p:cNvPr id="24" name="Text 20"/>
          <p:cNvSpPr/>
          <p:nvPr/>
        </p:nvSpPr>
        <p:spPr>
          <a:xfrm>
            <a:off x="1051560" y="3054096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ClinicBook · Clinic Dashboard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3566160" y="3305556"/>
            <a:ext cx="365760" cy="365760"/>
          </a:xfrm>
          <a:prstGeom prst="ellipse">
            <a:avLst/>
          </a:prstGeom>
          <a:solidFill>
            <a:srgbClr val="D4EFEE"/>
          </a:solidFill>
          <a:ln/>
        </p:spPr>
      </p:sp>
      <p:sp>
        <p:nvSpPr>
          <p:cNvPr id="26" name="Text 22"/>
          <p:cNvSpPr/>
          <p:nvPr/>
        </p:nvSpPr>
        <p:spPr>
          <a:xfrm>
            <a:off x="3566160" y="33055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NR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023360" y="3054096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Nina Rao @Nina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5394960" y="3054096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Apply the duplicate-reminder fix and release reminders; start reports and exports.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10424160" y="335127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DBF2F1"/>
          </a:solidFill>
          <a:ln/>
        </p:spPr>
      </p:sp>
      <p:sp>
        <p:nvSpPr>
          <p:cNvPr id="30" name="Text 26"/>
          <p:cNvSpPr/>
          <p:nvPr/>
        </p:nvSpPr>
        <p:spPr>
          <a:xfrm>
            <a:off x="10424160" y="335127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A6A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P4 · 80%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640080" y="4050792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FFDED7"/>
            </a:solidFill>
            <a:prstDash val="solid"/>
          </a:ln>
          <a:effectLst>
            <a:outerShdw sx="100000" sy="100000" kx="0" ky="0" algn="bl" rotWithShape="0" blurRad="127000" dist="25400" dir="5400000">
              <a:srgbClr val="FF6B4A">
                <a:alpha val="10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640080" y="4050792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FF6B4A"/>
          </a:solidFill>
          <a:ln/>
        </p:spPr>
      </p:sp>
      <p:sp>
        <p:nvSpPr>
          <p:cNvPr id="33" name="Text 29"/>
          <p:cNvSpPr/>
          <p:nvPr/>
        </p:nvSpPr>
        <p:spPr>
          <a:xfrm>
            <a:off x="1051560" y="4050792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PulseBoard · Usage Tracking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3566160" y="4302252"/>
            <a:ext cx="365760" cy="365760"/>
          </a:xfrm>
          <a:prstGeom prst="ellipse">
            <a:avLst/>
          </a:prstGeom>
          <a:solidFill>
            <a:srgbClr val="FFE4DE"/>
          </a:solidFill>
          <a:ln/>
        </p:spPr>
      </p:sp>
      <p:sp>
        <p:nvSpPr>
          <p:cNvPr id="35" name="Text 31"/>
          <p:cNvSpPr/>
          <p:nvPr/>
        </p:nvSpPr>
        <p:spPr>
          <a:xfrm>
            <a:off x="3566160" y="43022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4023360" y="4050792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394960" y="4050792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adding usage tracking to the web app, then open the first dashboard to managers.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10190988" y="4347972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FFE9E4"/>
          </a:solidFill>
          <a:ln/>
        </p:spPr>
      </p:sp>
      <p:sp>
        <p:nvSpPr>
          <p:cNvPr id="39" name="Text 35"/>
          <p:cNvSpPr/>
          <p:nvPr/>
        </p:nvSpPr>
        <p:spPr>
          <a:xfrm>
            <a:off x="10190988" y="4347972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 progress</a:t>
            </a:r>
            <a:endParaRPr lang="en-US" sz="1100" dirty="0"/>
          </a:p>
        </p:txBody>
      </p:sp>
      <p:sp>
        <p:nvSpPr>
          <p:cNvPr id="40" name="Shape 36"/>
          <p:cNvSpPr/>
          <p:nvPr/>
        </p:nvSpPr>
        <p:spPr>
          <a:xfrm>
            <a:off x="640080" y="5047488"/>
            <a:ext cx="10908792" cy="868680"/>
          </a:xfrm>
          <a:prstGeom prst="roundRect">
            <a:avLst>
              <a:gd name="adj" fmla="val 18947"/>
            </a:avLst>
          </a:prstGeom>
          <a:solidFill>
            <a:srgbClr val="FFFFFF"/>
          </a:solidFill>
          <a:ln w="12700">
            <a:solidFill>
              <a:srgbClr val="DFD8FD"/>
            </a:solidFill>
            <a:prstDash val="solid"/>
          </a:ln>
          <a:effectLst>
            <a:outerShdw sx="100000" sy="100000" kx="0" ky="0" algn="bl" rotWithShape="0" blurRad="127000" dist="25400" dir="5400000">
              <a:srgbClr val="6C4CF5">
                <a:alpha val="10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640080" y="5047488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42" name="Text 38"/>
          <p:cNvSpPr/>
          <p:nvPr/>
        </p:nvSpPr>
        <p:spPr>
          <a:xfrm>
            <a:off x="1051560" y="5047488"/>
            <a:ext cx="2423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153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App Store Release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3566160" y="5298948"/>
            <a:ext cx="365760" cy="365760"/>
          </a:xfrm>
          <a:prstGeom prst="ellipse">
            <a:avLst/>
          </a:prstGeom>
          <a:solidFill>
            <a:srgbClr val="E5DFFD"/>
          </a:solidFill>
          <a:ln/>
        </p:spPr>
      </p:sp>
      <p:sp>
        <p:nvSpPr>
          <p:cNvPr id="44" name="Text 40"/>
          <p:cNvSpPr/>
          <p:nvPr/>
        </p:nvSpPr>
        <p:spPr>
          <a:xfrm>
            <a:off x="3566160" y="52989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C4CF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ML</a:t>
            </a:r>
            <a:endParaRPr lang="en-US" sz="1100" dirty="0"/>
          </a:p>
        </p:txBody>
      </p:sp>
      <p:sp>
        <p:nvSpPr>
          <p:cNvPr id="45" name="Text 41"/>
          <p:cNvSpPr/>
          <p:nvPr/>
        </p:nvSpPr>
        <p:spPr>
          <a:xfrm>
            <a:off x="4023360" y="5047488"/>
            <a:ext cx="1325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55536E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 @Maya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5394960" y="5047488"/>
            <a:ext cx="4096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553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the first 20 clinic staff to TestFlight.</a:t>
            </a:r>
            <a:endParaRPr lang="en-US" sz="1150" dirty="0"/>
          </a:p>
        </p:txBody>
      </p:sp>
      <p:sp>
        <p:nvSpPr>
          <p:cNvPr id="47" name="Shape 43"/>
          <p:cNvSpPr/>
          <p:nvPr/>
        </p:nvSpPr>
        <p:spPr>
          <a:xfrm>
            <a:off x="10735056" y="5344668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6C4CF5"/>
          </a:solidFill>
          <a:ln/>
        </p:spPr>
      </p:sp>
      <p:sp>
        <p:nvSpPr>
          <p:cNvPr id="48" name="Text 44"/>
          <p:cNvSpPr/>
          <p:nvPr/>
        </p:nvSpPr>
        <p:spPr>
          <a:xfrm>
            <a:off x="10735056" y="534466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Done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5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lw/rmylcyvd5rjfxk9g1z9rrm8w0000gq/T/showship-deck-o8V0pU/trail_book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var/folders/lw/rmylcyvd5rjfxk9g1z9rrm8w0000gq/T/showship-deck-o8V0pU/logo_trimm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44" y="658368"/>
            <a:ext cx="521232" cy="60350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645920" y="548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1"/>
          <p:cNvSpPr/>
          <p:nvPr/>
        </p:nvSpPr>
        <p:spPr>
          <a:xfrm>
            <a:off x="640080" y="246888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2"/>
          <p:cNvSpPr/>
          <p:nvPr/>
        </p:nvSpPr>
        <p:spPr>
          <a:xfrm>
            <a:off x="640080" y="356616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C94A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3"/>
          <p:cNvSpPr/>
          <p:nvPr/>
        </p:nvSpPr>
        <p:spPr>
          <a:xfrm>
            <a:off x="640080" y="5577840"/>
            <a:ext cx="1719072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0080" y="5577840"/>
            <a:ext cx="17190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Presenter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Maya Lin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2587752" y="5577840"/>
            <a:ext cx="2423160" cy="566928"/>
          </a:xfrm>
          <a:prstGeom prst="roundRect">
            <a:avLst>
              <a:gd name="adj" fmla="val 50000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587752" y="5577840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Date  </a:t>
            </a:r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October 9, 2026</a:t>
            </a:r>
            <a:endParaRPr lang="en-US" sz="1100" dirty="0"/>
          </a:p>
        </p:txBody>
      </p:sp>
      <p:pic>
        <p:nvPicPr>
          <p:cNvPr id="11" name="Image 2" descr="/var/folders/lw/rmylcyvd5rjfxk9g1z9rrm8w0000gq/T/showship-deck-o8V0pU/trail_m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6920" y="5760720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66960" y="5733288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9B5E8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Shipped with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Showship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2026-10-11T14:06:30Z</dcterms:created>
  <dcterms:modified xsi:type="dcterms:W3CDTF">2026-10-11T14:06:30Z</dcterms:modified>
</cp:coreProperties>
</file>