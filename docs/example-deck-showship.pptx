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71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B9AE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10A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715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15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EEC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boo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sessions/beautiful-vigilant-darwin/tmp/showship-deck-zktDWi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75" y="658368"/>
            <a:ext cx="522169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4592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Acme Digital Co., Ltd.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C9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2697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Development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4800" dirty="0"/>
          </a:p>
        </p:txBody>
      </p:sp>
      <p:sp>
        <p:nvSpPr>
          <p:cNvPr id="7" name="Shape 3"/>
          <p:cNvSpPr/>
          <p:nvPr/>
        </p:nvSpPr>
        <p:spPr>
          <a:xfrm>
            <a:off x="640080" y="5577840"/>
            <a:ext cx="2322576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191256" y="5577840"/>
            <a:ext cx="242316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191256" y="55778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000" dirty="0"/>
          </a:p>
        </p:txBody>
      </p:sp>
      <p:pic>
        <p:nvPicPr>
          <p:cNvPr id="11" name="Image 2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7607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66960" y="5733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at a Glance</a:t>
            </a:r>
            <a:endParaRPr lang="en-US" sz="2800" dirty="0"/>
          </a:p>
        </p:txBody>
      </p:sp>
      <p:pic>
        <p:nvPicPr>
          <p:cNvPr id="6" name="Image 1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52400" dist="38100" dir="5400000">
              <a:srgbClr val="6C4CF5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68680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EDEAFE"/>
          </a:solidFill>
          <a:ln/>
        </p:spPr>
      </p:sp>
      <p:sp>
        <p:nvSpPr>
          <p:cNvPr id="11" name="Shape 7"/>
          <p:cNvSpPr/>
          <p:nvPr/>
        </p:nvSpPr>
        <p:spPr>
          <a:xfrm>
            <a:off x="987552" y="2148840"/>
            <a:ext cx="109728" cy="109728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12" name="Text 8"/>
          <p:cNvSpPr/>
          <p:nvPr/>
        </p:nvSpPr>
        <p:spPr>
          <a:xfrm>
            <a:off x="1170432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1391412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E9E4FE"/>
          </a:solidFill>
          <a:ln/>
        </p:spPr>
      </p:sp>
      <p:sp>
        <p:nvSpPr>
          <p:cNvPr id="14" name="Shape 10"/>
          <p:cNvSpPr/>
          <p:nvPr/>
        </p:nvSpPr>
        <p:spPr>
          <a:xfrm>
            <a:off x="1391412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6C4CF5"/>
          </a:solidFill>
          <a:ln/>
        </p:spPr>
      </p:sp>
      <p:sp>
        <p:nvSpPr>
          <p:cNvPr id="15" name="Text 11"/>
          <p:cNvSpPr/>
          <p:nvPr/>
        </p:nvSpPr>
        <p:spPr>
          <a:xfrm>
            <a:off x="1391412" y="296357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3000" dirty="0"/>
          </a:p>
        </p:txBody>
      </p:sp>
      <p:sp>
        <p:nvSpPr>
          <p:cNvPr id="16" name="Shape 12"/>
          <p:cNvSpPr/>
          <p:nvPr/>
        </p:nvSpPr>
        <p:spPr>
          <a:xfrm>
            <a:off x="1864614" y="3657600"/>
            <a:ext cx="973836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17" name="Text 13"/>
          <p:cNvSpPr/>
          <p:nvPr/>
        </p:nvSpPr>
        <p:spPr>
          <a:xfrm>
            <a:off x="1864614" y="3657600"/>
            <a:ext cx="9738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914400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Account Verified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914400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83024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C3E9E7"/>
            </a:solidFill>
            <a:prstDash val="solid"/>
          </a:ln>
          <a:effectLst>
            <a:outerShdw sx="100000" sy="100000" kx="0" ky="0" algn="bl" rotWithShape="0" blurRad="152400" dist="38100" dir="5400000">
              <a:srgbClr val="10A6A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11624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E2F4F4"/>
          </a:solidFill>
          <a:ln/>
        </p:spPr>
      </p:sp>
      <p:sp>
        <p:nvSpPr>
          <p:cNvPr id="22" name="Shape 18"/>
          <p:cNvSpPr/>
          <p:nvPr/>
        </p:nvSpPr>
        <p:spPr>
          <a:xfrm>
            <a:off x="4730496" y="2148840"/>
            <a:ext cx="109728" cy="1097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3" name="Text 19"/>
          <p:cNvSpPr/>
          <p:nvPr/>
        </p:nvSpPr>
        <p:spPr>
          <a:xfrm>
            <a:off x="4913376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&amp; CLINIC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134356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25" name="Shape 21"/>
          <p:cNvSpPr/>
          <p:nvPr/>
        </p:nvSpPr>
        <p:spPr>
          <a:xfrm>
            <a:off x="5134356" y="2560320"/>
            <a:ext cx="1920240" cy="1920240"/>
          </a:xfrm>
          <a:prstGeom prst="blockArc">
            <a:avLst>
              <a:gd name="adj1" fmla="val 10800000"/>
              <a:gd name="adj2" fmla="val 1782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26" name="Text 22"/>
          <p:cNvSpPr/>
          <p:nvPr/>
        </p:nvSpPr>
        <p:spPr>
          <a:xfrm>
            <a:off x="5134356" y="296357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5646420" y="365760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8" name="Text 24"/>
          <p:cNvSpPr/>
          <p:nvPr/>
        </p:nvSpPr>
        <p:spPr>
          <a:xfrm>
            <a:off x="5646420" y="36576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4657344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8 Phases Complete</a:t>
            </a:r>
            <a:endParaRPr lang="en-US" sz="1450" dirty="0"/>
          </a:p>
        </p:txBody>
      </p:sp>
      <p:sp>
        <p:nvSpPr>
          <p:cNvPr id="30" name="Text 26"/>
          <p:cNvSpPr/>
          <p:nvPr/>
        </p:nvSpPr>
        <p:spPr>
          <a:xfrm>
            <a:off x="4657344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8125968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FFDAD2"/>
            </a:solidFill>
            <a:prstDash val="solid"/>
          </a:ln>
          <a:effectLst>
            <a:outerShdw sx="100000" sy="100000" kx="0" ky="0" algn="bl" rotWithShape="0" blurRad="152400" dist="38100" dir="5400000">
              <a:srgbClr val="FF6B4A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54568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FFEDE9"/>
          </a:solidFill>
          <a:ln/>
        </p:spPr>
      </p:sp>
      <p:sp>
        <p:nvSpPr>
          <p:cNvPr id="33" name="Shape 29"/>
          <p:cNvSpPr/>
          <p:nvPr/>
        </p:nvSpPr>
        <p:spPr>
          <a:xfrm>
            <a:off x="8473440" y="2148840"/>
            <a:ext cx="109728" cy="10972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34" name="Text 30"/>
          <p:cNvSpPr/>
          <p:nvPr/>
        </p:nvSpPr>
        <p:spPr>
          <a:xfrm>
            <a:off x="8656320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ANALYTICS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8877300" y="2560320"/>
            <a:ext cx="192024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/ 2</a:t>
            </a:r>
            <a:endParaRPr lang="en-US" sz="3400" dirty="0"/>
          </a:p>
        </p:txBody>
      </p:sp>
      <p:sp>
        <p:nvSpPr>
          <p:cNvPr id="36" name="Shape 32"/>
          <p:cNvSpPr/>
          <p:nvPr/>
        </p:nvSpPr>
        <p:spPr>
          <a:xfrm>
            <a:off x="8959596" y="3328416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7" name="Shape 33"/>
          <p:cNvSpPr/>
          <p:nvPr/>
        </p:nvSpPr>
        <p:spPr>
          <a:xfrm>
            <a:off x="9892284" y="3328416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8" name="Shape 34"/>
          <p:cNvSpPr/>
          <p:nvPr/>
        </p:nvSpPr>
        <p:spPr>
          <a:xfrm>
            <a:off x="9389364" y="365760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9" name="Text 35"/>
          <p:cNvSpPr/>
          <p:nvPr/>
        </p:nvSpPr>
        <p:spPr>
          <a:xfrm>
            <a:off x="9389364" y="36576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8400288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Workstreams Complete</a:t>
            </a:r>
            <a:endParaRPr lang="en-US" sz="1450" dirty="0"/>
          </a:p>
        </p:txBody>
      </p:sp>
      <p:sp>
        <p:nvSpPr>
          <p:cNvPr id="41" name="Text 37"/>
          <p:cNvSpPr/>
          <p:nvPr/>
        </p:nvSpPr>
        <p:spPr>
          <a:xfrm>
            <a:off x="8400288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finished; usage tracking is being rolled out.</a:t>
            </a:r>
            <a:endParaRPr lang="en-US" sz="1150" dirty="0"/>
          </a:p>
        </p:txBody>
      </p:sp>
      <p:sp>
        <p:nvSpPr>
          <p:cNvPr id="42" name="Shape 38"/>
          <p:cNvSpPr/>
          <p:nvPr/>
        </p:nvSpPr>
        <p:spPr>
          <a:xfrm>
            <a:off x="640080" y="5577840"/>
            <a:ext cx="10908792" cy="640080"/>
          </a:xfrm>
          <a:prstGeom prst="roundRect">
            <a:avLst>
              <a:gd name="adj" fmla="val 50000"/>
            </a:avLst>
          </a:prstGeom>
          <a:solidFill>
            <a:srgbClr val="17153A"/>
          </a:solidFill>
          <a:ln/>
        </p:spPr>
      </p:sp>
      <p:sp>
        <p:nvSpPr>
          <p:cNvPr id="43" name="Shape 39"/>
          <p:cNvSpPr/>
          <p:nvPr/>
        </p:nvSpPr>
        <p:spPr>
          <a:xfrm>
            <a:off x="731520" y="566928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44" name="Text 40"/>
          <p:cNvSpPr/>
          <p:nvPr/>
        </p:nvSpPr>
        <p:spPr>
          <a:xfrm>
            <a:off x="731520" y="5669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UPDATE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2423160" y="55778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decision is needed this week: can patients turn off SMS reminders and keep email only? (see Decisions Needed)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· APP STORE RELEASE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Store: Developer Account Verified</a:t>
            </a:r>
            <a:endParaRPr lang="en-US" sz="2800" dirty="0"/>
          </a:p>
        </p:txBody>
      </p:sp>
      <p:pic>
        <p:nvPicPr>
          <p:cNvPr id="6" name="Image 1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10030968" y="896112"/>
            <a:ext cx="1517904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10" name="Text 6"/>
          <p:cNvSpPr/>
          <p:nvPr/>
        </p:nvSpPr>
        <p:spPr>
          <a:xfrm>
            <a:off x="10030968" y="89611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 RESOLVED</a:t>
            </a:r>
            <a:endParaRPr lang="en-US" sz="900" dirty="0"/>
          </a:p>
        </p:txBody>
      </p:sp>
      <p:pic>
        <p:nvPicPr>
          <p:cNvPr id="11" name="Image 2" descr="/sessions/beautiful-vigilant-darwin/tmp/showship-deck-zktDWi/trail_tl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1090879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005840" y="2404872"/>
            <a:ext cx="548640" cy="548640"/>
          </a:xfrm>
          <a:prstGeom prst="ellipse">
            <a:avLst/>
          </a:prstGeom>
          <a:solidFill>
            <a:srgbClr val="F0503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F0503C">
                <a:alpha val="25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100584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F050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WEEK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Blocked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206240" y="2807208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4206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320040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320040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Number Received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320040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406640" y="2404872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40664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40080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40080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Verified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0080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10607040" y="2807208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106070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960120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960120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TestFlight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960120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40080" y="5577840"/>
            <a:ext cx="10908792" cy="640080"/>
          </a:xfrm>
          <a:prstGeom prst="roundRect">
            <a:avLst>
              <a:gd name="adj" fmla="val 50000"/>
            </a:avLst>
          </a:prstGeom>
          <a:solidFill>
            <a:srgbClr val="EDEAFE"/>
          </a:solidFill>
          <a:ln/>
        </p:spPr>
      </p:sp>
      <p:sp>
        <p:nvSpPr>
          <p:cNvPr id="33" name="Shape 28"/>
          <p:cNvSpPr/>
          <p:nvPr/>
        </p:nvSpPr>
        <p:spPr>
          <a:xfrm>
            <a:off x="731520" y="5669280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34" name="Text 29"/>
          <p:cNvSpPr/>
          <p:nvPr/>
        </p:nvSpPr>
        <p:spPr>
          <a:xfrm>
            <a:off x="731520" y="5669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 IMPACT</a:t>
            </a:r>
            <a:endParaRPr lang="en-US" sz="950" dirty="0"/>
          </a:p>
        </p:txBody>
      </p:sp>
      <p:sp>
        <p:nvSpPr>
          <p:cNvPr id="35" name="Text 30"/>
          <p:cNvSpPr/>
          <p:nvPr/>
        </p:nvSpPr>
        <p:spPr>
          <a:xfrm>
            <a:off x="2697480" y="55778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 is published under the company's own verified account, ready for beta testers.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PROGRESS 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pic>
        <p:nvPicPr>
          <p:cNvPr id="6" name="Image 1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4846320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371600" y="2606040"/>
            <a:ext cx="3383280" cy="33832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11" name="Shape 7"/>
          <p:cNvSpPr/>
          <p:nvPr/>
        </p:nvSpPr>
        <p:spPr>
          <a:xfrm>
            <a:off x="1371600" y="2606040"/>
            <a:ext cx="3383280" cy="3383280"/>
          </a:xfrm>
          <a:prstGeom prst="blockArc">
            <a:avLst>
              <a:gd name="adj1" fmla="val 10800000"/>
              <a:gd name="adj2" fmla="val 1782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12" name="Text 8"/>
          <p:cNvSpPr/>
          <p:nvPr/>
        </p:nvSpPr>
        <p:spPr>
          <a:xfrm>
            <a:off x="1371600" y="320040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91440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Combined Progress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91440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14400" y="5669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= average completion of each track's four phases.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760720" y="1783080"/>
            <a:ext cx="2756916" cy="219456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61938" y="2331720"/>
            <a:ext cx="1554480" cy="15544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18" name="Shape 14"/>
          <p:cNvSpPr/>
          <p:nvPr/>
        </p:nvSpPr>
        <p:spPr>
          <a:xfrm>
            <a:off x="6361938" y="2331720"/>
            <a:ext cx="1554480" cy="1554480"/>
          </a:xfrm>
          <a:prstGeom prst="blockArc">
            <a:avLst>
              <a:gd name="adj1" fmla="val 10800000"/>
              <a:gd name="adj2" fmla="val 1728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19" name="Text 15"/>
          <p:cNvSpPr/>
          <p:nvPr/>
        </p:nvSpPr>
        <p:spPr>
          <a:xfrm>
            <a:off x="6361938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5943600" y="3246120"/>
            <a:ext cx="2391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943600" y="3566160"/>
            <a:ext cx="23911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Leo Park @Leo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791956" y="1783080"/>
            <a:ext cx="2756916" cy="219456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CAE2E1"/>
            </a:solidFill>
            <a:prstDash val="solid"/>
          </a:ln>
          <a:effectLst>
            <a:outerShdw sx="100000" sy="100000" kx="0" ky="0" algn="bl" rotWithShape="0" blurRad="127000" dist="25400" dir="5400000">
              <a:srgbClr val="0C7D78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9393174" y="2331720"/>
            <a:ext cx="1554480" cy="15544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ECEB"/>
          </a:solidFill>
          <a:ln/>
        </p:spPr>
      </p:sp>
      <p:sp>
        <p:nvSpPr>
          <p:cNvPr id="24" name="Shape 20"/>
          <p:cNvSpPr/>
          <p:nvPr/>
        </p:nvSpPr>
        <p:spPr>
          <a:xfrm>
            <a:off x="9393174" y="2331720"/>
            <a:ext cx="1554480" cy="1554480"/>
          </a:xfrm>
          <a:prstGeom prst="blockArc">
            <a:avLst>
              <a:gd name="adj1" fmla="val 10800000"/>
              <a:gd name="adj2" fmla="val 18360000"/>
              <a:gd name="adj3" fmla="val 11000"/>
            </a:avLst>
          </a:prstGeom>
          <a:solidFill>
            <a:srgbClr val="0C7D78"/>
          </a:solidFill>
          <a:ln/>
        </p:spPr>
      </p:sp>
      <p:sp>
        <p:nvSpPr>
          <p:cNvPr id="25" name="Text 21"/>
          <p:cNvSpPr/>
          <p:nvPr/>
        </p:nvSpPr>
        <p:spPr>
          <a:xfrm>
            <a:off x="9393174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8974836" y="3246120"/>
            <a:ext cx="2391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8974836" y="3566160"/>
            <a:ext cx="23911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760720" y="4251960"/>
            <a:ext cx="5788152" cy="1965960"/>
          </a:xfrm>
          <a:prstGeom prst="roundRect">
            <a:avLst>
              <a:gd name="adj" fmla="val 10233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60350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03504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1" name="Shape 27"/>
          <p:cNvSpPr/>
          <p:nvPr/>
        </p:nvSpPr>
        <p:spPr>
          <a:xfrm>
            <a:off x="658368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2" name="Shape 28"/>
          <p:cNvSpPr/>
          <p:nvPr/>
        </p:nvSpPr>
        <p:spPr>
          <a:xfrm>
            <a:off x="713232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3" name="Shape 29"/>
          <p:cNvSpPr/>
          <p:nvPr/>
        </p:nvSpPr>
        <p:spPr>
          <a:xfrm>
            <a:off x="768096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4" name="Shape 30"/>
          <p:cNvSpPr/>
          <p:nvPr/>
        </p:nvSpPr>
        <p:spPr>
          <a:xfrm>
            <a:off x="822960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DBD9"/>
          </a:solidFill>
          <a:ln/>
        </p:spPr>
      </p:sp>
      <p:sp>
        <p:nvSpPr>
          <p:cNvPr id="35" name="Shape 31"/>
          <p:cNvSpPr/>
          <p:nvPr/>
        </p:nvSpPr>
        <p:spPr>
          <a:xfrm>
            <a:off x="877824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DBD9"/>
          </a:solidFill>
          <a:ln/>
        </p:spPr>
      </p:sp>
      <p:sp>
        <p:nvSpPr>
          <p:cNvPr id="36" name="Shape 32"/>
          <p:cNvSpPr/>
          <p:nvPr/>
        </p:nvSpPr>
        <p:spPr>
          <a:xfrm>
            <a:off x="932688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CEAF5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37" name="Shape 33"/>
          <p:cNvSpPr/>
          <p:nvPr/>
        </p:nvSpPr>
        <p:spPr>
          <a:xfrm>
            <a:off x="987552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CEAF5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38" name="Shape 34"/>
          <p:cNvSpPr/>
          <p:nvPr/>
        </p:nvSpPr>
        <p:spPr>
          <a:xfrm>
            <a:off x="6035040" y="5550408"/>
            <a:ext cx="128016" cy="128016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9" name="Text 35"/>
          <p:cNvSpPr/>
          <p:nvPr/>
        </p:nvSpPr>
        <p:spPr>
          <a:xfrm>
            <a:off x="6236208" y="539496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0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Phases Completed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7781544" y="5550408"/>
            <a:ext cx="128016" cy="128016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41" name="Text 37"/>
          <p:cNvSpPr/>
          <p:nvPr/>
        </p:nvSpPr>
        <p:spPr>
          <a:xfrm>
            <a:off x="7982712" y="539496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Phases In Progress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9528048" y="5550408"/>
            <a:ext cx="128016" cy="128016"/>
          </a:xfrm>
          <a:prstGeom prst="ellipse">
            <a:avLst/>
          </a:prstGeom>
          <a:solidFill>
            <a:srgbClr val="C9C6D8"/>
          </a:solidFill>
          <a:ln/>
        </p:spPr>
      </p:sp>
      <p:sp>
        <p:nvSpPr>
          <p:cNvPr id="43" name="Text 39"/>
          <p:cNvSpPr/>
          <p:nvPr/>
        </p:nvSpPr>
        <p:spPr>
          <a:xfrm>
            <a:off x="9729216" y="539496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Phases Not Started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PHASE BREAKDOWN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Status of Each Phase</a:t>
            </a:r>
            <a:endParaRPr lang="en-US" sz="2800" dirty="0"/>
          </a:p>
        </p:txBody>
      </p:sp>
      <p:pic>
        <p:nvPicPr>
          <p:cNvPr id="6" name="Image 1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10908792" cy="2125980"/>
          </a:xfrm>
          <a:prstGeom prst="roundRect">
            <a:avLst>
              <a:gd name="adj" fmla="val 9462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14400" y="2084832"/>
            <a:ext cx="146304" cy="146304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1" name="Text 7"/>
          <p:cNvSpPr/>
          <p:nvPr/>
        </p:nvSpPr>
        <p:spPr>
          <a:xfrm>
            <a:off x="1143000" y="19659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143000" y="2313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78240" y="19202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track</a:t>
            </a:r>
            <a:endParaRPr lang="en-US" sz="3000" dirty="0"/>
          </a:p>
        </p:txBody>
      </p:sp>
      <p:sp>
        <p:nvSpPr>
          <p:cNvPr id="14" name="Shape 10"/>
          <p:cNvSpPr/>
          <p:nvPr/>
        </p:nvSpPr>
        <p:spPr>
          <a:xfrm>
            <a:off x="914400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16" name="Text 12"/>
          <p:cNvSpPr/>
          <p:nvPr/>
        </p:nvSpPr>
        <p:spPr>
          <a:xfrm>
            <a:off x="1024128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914400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Accounts &amp; Sign-in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3522726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19" name="Shape 15"/>
          <p:cNvSpPr/>
          <p:nvPr/>
        </p:nvSpPr>
        <p:spPr>
          <a:xfrm>
            <a:off x="3522726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0" name="Text 16"/>
          <p:cNvSpPr/>
          <p:nvPr/>
        </p:nvSpPr>
        <p:spPr>
          <a:xfrm>
            <a:off x="3632454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3522726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&amp; Maps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131052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23" name="Shape 19"/>
          <p:cNvSpPr/>
          <p:nvPr/>
        </p:nvSpPr>
        <p:spPr>
          <a:xfrm>
            <a:off x="6131052" y="2743200"/>
            <a:ext cx="1014070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20"/>
          <p:cNvSpPr/>
          <p:nvPr/>
        </p:nvSpPr>
        <p:spPr>
          <a:xfrm>
            <a:off x="7218274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6131052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739378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F1F0F6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27" name="Text 23"/>
          <p:cNvSpPr/>
          <p:nvPr/>
        </p:nvSpPr>
        <p:spPr>
          <a:xfrm>
            <a:off x="8849106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8739378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&amp; Receipts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914400" y="34975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40080" y="4183380"/>
            <a:ext cx="10908792" cy="2125980"/>
          </a:xfrm>
          <a:prstGeom prst="roundRect">
            <a:avLst>
              <a:gd name="adj" fmla="val 9462"/>
            </a:avLst>
          </a:prstGeom>
          <a:solidFill>
            <a:srgbClr val="FFFFFF"/>
          </a:solidFill>
          <a:ln w="12700">
            <a:solidFill>
              <a:srgbClr val="C9E0E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914400" y="4485132"/>
            <a:ext cx="146304" cy="146304"/>
          </a:xfrm>
          <a:prstGeom prst="ellipse">
            <a:avLst/>
          </a:prstGeom>
          <a:solidFill>
            <a:srgbClr val="0B7470"/>
          </a:solidFill>
          <a:ln/>
        </p:spPr>
      </p:sp>
      <p:sp>
        <p:nvSpPr>
          <p:cNvPr id="32" name="Text 28"/>
          <p:cNvSpPr/>
          <p:nvPr/>
        </p:nvSpPr>
        <p:spPr>
          <a:xfrm>
            <a:off x="1143000" y="43662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33" name="Text 29"/>
          <p:cNvSpPr/>
          <p:nvPr/>
        </p:nvSpPr>
        <p:spPr>
          <a:xfrm>
            <a:off x="1143000" y="47137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8778240" y="43205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track</a:t>
            </a:r>
            <a:endParaRPr lang="en-US" sz="3000" dirty="0"/>
          </a:p>
        </p:txBody>
      </p:sp>
      <p:sp>
        <p:nvSpPr>
          <p:cNvPr id="35" name="Shape 31"/>
          <p:cNvSpPr/>
          <p:nvPr/>
        </p:nvSpPr>
        <p:spPr>
          <a:xfrm>
            <a:off x="914400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36" name="Shape 32"/>
          <p:cNvSpPr/>
          <p:nvPr/>
        </p:nvSpPr>
        <p:spPr>
          <a:xfrm>
            <a:off x="914400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37" name="Text 33"/>
          <p:cNvSpPr/>
          <p:nvPr/>
        </p:nvSpPr>
        <p:spPr>
          <a:xfrm>
            <a:off x="1024128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914400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Clinic Onboarding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3522726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40" name="Shape 36"/>
          <p:cNvSpPr/>
          <p:nvPr/>
        </p:nvSpPr>
        <p:spPr>
          <a:xfrm>
            <a:off x="3522726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41" name="Text 37"/>
          <p:cNvSpPr/>
          <p:nvPr/>
        </p:nvSpPr>
        <p:spPr>
          <a:xfrm>
            <a:off x="3632454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22726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Doctor Schedules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6131052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F1F0F6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44" name="Text 40"/>
          <p:cNvSpPr/>
          <p:nvPr/>
        </p:nvSpPr>
        <p:spPr>
          <a:xfrm>
            <a:off x="6240780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6131052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Reports &amp; Exports</a:t>
            </a:r>
            <a:endParaRPr lang="en-US" sz="1050" dirty="0"/>
          </a:p>
        </p:txBody>
      </p:sp>
      <p:sp>
        <p:nvSpPr>
          <p:cNvPr id="46" name="Shape 42"/>
          <p:cNvSpPr/>
          <p:nvPr/>
        </p:nvSpPr>
        <p:spPr>
          <a:xfrm>
            <a:off x="8739378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47" name="Shape 43"/>
          <p:cNvSpPr/>
          <p:nvPr/>
        </p:nvSpPr>
        <p:spPr>
          <a:xfrm>
            <a:off x="8739378" y="5143500"/>
            <a:ext cx="2028139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48" name="Text 44"/>
          <p:cNvSpPr/>
          <p:nvPr/>
        </p:nvSpPr>
        <p:spPr>
          <a:xfrm>
            <a:off x="8849106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1050" dirty="0"/>
          </a:p>
        </p:txBody>
      </p:sp>
      <p:sp>
        <p:nvSpPr>
          <p:cNvPr id="49" name="Text 45"/>
          <p:cNvSpPr/>
          <p:nvPr/>
        </p:nvSpPr>
        <p:spPr>
          <a:xfrm>
            <a:off x="8739378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Reminders &amp; Notifications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914400" y="58978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· CODE REVIEW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Check: Issues Caught Before Release</a:t>
            </a:r>
            <a:endParaRPr lang="en-US" sz="2800" dirty="0"/>
          </a:p>
        </p:txBody>
      </p:sp>
      <p:pic>
        <p:nvPicPr>
          <p:cNvPr id="6" name="Image 1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E9E4FE"/>
          </a:solidFill>
          <a:ln/>
        </p:spPr>
      </p:sp>
      <p:sp>
        <p:nvSpPr>
          <p:cNvPr id="10" name="Text 6"/>
          <p:cNvSpPr/>
          <p:nvPr/>
        </p:nvSpPr>
        <p:spPr>
          <a:xfrm>
            <a:off x="914400" y="178308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2148840" y="178308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332232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FFFFFF"/>
          </a:solidFill>
          <a:ln w="12700">
            <a:solidFill>
              <a:srgbClr val="E3E0E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332232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2148840" y="332232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86156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FFFFFF"/>
          </a:solidFill>
          <a:ln w="12700">
            <a:solidFill>
              <a:srgbClr val="E3E0E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14400" y="486156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212</a:t>
            </a:r>
            <a:endParaRPr lang="en-US" sz="3400" dirty="0"/>
          </a:p>
        </p:txBody>
      </p:sp>
      <p:sp>
        <p:nvSpPr>
          <p:cNvPr id="17" name="Text 13"/>
          <p:cNvSpPr/>
          <p:nvPr/>
        </p:nvSpPr>
        <p:spPr>
          <a:xfrm>
            <a:off x="2148840" y="486156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23360" y="1783080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251960" y="2132076"/>
            <a:ext cx="548640" cy="548640"/>
          </a:xfrm>
          <a:prstGeom prst="ellipse">
            <a:avLst/>
          </a:prstGeom>
          <a:solidFill>
            <a:srgbClr val="10A6A0"/>
          </a:solidFill>
          <a:ln/>
        </p:spPr>
      </p:sp>
      <p:pic>
        <p:nvPicPr>
          <p:cNvPr id="20" name="Image 2" descr="/sessions/beautiful-vigilant-darwin/tmp/showship-deck-zktDWi/iconc_Check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269236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983480" y="1911096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APPOINTMENT REMINDERS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4983480" y="2167128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10424160" y="1911096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19"/>
          <p:cNvSpPr/>
          <p:nvPr/>
        </p:nvSpPr>
        <p:spPr>
          <a:xfrm>
            <a:off x="10424160" y="191109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023360" y="3194304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FDEBCF"/>
            </a:solidFill>
            <a:prstDash val="solid"/>
          </a:ln>
          <a:effectLst>
            <a:outerShdw sx="100000" sy="100000" kx="0" ky="0" algn="bl" rotWithShape="0" blurRad="127000" dist="25400" dir="5400000">
              <a:srgbClr val="F5A524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251960" y="3543300"/>
            <a:ext cx="548640" cy="548640"/>
          </a:xfrm>
          <a:prstGeom prst="ellipse">
            <a:avLst/>
          </a:prstGeom>
          <a:solidFill>
            <a:srgbClr val="F5A524"/>
          </a:solidFill>
          <a:ln/>
        </p:spPr>
      </p:sp>
      <p:pic>
        <p:nvPicPr>
          <p:cNvPr id="27" name="Image 3" descr="/sessions/beautiful-vigilant-darwin/tmp/showship-deck-zktDWi/iconc_Wrench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3680460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83480" y="332232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RELIABILITY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4983480" y="3578352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9646920" y="3322320"/>
            <a:ext cx="1673352" cy="274320"/>
          </a:xfrm>
          <a:prstGeom prst="roundRect">
            <a:avLst>
              <a:gd name="adj" fmla="val 50000"/>
            </a:avLst>
          </a:prstGeom>
          <a:solidFill>
            <a:srgbClr val="FEF2DE"/>
          </a:solidFill>
          <a:ln/>
        </p:spPr>
      </p:sp>
      <p:sp>
        <p:nvSpPr>
          <p:cNvPr id="31" name="Text 25"/>
          <p:cNvSpPr/>
          <p:nvPr/>
        </p:nvSpPr>
        <p:spPr>
          <a:xfrm>
            <a:off x="9646920" y="33223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 BEFORE RELEASE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4023360" y="4605528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4251960" y="4954524"/>
            <a:ext cx="548640" cy="548640"/>
          </a:xfrm>
          <a:prstGeom prst="ellipse">
            <a:avLst/>
          </a:prstGeom>
          <a:solidFill>
            <a:srgbClr val="10A6A0"/>
          </a:solidFill>
          <a:ln/>
        </p:spPr>
      </p:sp>
      <p:pic>
        <p:nvPicPr>
          <p:cNvPr id="34" name="Image 4" descr="/sessions/beautiful-vigilant-darwin/tmp/showship-deck-zktDWi/iconc_Check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5091684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4983480" y="4733544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4983480" y="4989576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10424160" y="4733544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38" name="Text 31"/>
          <p:cNvSpPr/>
          <p:nvPr/>
        </p:nvSpPr>
        <p:spPr>
          <a:xfrm>
            <a:off x="10424160" y="4733544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4023360" y="5925312"/>
            <a:ext cx="7525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lead's code reviews this week.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ATTENTION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Decisions Needed</a:t>
            </a:r>
            <a:endParaRPr lang="en-US" sz="2800" dirty="0"/>
          </a:p>
        </p:txBody>
      </p:sp>
      <p:pic>
        <p:nvPicPr>
          <p:cNvPr id="6" name="Image 1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5294376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FCD9D4"/>
            </a:solidFill>
            <a:prstDash val="solid"/>
          </a:ln>
          <a:effectLst>
            <a:outerShdw sx="100000" sy="100000" kx="0" ky="0" algn="bl" rotWithShape="0" blurRad="127000" dist="25400" dir="5400000">
              <a:srgbClr val="F0503C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0080" y="1783080"/>
            <a:ext cx="5294376" cy="777240"/>
          </a:xfrm>
          <a:prstGeom prst="roundRect">
            <a:avLst>
              <a:gd name="adj" fmla="val 25882"/>
            </a:avLst>
          </a:prstGeom>
          <a:solidFill>
            <a:srgbClr val="F0503C"/>
          </a:solidFill>
          <a:ln/>
        </p:spPr>
      </p:sp>
      <p:sp>
        <p:nvSpPr>
          <p:cNvPr id="11" name="Shape 7"/>
          <p:cNvSpPr/>
          <p:nvPr/>
        </p:nvSpPr>
        <p:spPr>
          <a:xfrm>
            <a:off x="640080" y="2240280"/>
            <a:ext cx="5294376" cy="320040"/>
          </a:xfrm>
          <a:prstGeom prst="rect">
            <a:avLst/>
          </a:prstGeom>
          <a:solidFill>
            <a:srgbClr val="F0503C"/>
          </a:solidFill>
          <a:ln/>
        </p:spPr>
      </p:sp>
      <p:pic>
        <p:nvPicPr>
          <p:cNvPr id="12" name="Image 2" descr="/sessions/beautiful-vigilant-darwin/tmp/showship-deck-zktDWi/iconc_TriangleAlert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011680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1783080"/>
            <a:ext cx="3648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Risks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5065776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960120" y="2807208"/>
            <a:ext cx="402336" cy="402336"/>
          </a:xfrm>
          <a:prstGeom prst="ellipse">
            <a:avLst/>
          </a:prstGeom>
          <a:solidFill>
            <a:srgbClr val="FDE5E2"/>
          </a:solidFill>
          <a:ln/>
        </p:spPr>
      </p:sp>
      <p:sp>
        <p:nvSpPr>
          <p:cNvPr id="16" name="Text 11"/>
          <p:cNvSpPr/>
          <p:nvPr/>
        </p:nvSpPr>
        <p:spPr>
          <a:xfrm>
            <a:off x="96012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50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508760" y="2788920"/>
            <a:ext cx="41056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release waiting on one fix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 reminders must be prevented before release. Fix is small and already tested.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 · Expected: next week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254496" y="1783080"/>
            <a:ext cx="5294376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54496" y="1783080"/>
            <a:ext cx="5294376" cy="777240"/>
          </a:xfrm>
          <a:prstGeom prst="roundRect">
            <a:avLst>
              <a:gd name="adj" fmla="val 25882"/>
            </a:avLst>
          </a:prstGeom>
          <a:solidFill>
            <a:srgbClr val="6C4C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254496" y="2240280"/>
            <a:ext cx="5294376" cy="320040"/>
          </a:xfrm>
          <a:prstGeom prst="rect">
            <a:avLst/>
          </a:prstGeom>
          <a:solidFill>
            <a:srgbClr val="6C4CF5"/>
          </a:solidFill>
          <a:ln/>
        </p:spPr>
      </p:sp>
      <p:pic>
        <p:nvPicPr>
          <p:cNvPr id="21" name="Image 3" descr="/sessions/beautiful-vigilant-darwin/tmp/showship-deck-zktDWi/iconc_MessageCircleQuestion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01168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86016" y="1783080"/>
            <a:ext cx="3648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 Needed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10680192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24" name="Shape 18"/>
          <p:cNvSpPr/>
          <p:nvPr/>
        </p:nvSpPr>
        <p:spPr>
          <a:xfrm>
            <a:off x="6574536" y="2807208"/>
            <a:ext cx="402336" cy="402336"/>
          </a:xfrm>
          <a:prstGeom prst="ellipse">
            <a:avLst/>
          </a:prstGeom>
          <a:solidFill>
            <a:srgbClr val="E9E4FE"/>
          </a:solidFill>
          <a:ln/>
        </p:spPr>
      </p:sp>
      <p:sp>
        <p:nvSpPr>
          <p:cNvPr id="25" name="Text 19"/>
          <p:cNvSpPr/>
          <p:nvPr/>
        </p:nvSpPr>
        <p:spPr>
          <a:xfrm>
            <a:off x="6574536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123176" y="2788920"/>
            <a:ext cx="41056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patients turn off SMS reminders and keep email only?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 every patient with a phone number receives SMS reminders; some clinics report complaints.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Options: allow opt-out · clinic decides per patient · keep as today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· TASK TRACKER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Task Track</a:t>
            </a:r>
            <a:endParaRPr lang="en-US" sz="2800" dirty="0"/>
          </a:p>
        </p:txBody>
      </p:sp>
      <p:pic>
        <p:nvPicPr>
          <p:cNvPr id="6" name="Image 1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14400" y="2057400"/>
            <a:ext cx="566928" cy="5669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1" name="Text 7"/>
          <p:cNvSpPr/>
          <p:nvPr/>
        </p:nvSpPr>
        <p:spPr>
          <a:xfrm>
            <a:off x="9144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00200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600200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91440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5" name="Shape 11"/>
          <p:cNvSpPr/>
          <p:nvPr/>
        </p:nvSpPr>
        <p:spPr>
          <a:xfrm>
            <a:off x="127101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6" name="Shape 12"/>
          <p:cNvSpPr/>
          <p:nvPr/>
        </p:nvSpPr>
        <p:spPr>
          <a:xfrm>
            <a:off x="162763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7" name="Shape 13"/>
          <p:cNvSpPr/>
          <p:nvPr/>
        </p:nvSpPr>
        <p:spPr>
          <a:xfrm>
            <a:off x="198424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18" name="Shape 14"/>
          <p:cNvSpPr/>
          <p:nvPr/>
        </p:nvSpPr>
        <p:spPr>
          <a:xfrm>
            <a:off x="234086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19" name="Text 15"/>
          <p:cNvSpPr/>
          <p:nvPr/>
        </p:nvSpPr>
        <p:spPr>
          <a:xfrm>
            <a:off x="914400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2904744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914400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2" name="Shape 18"/>
          <p:cNvSpPr/>
          <p:nvPr/>
        </p:nvSpPr>
        <p:spPr>
          <a:xfrm>
            <a:off x="914400" y="3593592"/>
            <a:ext cx="1742846" cy="128016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3" name="Text 19"/>
          <p:cNvSpPr/>
          <p:nvPr/>
        </p:nvSpPr>
        <p:spPr>
          <a:xfrm>
            <a:off x="914400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Sign-in and clinic search done; booking calendar in progress.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914400" y="453542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5" name="Text 21"/>
          <p:cNvSpPr/>
          <p:nvPr/>
        </p:nvSpPr>
        <p:spPr>
          <a:xfrm>
            <a:off x="1188720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Accounts &amp; Sign-in (3/3)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914400" y="488975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7" name="Text 23"/>
          <p:cNvSpPr/>
          <p:nvPr/>
        </p:nvSpPr>
        <p:spPr>
          <a:xfrm>
            <a:off x="1188720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&amp; Maps (5/5)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914400" y="5244084"/>
            <a:ext cx="164592" cy="164592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29" name="Text 25"/>
          <p:cNvSpPr/>
          <p:nvPr/>
        </p:nvSpPr>
        <p:spPr>
          <a:xfrm>
            <a:off x="1188720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 (2/5)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914400" y="559841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6D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188720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&amp; Receipts (0/4)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367784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4642104" y="2057400"/>
            <a:ext cx="566928" cy="5669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4" name="Text 30"/>
          <p:cNvSpPr/>
          <p:nvPr/>
        </p:nvSpPr>
        <p:spPr>
          <a:xfrm>
            <a:off x="4642104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1400" dirty="0"/>
          </a:p>
        </p:txBody>
      </p:sp>
      <p:sp>
        <p:nvSpPr>
          <p:cNvPr id="35" name="Text 31"/>
          <p:cNvSpPr/>
          <p:nvPr/>
        </p:nvSpPr>
        <p:spPr>
          <a:xfrm>
            <a:off x="5327904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5327904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64210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38" name="Shape 34"/>
          <p:cNvSpPr/>
          <p:nvPr/>
        </p:nvSpPr>
        <p:spPr>
          <a:xfrm>
            <a:off x="499872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39" name="Shape 35"/>
          <p:cNvSpPr/>
          <p:nvPr/>
        </p:nvSpPr>
        <p:spPr>
          <a:xfrm>
            <a:off x="535533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40" name="Shape 36"/>
          <p:cNvSpPr/>
          <p:nvPr/>
        </p:nvSpPr>
        <p:spPr>
          <a:xfrm>
            <a:off x="571195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41" name="Shape 37"/>
          <p:cNvSpPr/>
          <p:nvPr/>
        </p:nvSpPr>
        <p:spPr>
          <a:xfrm>
            <a:off x="606856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42" name="Text 38"/>
          <p:cNvSpPr/>
          <p:nvPr/>
        </p:nvSpPr>
        <p:spPr>
          <a:xfrm>
            <a:off x="4642104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6632448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4642104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45" name="Shape 41"/>
          <p:cNvSpPr/>
          <p:nvPr/>
        </p:nvSpPr>
        <p:spPr>
          <a:xfrm>
            <a:off x="4642104" y="3593592"/>
            <a:ext cx="2033321" cy="128016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46" name="Text 42"/>
          <p:cNvSpPr/>
          <p:nvPr/>
        </p:nvSpPr>
        <p:spPr>
          <a:xfrm>
            <a:off x="4642104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 and schedules done; reminders in final review.</a:t>
            </a:r>
            <a:endParaRPr lang="en-US" sz="1050" dirty="0"/>
          </a:p>
        </p:txBody>
      </p:sp>
      <p:sp>
        <p:nvSpPr>
          <p:cNvPr id="47" name="Shape 43"/>
          <p:cNvSpPr/>
          <p:nvPr/>
        </p:nvSpPr>
        <p:spPr>
          <a:xfrm>
            <a:off x="4642104" y="453542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8" name="Text 44"/>
          <p:cNvSpPr/>
          <p:nvPr/>
        </p:nvSpPr>
        <p:spPr>
          <a:xfrm>
            <a:off x="4916424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Clinic Onboarding (3/3)</a:t>
            </a:r>
            <a:endParaRPr lang="en-US" sz="1000" dirty="0"/>
          </a:p>
        </p:txBody>
      </p:sp>
      <p:sp>
        <p:nvSpPr>
          <p:cNvPr id="49" name="Shape 45"/>
          <p:cNvSpPr/>
          <p:nvPr/>
        </p:nvSpPr>
        <p:spPr>
          <a:xfrm>
            <a:off x="4642104" y="488975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50" name="Text 46"/>
          <p:cNvSpPr/>
          <p:nvPr/>
        </p:nvSpPr>
        <p:spPr>
          <a:xfrm>
            <a:off x="4916424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Doctor Schedules (5/5)</a:t>
            </a:r>
            <a:endParaRPr lang="en-US" sz="1000" dirty="0"/>
          </a:p>
        </p:txBody>
      </p:sp>
      <p:sp>
        <p:nvSpPr>
          <p:cNvPr id="51" name="Shape 47"/>
          <p:cNvSpPr/>
          <p:nvPr/>
        </p:nvSpPr>
        <p:spPr>
          <a:xfrm>
            <a:off x="4642104" y="5244084"/>
            <a:ext cx="164592" cy="164592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52" name="Text 48"/>
          <p:cNvSpPr/>
          <p:nvPr/>
        </p:nvSpPr>
        <p:spPr>
          <a:xfrm>
            <a:off x="4916424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Reminders — in review (5/5)</a:t>
            </a:r>
            <a:endParaRPr lang="en-US" sz="1000" dirty="0"/>
          </a:p>
        </p:txBody>
      </p:sp>
      <p:sp>
        <p:nvSpPr>
          <p:cNvPr id="53" name="Shape 49"/>
          <p:cNvSpPr/>
          <p:nvPr/>
        </p:nvSpPr>
        <p:spPr>
          <a:xfrm>
            <a:off x="4642104" y="559841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6D8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4916424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Reports &amp; Exports (0/4)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8095488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FFDED7"/>
            </a:solidFill>
            <a:prstDash val="solid"/>
          </a:ln>
          <a:effectLst>
            <a:outerShdw sx="100000" sy="100000" kx="0" ky="0" algn="bl" rotWithShape="0" blurRad="127000" dist="25400" dir="5400000">
              <a:srgbClr val="FF6B4A">
                <a:alpha val="10000"/>
              </a:srgbClr>
            </a:outerShdw>
          </a:effectLst>
        </p:spPr>
      </p:sp>
      <p:sp>
        <p:nvSpPr>
          <p:cNvPr id="56" name="Shape 52"/>
          <p:cNvSpPr/>
          <p:nvPr/>
        </p:nvSpPr>
        <p:spPr>
          <a:xfrm>
            <a:off x="8369808" y="2057400"/>
            <a:ext cx="566928" cy="56692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57" name="Text 53"/>
          <p:cNvSpPr/>
          <p:nvPr/>
        </p:nvSpPr>
        <p:spPr>
          <a:xfrm>
            <a:off x="8369808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400" dirty="0"/>
          </a:p>
        </p:txBody>
      </p:sp>
      <p:sp>
        <p:nvSpPr>
          <p:cNvPr id="58" name="Text 54"/>
          <p:cNvSpPr/>
          <p:nvPr/>
        </p:nvSpPr>
        <p:spPr>
          <a:xfrm>
            <a:off x="9055608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400" dirty="0"/>
          </a:p>
        </p:txBody>
      </p:sp>
      <p:sp>
        <p:nvSpPr>
          <p:cNvPr id="59" name="Text 55"/>
          <p:cNvSpPr/>
          <p:nvPr/>
        </p:nvSpPr>
        <p:spPr>
          <a:xfrm>
            <a:off x="9055608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Analytics</a:t>
            </a:r>
            <a:endParaRPr lang="en-US" sz="1000" dirty="0"/>
          </a:p>
        </p:txBody>
      </p:sp>
      <p:sp>
        <p:nvSpPr>
          <p:cNvPr id="60" name="Shape 56"/>
          <p:cNvSpPr/>
          <p:nvPr/>
        </p:nvSpPr>
        <p:spPr>
          <a:xfrm>
            <a:off x="836980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1" name="Shape 57"/>
          <p:cNvSpPr/>
          <p:nvPr/>
        </p:nvSpPr>
        <p:spPr>
          <a:xfrm>
            <a:off x="872642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2" name="Shape 58"/>
          <p:cNvSpPr/>
          <p:nvPr/>
        </p:nvSpPr>
        <p:spPr>
          <a:xfrm>
            <a:off x="908304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965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4" name="Shape 60"/>
          <p:cNvSpPr/>
          <p:nvPr/>
        </p:nvSpPr>
        <p:spPr>
          <a:xfrm>
            <a:off x="979627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5" name="Shape 61"/>
          <p:cNvSpPr/>
          <p:nvPr/>
        </p:nvSpPr>
        <p:spPr>
          <a:xfrm>
            <a:off x="1015288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E4DE"/>
          </a:solidFill>
          <a:ln/>
        </p:spPr>
      </p:sp>
      <p:sp>
        <p:nvSpPr>
          <p:cNvPr id="66" name="Text 62"/>
          <p:cNvSpPr/>
          <p:nvPr/>
        </p:nvSpPr>
        <p:spPr>
          <a:xfrm>
            <a:off x="8369808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050" dirty="0"/>
          </a:p>
        </p:txBody>
      </p:sp>
      <p:sp>
        <p:nvSpPr>
          <p:cNvPr id="67" name="Text 63"/>
          <p:cNvSpPr/>
          <p:nvPr/>
        </p:nvSpPr>
        <p:spPr>
          <a:xfrm>
            <a:off x="10360152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800" dirty="0"/>
          </a:p>
        </p:txBody>
      </p:sp>
      <p:sp>
        <p:nvSpPr>
          <p:cNvPr id="68" name="Shape 64"/>
          <p:cNvSpPr/>
          <p:nvPr/>
        </p:nvSpPr>
        <p:spPr>
          <a:xfrm>
            <a:off x="8369808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69" name="Shape 65"/>
          <p:cNvSpPr/>
          <p:nvPr/>
        </p:nvSpPr>
        <p:spPr>
          <a:xfrm>
            <a:off x="8369808" y="3593592"/>
            <a:ext cx="2178558" cy="128016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70" name="Text 66"/>
          <p:cNvSpPr/>
          <p:nvPr/>
        </p:nvSpPr>
        <p:spPr>
          <a:xfrm>
            <a:off x="8369808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transfer finished; usage tracking being rolled out.</a:t>
            </a:r>
            <a:endParaRPr lang="en-US" sz="1050" dirty="0"/>
          </a:p>
        </p:txBody>
      </p:sp>
      <p:sp>
        <p:nvSpPr>
          <p:cNvPr id="71" name="Shape 67"/>
          <p:cNvSpPr/>
          <p:nvPr/>
        </p:nvSpPr>
        <p:spPr>
          <a:xfrm>
            <a:off x="8369808" y="453542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2" name="Text 68"/>
          <p:cNvSpPr/>
          <p:nvPr/>
        </p:nvSpPr>
        <p:spPr>
          <a:xfrm>
            <a:off x="8644128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transfer to new system</a:t>
            </a:r>
            <a:endParaRPr lang="en-US" sz="1000" dirty="0"/>
          </a:p>
        </p:txBody>
      </p:sp>
      <p:sp>
        <p:nvSpPr>
          <p:cNvPr id="73" name="Shape 69"/>
          <p:cNvSpPr/>
          <p:nvPr/>
        </p:nvSpPr>
        <p:spPr>
          <a:xfrm>
            <a:off x="8369808" y="488975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4" name="Text 70"/>
          <p:cNvSpPr/>
          <p:nvPr/>
        </p:nvSpPr>
        <p:spPr>
          <a:xfrm>
            <a:off x="8644128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plan agreed</a:t>
            </a:r>
            <a:endParaRPr lang="en-US" sz="1000" dirty="0"/>
          </a:p>
        </p:txBody>
      </p:sp>
      <p:sp>
        <p:nvSpPr>
          <p:cNvPr id="75" name="Shape 71"/>
          <p:cNvSpPr/>
          <p:nvPr/>
        </p:nvSpPr>
        <p:spPr>
          <a:xfrm>
            <a:off x="8369808" y="5244084"/>
            <a:ext cx="164592" cy="164592"/>
          </a:xfrm>
          <a:prstGeom prst="ellipse">
            <a:avLst/>
          </a:prstGeom>
          <a:solidFill>
            <a:srgbClr val="FFC4B7"/>
          </a:solidFill>
          <a:ln/>
        </p:spPr>
      </p:sp>
      <p:sp>
        <p:nvSpPr>
          <p:cNvPr id="76" name="Text 72"/>
          <p:cNvSpPr/>
          <p:nvPr/>
        </p:nvSpPr>
        <p:spPr>
          <a:xfrm>
            <a:off x="8644128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Usage tracking rollout</a:t>
            </a:r>
            <a:endParaRPr lang="en-US" sz="1000" dirty="0"/>
          </a:p>
        </p:txBody>
      </p:sp>
      <p:sp>
        <p:nvSpPr>
          <p:cNvPr id="77" name="Shape 73"/>
          <p:cNvSpPr/>
          <p:nvPr/>
        </p:nvSpPr>
        <p:spPr>
          <a:xfrm>
            <a:off x="8369808" y="559841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8" name="Text 74"/>
          <p:cNvSpPr/>
          <p:nvPr/>
        </p:nvSpPr>
        <p:spPr>
          <a:xfrm>
            <a:off x="8644128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· 3 features</a:t>
            </a:r>
            <a:endParaRPr lang="en-US" sz="1000" dirty="0"/>
          </a:p>
        </p:txBody>
      </p:sp>
      <p:sp>
        <p:nvSpPr>
          <p:cNvPr id="79" name="Text 75"/>
          <p:cNvSpPr/>
          <p:nvPr/>
        </p:nvSpPr>
        <p:spPr>
          <a:xfrm>
            <a:off x="640080" y="6062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Done/Open = planned tasks this week; work in review stays open until approved.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ENGINEERING ACTIVITY · GITHUB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Delivery Activity This Week</a:t>
            </a:r>
            <a:endParaRPr lang="en-US" sz="2800" dirty="0"/>
          </a:p>
        </p:txBody>
      </p:sp>
      <p:pic>
        <p:nvPicPr>
          <p:cNvPr id="6" name="Image 1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7726680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822960" y="1920240"/>
          <a:ext cx="73609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914400" y="576072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GitHub activity this week.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641080" y="1783080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6C4CF5"/>
          </a:solidFill>
          <a:ln/>
          <a:effectLst>
            <a:outerShdw sx="100000" sy="100000" kx="0" ky="0" algn="bl" rotWithShape="0" blurRad="127000" dist="25400" dir="5400000">
              <a:srgbClr val="6C4CF5">
                <a:alpha val="30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8915400" y="1892808"/>
            <a:ext cx="2359152" cy="7392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9"/>
          <p:cNvSpPr/>
          <p:nvPr/>
        </p:nvSpPr>
        <p:spPr>
          <a:xfrm>
            <a:off x="8915400" y="2589581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approved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641080" y="3328416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8915400" y="3438144"/>
            <a:ext cx="2359152" cy="7392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400" dirty="0"/>
          </a:p>
        </p:txBody>
      </p:sp>
      <p:sp>
        <p:nvSpPr>
          <p:cNvPr id="17" name="Text 12"/>
          <p:cNvSpPr/>
          <p:nvPr/>
        </p:nvSpPr>
        <p:spPr>
          <a:xfrm>
            <a:off x="8915400" y="4134917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final review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641080" y="4873752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915400" y="4983480"/>
            <a:ext cx="2359152" cy="7392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915400" y="5680253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completed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LOOKING AHEAD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Week's Plan</a:t>
            </a:r>
            <a:endParaRPr lang="en-US" sz="2800" dirty="0"/>
          </a:p>
        </p:txBody>
      </p:sp>
      <p:pic>
        <p:nvPicPr>
          <p:cNvPr id="6" name="Image 1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051560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/ TRACK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356616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5394960" y="169164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FOCUS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9720072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40080" y="2057400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20574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15" name="Text 11"/>
          <p:cNvSpPr/>
          <p:nvPr/>
        </p:nvSpPr>
        <p:spPr>
          <a:xfrm>
            <a:off x="1051560" y="20574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566160" y="2308860"/>
            <a:ext cx="365760" cy="365760"/>
          </a:xfrm>
          <a:prstGeom prst="ellipse">
            <a:avLst/>
          </a:prstGeom>
          <a:solidFill>
            <a:srgbClr val="D4EFEE"/>
          </a:solidFill>
          <a:ln/>
        </p:spPr>
      </p:sp>
      <p:sp>
        <p:nvSpPr>
          <p:cNvPr id="17" name="Text 13"/>
          <p:cNvSpPr/>
          <p:nvPr/>
        </p:nvSpPr>
        <p:spPr>
          <a:xfrm>
            <a:off x="3566160" y="2308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023360" y="205740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394960" y="2057400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424160" y="235458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1" name="Text 17"/>
          <p:cNvSpPr/>
          <p:nvPr/>
        </p:nvSpPr>
        <p:spPr>
          <a:xfrm>
            <a:off x="10424160" y="235458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40%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054096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40080" y="3054096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20"/>
          <p:cNvSpPr/>
          <p:nvPr/>
        </p:nvSpPr>
        <p:spPr>
          <a:xfrm>
            <a:off x="1051560" y="3054096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3566160" y="3305556"/>
            <a:ext cx="365760" cy="365760"/>
          </a:xfrm>
          <a:prstGeom prst="ellipse">
            <a:avLst/>
          </a:prstGeom>
          <a:solidFill>
            <a:srgbClr val="D4EFEE"/>
          </a:solidFill>
          <a:ln/>
        </p:spPr>
      </p:sp>
      <p:sp>
        <p:nvSpPr>
          <p:cNvPr id="26" name="Text 22"/>
          <p:cNvSpPr/>
          <p:nvPr/>
        </p:nvSpPr>
        <p:spPr>
          <a:xfrm>
            <a:off x="3566160" y="33055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023360" y="3054096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394960" y="3054096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10424160" y="3351276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30" name="Text 26"/>
          <p:cNvSpPr/>
          <p:nvPr/>
        </p:nvSpPr>
        <p:spPr>
          <a:xfrm>
            <a:off x="10424160" y="335127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80%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640080" y="4050792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FFDED7"/>
            </a:solidFill>
            <a:prstDash val="solid"/>
          </a:ln>
          <a:effectLst>
            <a:outerShdw sx="100000" sy="100000" kx="0" ky="0" algn="bl" rotWithShape="0" blurRad="127000" dist="25400" dir="5400000">
              <a:srgbClr val="FF6B4A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40080" y="4050792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3" name="Text 29"/>
          <p:cNvSpPr/>
          <p:nvPr/>
        </p:nvSpPr>
        <p:spPr>
          <a:xfrm>
            <a:off x="1051560" y="405079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3566160" y="4302252"/>
            <a:ext cx="365760" cy="365760"/>
          </a:xfrm>
          <a:prstGeom prst="ellipse">
            <a:avLst/>
          </a:prstGeom>
          <a:solidFill>
            <a:srgbClr val="FFE4DE"/>
          </a:solidFill>
          <a:ln/>
        </p:spPr>
      </p:sp>
      <p:sp>
        <p:nvSpPr>
          <p:cNvPr id="35" name="Text 31"/>
          <p:cNvSpPr/>
          <p:nvPr/>
        </p:nvSpPr>
        <p:spPr>
          <a:xfrm>
            <a:off x="3566160" y="43022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4023360" y="4050792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394960" y="4050792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10190988" y="4347972"/>
            <a:ext cx="1129284" cy="27432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9" name="Text 35"/>
          <p:cNvSpPr/>
          <p:nvPr/>
        </p:nvSpPr>
        <p:spPr>
          <a:xfrm>
            <a:off x="10190988" y="4347972"/>
            <a:ext cx="112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40080" y="5047488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40080" y="5047488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42" name="Text 38"/>
          <p:cNvSpPr/>
          <p:nvPr/>
        </p:nvSpPr>
        <p:spPr>
          <a:xfrm>
            <a:off x="1051560" y="504748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3566160" y="5298948"/>
            <a:ext cx="365760" cy="365760"/>
          </a:xfrm>
          <a:prstGeom prst="ellipse">
            <a:avLst/>
          </a:prstGeom>
          <a:solidFill>
            <a:srgbClr val="E5DFFD"/>
          </a:solidFill>
          <a:ln/>
        </p:spPr>
      </p:sp>
      <p:sp>
        <p:nvSpPr>
          <p:cNvPr id="44" name="Text 40"/>
          <p:cNvSpPr/>
          <p:nvPr/>
        </p:nvSpPr>
        <p:spPr>
          <a:xfrm>
            <a:off x="3566160" y="52989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950" dirty="0"/>
          </a:p>
        </p:txBody>
      </p:sp>
      <p:sp>
        <p:nvSpPr>
          <p:cNvPr id="45" name="Text 41"/>
          <p:cNvSpPr/>
          <p:nvPr/>
        </p:nvSpPr>
        <p:spPr>
          <a:xfrm>
            <a:off x="4023360" y="50474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5394960" y="5047488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10735056" y="5344668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48" name="Text 44"/>
          <p:cNvSpPr/>
          <p:nvPr/>
        </p:nvSpPr>
        <p:spPr>
          <a:xfrm>
            <a:off x="10735056" y="5344668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zktDWi/trail_boo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sessions/beautiful-vigilant-darwin/tmp/showship-deck-zktDWi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75" y="658368"/>
            <a:ext cx="522169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4592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Acme Digital Co., Ltd.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4688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5661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9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40080" y="5577840"/>
            <a:ext cx="1719072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587752" y="5577840"/>
            <a:ext cx="242316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587752" y="55778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000" dirty="0"/>
          </a:p>
        </p:txBody>
      </p:sp>
      <p:pic>
        <p:nvPicPr>
          <p:cNvPr id="11" name="Image 2" descr="/sessions/beautiful-vigilant-darwin/tmp/showship-deck-zktDWi/trail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7607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66960" y="5733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2026-10-05T14:28:36Z</dcterms:created>
  <dcterms:modified xsi:type="dcterms:W3CDTF">2026-10-05T14:28:36Z</dcterms:modified>
</cp:coreProperties>
</file>