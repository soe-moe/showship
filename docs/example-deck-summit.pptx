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202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1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 App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6E7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1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Clinic Dashboard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6E7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1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0A6E78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CDE5E8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020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CFD7D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0A6E78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CDE5E8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020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CFD7D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0A6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020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CDE5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8A8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020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FD7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4" Type="http://schemas.openxmlformats.org/officeDocument/2006/relationships/chart" Target="/ppt/charts/chart3.xml"/><Relationship Id="rId1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8063" y="5394960"/>
            <a:ext cx="566928" cy="1463040"/>
          </a:xfrm>
          <a:prstGeom prst="rect">
            <a:avLst/>
          </a:prstGeom>
          <a:solidFill>
            <a:srgbClr val="233240"/>
          </a:solidFill>
          <a:ln/>
        </p:spPr>
      </p:sp>
      <p:sp>
        <p:nvSpPr>
          <p:cNvPr id="3" name="Shape 1"/>
          <p:cNvSpPr/>
          <p:nvPr/>
        </p:nvSpPr>
        <p:spPr>
          <a:xfrm>
            <a:off x="8954719" y="4572000"/>
            <a:ext cx="566928" cy="2286000"/>
          </a:xfrm>
          <a:prstGeom prst="rect">
            <a:avLst/>
          </a:prstGeom>
          <a:solidFill>
            <a:srgbClr val="2F3D4A"/>
          </a:solidFill>
          <a:ln/>
        </p:spPr>
      </p:sp>
      <p:sp>
        <p:nvSpPr>
          <p:cNvPr id="4" name="Shape 2"/>
          <p:cNvSpPr/>
          <p:nvPr/>
        </p:nvSpPr>
        <p:spPr>
          <a:xfrm>
            <a:off x="9631375" y="3749040"/>
            <a:ext cx="566928" cy="3108960"/>
          </a:xfrm>
          <a:prstGeom prst="rect">
            <a:avLst/>
          </a:prstGeom>
          <a:solidFill>
            <a:srgbClr val="3B4854"/>
          </a:solidFill>
          <a:ln/>
        </p:spPr>
      </p:sp>
      <p:sp>
        <p:nvSpPr>
          <p:cNvPr id="5" name="Shape 3"/>
          <p:cNvSpPr/>
          <p:nvPr/>
        </p:nvSpPr>
        <p:spPr>
          <a:xfrm>
            <a:off x="10308031" y="2926080"/>
            <a:ext cx="566928" cy="3931920"/>
          </a:xfrm>
          <a:prstGeom prst="rect">
            <a:avLst/>
          </a:prstGeom>
          <a:solidFill>
            <a:srgbClr val="47535F"/>
          </a:solidFill>
          <a:ln/>
        </p:spPr>
      </p:sp>
      <p:sp>
        <p:nvSpPr>
          <p:cNvPr id="6" name="Shape 4"/>
          <p:cNvSpPr/>
          <p:nvPr/>
        </p:nvSpPr>
        <p:spPr>
          <a:xfrm>
            <a:off x="10984687" y="2103120"/>
            <a:ext cx="566928" cy="4754880"/>
          </a:xfrm>
          <a:prstGeom prst="rect">
            <a:avLst/>
          </a:prstGeom>
          <a:solidFill>
            <a:srgbClr val="0A6E78"/>
          </a:solidFill>
          <a:ln/>
        </p:spPr>
      </p:sp>
      <p:pic>
        <p:nvPicPr>
          <p:cNvPr id="7" name="Image 0" descr="/var/folders/lw/rmylcyvd5rjfxk9g1z9rrm8w0000gq/T/showship-deck-UJCJE2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89642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03120"/>
            <a:ext cx="1005840" cy="6400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286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269748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Development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Report</a:t>
            </a:r>
            <a:endParaRPr lang="en-US" sz="4400" dirty="0"/>
          </a:p>
        </p:txBody>
      </p:sp>
      <p:sp>
        <p:nvSpPr>
          <p:cNvPr id="12" name="Shape 9"/>
          <p:cNvSpPr/>
          <p:nvPr/>
        </p:nvSpPr>
        <p:spPr>
          <a:xfrm>
            <a:off x="640080" y="5440680"/>
            <a:ext cx="7132320" cy="0"/>
          </a:xfrm>
          <a:prstGeom prst="line">
            <a:avLst/>
          </a:prstGeom>
          <a:noFill/>
          <a:ln w="12700">
            <a:solidFill>
              <a:srgbClr val="4C586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577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833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297680" y="5577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97680" y="5833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9, 2026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UJCJE2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10908792" cy="3813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03911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350008"/>
            <a:ext cx="3087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A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14" name="Shape 11"/>
          <p:cNvSpPr/>
          <p:nvPr/>
        </p:nvSpPr>
        <p:spPr>
          <a:xfrm>
            <a:off x="914400" y="3406140"/>
            <a:ext cx="128016" cy="128016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5" name="Text 12"/>
          <p:cNvSpPr/>
          <p:nvPr/>
        </p:nvSpPr>
        <p:spPr>
          <a:xfrm>
            <a:off x="1133856" y="3337560"/>
            <a:ext cx="2868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3703320"/>
            <a:ext cx="3087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Account Verified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4400" y="4389120"/>
            <a:ext cx="3087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76344" y="2057400"/>
            <a:ext cx="0" cy="3264408"/>
          </a:xfrm>
          <a:prstGeom prst="line">
            <a:avLst/>
          </a:prstGeom>
          <a:noFill/>
          <a:ln w="9525">
            <a:solidFill>
              <a:srgbClr val="CFD7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50664" y="203911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50664" y="2350008"/>
            <a:ext cx="3087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6000" dirty="0"/>
          </a:p>
        </p:txBody>
      </p:sp>
      <p:sp>
        <p:nvSpPr>
          <p:cNvPr id="21" name="Shape 18"/>
          <p:cNvSpPr/>
          <p:nvPr/>
        </p:nvSpPr>
        <p:spPr>
          <a:xfrm>
            <a:off x="4550664" y="3406140"/>
            <a:ext cx="128016" cy="128016"/>
          </a:xfrm>
          <a:prstGeom prst="rect">
            <a:avLst/>
          </a:prstGeom>
          <a:ln w="19050">
            <a:solidFill>
              <a:srgbClr val="3F6A8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0120" y="3337560"/>
            <a:ext cx="2868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50664" y="3703320"/>
            <a:ext cx="3087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8 Phases Complete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50664" y="4389120"/>
            <a:ext cx="3087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12608" y="2057400"/>
            <a:ext cx="0" cy="3264408"/>
          </a:xfrm>
          <a:prstGeom prst="line">
            <a:avLst/>
          </a:prstGeom>
          <a:noFill/>
          <a:ln w="9525">
            <a:solidFill>
              <a:srgbClr val="CFD7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86928" y="203911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86928" y="2350008"/>
            <a:ext cx="3087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2</a:t>
            </a:r>
            <a:endParaRPr lang="en-US" sz="6000" dirty="0"/>
          </a:p>
        </p:txBody>
      </p:sp>
      <p:sp>
        <p:nvSpPr>
          <p:cNvPr id="28" name="Shape 25"/>
          <p:cNvSpPr/>
          <p:nvPr/>
        </p:nvSpPr>
        <p:spPr>
          <a:xfrm>
            <a:off x="8186928" y="3406140"/>
            <a:ext cx="128016" cy="128016"/>
          </a:xfrm>
          <a:prstGeom prst="rect">
            <a:avLst/>
          </a:prstGeom>
          <a:ln w="19050">
            <a:solidFill>
              <a:srgbClr val="3F6A8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06384" y="3337560"/>
            <a:ext cx="2868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186928" y="3703320"/>
            <a:ext cx="3087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Workstreams Complete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186928" y="4389120"/>
            <a:ext cx="3087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0080" y="5733288"/>
            <a:ext cx="10908792" cy="530352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3" name="Text 30"/>
          <p:cNvSpPr/>
          <p:nvPr/>
        </p:nvSpPr>
        <p:spPr>
          <a:xfrm>
            <a:off x="868680" y="573328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update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377440" y="5733288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is needed this week: can patients turn off SMS reminders and keep email only? (see Decisions Needed)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App Store Release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Store: Developer Account Verified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UJCJE2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645920"/>
            <a:ext cx="1609344" cy="29260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6459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935099" y="3017520"/>
            <a:ext cx="8321497" cy="0"/>
          </a:xfrm>
          <a:prstGeom prst="line">
            <a:avLst/>
          </a:prstGeom>
          <a:noFill/>
          <a:ln w="38100">
            <a:solidFill>
              <a:srgbClr val="0A6E7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79067" y="276148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93A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79067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080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452899" y="2761488"/>
            <a:ext cx="512064" cy="512064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20" name="Text 17"/>
          <p:cNvSpPr/>
          <p:nvPr/>
        </p:nvSpPr>
        <p:spPr>
          <a:xfrm>
            <a:off x="4452899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413912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413912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Received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505352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226732" y="2761488"/>
            <a:ext cx="512064" cy="512064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25" name="Text 22"/>
          <p:cNvSpPr/>
          <p:nvPr/>
        </p:nvSpPr>
        <p:spPr>
          <a:xfrm>
            <a:off x="7226732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187745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187745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Verified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79185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927412" y="2688336"/>
            <a:ext cx="658368" cy="658368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30" name="Text 27"/>
          <p:cNvSpPr/>
          <p:nvPr/>
        </p:nvSpPr>
        <p:spPr>
          <a:xfrm>
            <a:off x="9927412" y="2688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961577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961577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TestFlight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053017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0080" y="5486400"/>
            <a:ext cx="109087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  </a:t>
            </a:r>
            <a:pPr indent="0" marL="0">
              <a:buNone/>
            </a:pPr>
            <a:r>
              <a:rPr lang="en-US" sz="135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is published under the company's own verified account, ready for beta testers.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Progress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UJCJE2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3392424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1376172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1376172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22960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Progress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22960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98264" y="1783080"/>
            <a:ext cx="3392424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graphicFrame>
        <p:nvGraphicFramePr>
          <p:cNvPr id="17" name="Chart 1" descr=""/>
          <p:cNvGraphicFramePr/>
          <p:nvPr/>
        </p:nvGraphicFramePr>
        <p:xfrm>
          <a:off x="5134356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/>
          <p:nvPr/>
        </p:nvSpPr>
        <p:spPr>
          <a:xfrm>
            <a:off x="5134356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4581144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581144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56448" y="1783080"/>
            <a:ext cx="3392424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graphicFrame>
        <p:nvGraphicFramePr>
          <p:cNvPr id="22" name="Chart 2" descr=""/>
          <p:cNvGraphicFramePr/>
          <p:nvPr/>
        </p:nvGraphicFramePr>
        <p:xfrm>
          <a:off x="8892540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/>
          <p:nvPr/>
        </p:nvSpPr>
        <p:spPr>
          <a:xfrm>
            <a:off x="8892540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8339328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339328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4983480"/>
            <a:ext cx="3392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0080" y="4983480"/>
            <a:ext cx="91440" cy="868680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28" name="Text 22"/>
          <p:cNvSpPr/>
          <p:nvPr/>
        </p:nvSpPr>
        <p:spPr>
          <a:xfrm>
            <a:off x="914400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3"/>
          <p:cNvSpPr/>
          <p:nvPr/>
        </p:nvSpPr>
        <p:spPr>
          <a:xfrm>
            <a:off x="1645920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398264" y="4983480"/>
            <a:ext cx="3392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398264" y="4983480"/>
            <a:ext cx="91440" cy="868680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32" name="Text 26"/>
          <p:cNvSpPr/>
          <p:nvPr/>
        </p:nvSpPr>
        <p:spPr>
          <a:xfrm>
            <a:off x="4672584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33" name="Text 27"/>
          <p:cNvSpPr/>
          <p:nvPr/>
        </p:nvSpPr>
        <p:spPr>
          <a:xfrm>
            <a:off x="5404104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In Progress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8156448" y="4983480"/>
            <a:ext cx="3392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8156448" y="4983480"/>
            <a:ext cx="91440" cy="868680"/>
          </a:xfrm>
          <a:prstGeom prst="rect">
            <a:avLst/>
          </a:prstGeom>
          <a:solidFill>
            <a:srgbClr val="E1E7EB"/>
          </a:solidFill>
          <a:ln/>
        </p:spPr>
      </p:sp>
      <p:sp>
        <p:nvSpPr>
          <p:cNvPr id="36" name="Text 30"/>
          <p:cNvSpPr/>
          <p:nvPr/>
        </p:nvSpPr>
        <p:spPr>
          <a:xfrm>
            <a:off x="8430768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37" name="Text 31"/>
          <p:cNvSpPr/>
          <p:nvPr/>
        </p:nvSpPr>
        <p:spPr>
          <a:xfrm>
            <a:off x="9162288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Not Started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Phase Breakdown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ClinicBook: Status of Each Phase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UJCJE2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5271516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168396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Leo Park @Leo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77240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914400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calendar underway; payments are next.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77356" y="1783080"/>
            <a:ext cx="5271516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51676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805672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Nina Rao @Nina</a:t>
            </a:r>
            <a:endParaRPr lang="en-US" sz="12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6414516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 15"/>
          <p:cNvSpPr/>
          <p:nvPr/>
        </p:nvSpPr>
        <p:spPr>
          <a:xfrm>
            <a:off x="6551676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are in final review; 4 of 5 parts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ClinicBook: What Was Done on Each Task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UJCJE2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3453384" cy="3694938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1965960"/>
            <a:ext cx="1175004" cy="292608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1965960"/>
            <a:ext cx="11750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19" name="Text 16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21" name="Text 18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0A6E7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5B677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5B677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67784" y="1783080"/>
            <a:ext cx="3453384" cy="3694938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96384" y="1965960"/>
            <a:ext cx="1001268" cy="29260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30" name="Text 27"/>
          <p:cNvSpPr/>
          <p:nvPr/>
        </p:nvSpPr>
        <p:spPr>
          <a:xfrm>
            <a:off x="4596384" y="1965960"/>
            <a:ext cx="1001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36" name="Text 33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38" name="Text 35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40" name="Text 37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42" name="Text 39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095488" y="1783080"/>
            <a:ext cx="3453384" cy="3694938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324088" y="1965960"/>
            <a:ext cx="1175004" cy="292608"/>
          </a:xfrm>
          <a:prstGeom prst="rect">
            <a:avLst/>
          </a:prstGeom>
          <a:solidFill>
            <a:srgbClr val="E1E7EB"/>
          </a:solidFill>
          <a:ln/>
        </p:spPr>
      </p:sp>
      <p:sp>
        <p:nvSpPr>
          <p:cNvPr id="45" name="Text 42"/>
          <p:cNvSpPr/>
          <p:nvPr/>
        </p:nvSpPr>
        <p:spPr>
          <a:xfrm>
            <a:off x="8324088" y="1965960"/>
            <a:ext cx="11750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5B677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5B677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5B677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· Code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Check: Issues Caught Before Release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UJCJE2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3017520" cy="4434840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01168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8F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14400" y="280720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reviewed this week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331927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33756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914400" y="413308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release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4400" y="464515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466344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914400" y="545896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 (100%)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977640" y="1783080"/>
            <a:ext cx="7571232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06240" y="2084832"/>
            <a:ext cx="64008" cy="984504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22" name="Text 19"/>
          <p:cNvSpPr/>
          <p:nvPr/>
        </p:nvSpPr>
        <p:spPr>
          <a:xfrm>
            <a:off x="4389120" y="204825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389120" y="2304288"/>
            <a:ext cx="578815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10405872" y="2066544"/>
            <a:ext cx="914400" cy="29260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25" name="Text 22"/>
          <p:cNvSpPr/>
          <p:nvPr/>
        </p:nvSpPr>
        <p:spPr>
          <a:xfrm>
            <a:off x="10405872" y="20665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06240" y="3325368"/>
            <a:ext cx="64008" cy="984504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27" name="Text 24"/>
          <p:cNvSpPr/>
          <p:nvPr/>
        </p:nvSpPr>
        <p:spPr>
          <a:xfrm>
            <a:off x="4389120" y="3288792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389120" y="3544824"/>
            <a:ext cx="491947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9537192" y="3307080"/>
            <a:ext cx="1783080" cy="292608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30" name="Text 27"/>
          <p:cNvSpPr/>
          <p:nvPr/>
        </p:nvSpPr>
        <p:spPr>
          <a:xfrm>
            <a:off x="9537192" y="3307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206240" y="4565904"/>
            <a:ext cx="64008" cy="984504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32" name="Text 29"/>
          <p:cNvSpPr/>
          <p:nvPr/>
        </p:nvSpPr>
        <p:spPr>
          <a:xfrm>
            <a:off x="4389120" y="452932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389120" y="4785360"/>
            <a:ext cx="578815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10405872" y="4547616"/>
            <a:ext cx="914400" cy="29260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35" name="Text 32"/>
          <p:cNvSpPr/>
          <p:nvPr/>
        </p:nvSpPr>
        <p:spPr>
          <a:xfrm>
            <a:off x="10405872" y="4547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389120" y="5760720"/>
            <a:ext cx="6931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Blockers &amp; Decisions Needed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UJCJE2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5943600" cy="0"/>
          </a:xfrm>
          <a:prstGeom prst="line">
            <a:avLst/>
          </a:prstGeom>
          <a:noFill/>
          <a:ln w="38100">
            <a:solidFill>
              <a:srgbClr val="0A6E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8928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needed</a:t>
            </a:r>
            <a:pPr indent="0" marL="0">
              <a:buNone/>
            </a:pPr>
            <a:r>
              <a:rPr lang="en-US" sz="18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371600" y="2560320"/>
            <a:ext cx="5212080" cy="1175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patients turn off SMS reminders and keep email only?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every patient with a phone number receives SMS reminders; some clinics report complaints.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allow opt-out · clinic decides per patient · keep as today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040880" y="1783080"/>
            <a:ext cx="4507992" cy="0"/>
          </a:xfrm>
          <a:prstGeom prst="line">
            <a:avLst/>
          </a:prstGeom>
          <a:noFill/>
          <a:ln w="38100">
            <a:solidFill>
              <a:srgbClr val="B93A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0" y="1892808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Blockers and risks</a:t>
            </a:r>
            <a:pPr indent="0" marL="0">
              <a:buNone/>
            </a:pPr>
            <a:r>
              <a:rPr lang="en-US" sz="18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040880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9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772400" y="2560320"/>
            <a:ext cx="3776472" cy="943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release waiting on one fix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reminders must be prevented before release. Fix is small and already tested.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 · Expected: next week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Task Tracker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Task Track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UJCJE2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3453384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783080"/>
            <a:ext cx="82296" cy="4434840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32688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3268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389888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5856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715768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32688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1E7EB"/>
          </a:solidFill>
          <a:ln/>
        </p:spPr>
      </p:sp>
      <p:sp>
        <p:nvSpPr>
          <p:cNvPr id="20" name="Shape 17"/>
          <p:cNvSpPr/>
          <p:nvPr/>
        </p:nvSpPr>
        <p:spPr>
          <a:xfrm>
            <a:off x="932688" y="3200400"/>
            <a:ext cx="1441094" cy="118872"/>
          </a:xfrm>
          <a:prstGeom prst="roundRect">
            <a:avLst>
              <a:gd name="adj" fmla="val 50000"/>
            </a:avLst>
          </a:prstGeom>
          <a:solidFill>
            <a:srgbClr val="CDE5E8"/>
          </a:solidFill>
          <a:ln/>
        </p:spPr>
      </p:sp>
      <p:sp>
        <p:nvSpPr>
          <p:cNvPr id="21" name="Text 18"/>
          <p:cNvSpPr/>
          <p:nvPr/>
        </p:nvSpPr>
        <p:spPr>
          <a:xfrm>
            <a:off x="3334512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32688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32688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32688" y="42702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25" name="Text 22"/>
          <p:cNvSpPr/>
          <p:nvPr/>
        </p:nvSpPr>
        <p:spPr>
          <a:xfrm>
            <a:off x="1152144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32688" y="47274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27" name="Text 24"/>
          <p:cNvSpPr/>
          <p:nvPr/>
        </p:nvSpPr>
        <p:spPr>
          <a:xfrm>
            <a:off x="1152144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32688" y="5184648"/>
            <a:ext cx="118872" cy="118872"/>
          </a:xfrm>
          <a:prstGeom prst="ellipse">
            <a:avLst/>
          </a:prstGeom>
          <a:solidFill>
            <a:srgbClr val="CDE5E8"/>
          </a:solidFill>
          <a:ln/>
        </p:spPr>
      </p:sp>
      <p:sp>
        <p:nvSpPr>
          <p:cNvPr id="29" name="Text 26"/>
          <p:cNvSpPr/>
          <p:nvPr/>
        </p:nvSpPr>
        <p:spPr>
          <a:xfrm>
            <a:off x="1152144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32688" y="5641848"/>
            <a:ext cx="118872" cy="118872"/>
          </a:xfrm>
          <a:prstGeom prst="ellipse">
            <a:avLst/>
          </a:prstGeom>
          <a:solidFill>
            <a:srgbClr val="E1E7EB"/>
          </a:solidFill>
          <a:ln/>
        </p:spPr>
      </p:sp>
      <p:sp>
        <p:nvSpPr>
          <p:cNvPr id="31" name="Text 28"/>
          <p:cNvSpPr/>
          <p:nvPr/>
        </p:nvSpPr>
        <p:spPr>
          <a:xfrm>
            <a:off x="1152144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367784" y="1783080"/>
            <a:ext cx="3453384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67784" y="1783080"/>
            <a:ext cx="82296" cy="4434840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34" name="Text 31"/>
          <p:cNvSpPr/>
          <p:nvPr/>
        </p:nvSpPr>
        <p:spPr>
          <a:xfrm>
            <a:off x="4660392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4660392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66039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5117592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98627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6443472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660392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1E7EB"/>
          </a:solidFill>
          <a:ln/>
        </p:spPr>
      </p:sp>
      <p:sp>
        <p:nvSpPr>
          <p:cNvPr id="41" name="Shape 38"/>
          <p:cNvSpPr/>
          <p:nvPr/>
        </p:nvSpPr>
        <p:spPr>
          <a:xfrm>
            <a:off x="4660392" y="3200400"/>
            <a:ext cx="1681277" cy="118872"/>
          </a:xfrm>
          <a:prstGeom prst="roundRect">
            <a:avLst>
              <a:gd name="adj" fmla="val 50000"/>
            </a:avLst>
          </a:prstGeom>
          <a:solidFill>
            <a:srgbClr val="CDE5E8"/>
          </a:solidFill>
          <a:ln/>
        </p:spPr>
      </p:sp>
      <p:sp>
        <p:nvSpPr>
          <p:cNvPr id="42" name="Text 39"/>
          <p:cNvSpPr/>
          <p:nvPr/>
        </p:nvSpPr>
        <p:spPr>
          <a:xfrm>
            <a:off x="7062216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660392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660392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660392" y="42702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46" name="Text 43"/>
          <p:cNvSpPr/>
          <p:nvPr/>
        </p:nvSpPr>
        <p:spPr>
          <a:xfrm>
            <a:off x="4879848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660392" y="47274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48" name="Text 45"/>
          <p:cNvSpPr/>
          <p:nvPr/>
        </p:nvSpPr>
        <p:spPr>
          <a:xfrm>
            <a:off x="4879848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660392" y="5184648"/>
            <a:ext cx="118872" cy="118872"/>
          </a:xfrm>
          <a:prstGeom prst="ellipse">
            <a:avLst/>
          </a:prstGeom>
          <a:solidFill>
            <a:srgbClr val="CDE5E8"/>
          </a:solidFill>
          <a:ln/>
        </p:spPr>
      </p:sp>
      <p:sp>
        <p:nvSpPr>
          <p:cNvPr id="50" name="Text 47"/>
          <p:cNvSpPr/>
          <p:nvPr/>
        </p:nvSpPr>
        <p:spPr>
          <a:xfrm>
            <a:off x="4879848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660392" y="5641848"/>
            <a:ext cx="118872" cy="118872"/>
          </a:xfrm>
          <a:prstGeom prst="ellipse">
            <a:avLst/>
          </a:prstGeom>
          <a:solidFill>
            <a:srgbClr val="E1E7EB"/>
          </a:solidFill>
          <a:ln/>
        </p:spPr>
      </p:sp>
      <p:sp>
        <p:nvSpPr>
          <p:cNvPr id="52" name="Text 49"/>
          <p:cNvSpPr/>
          <p:nvPr/>
        </p:nvSpPr>
        <p:spPr>
          <a:xfrm>
            <a:off x="4879848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8095488" y="1783080"/>
            <a:ext cx="3453384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095488" y="1783080"/>
            <a:ext cx="82296" cy="4434840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55" name="Text 52"/>
          <p:cNvSpPr/>
          <p:nvPr/>
        </p:nvSpPr>
        <p:spPr>
          <a:xfrm>
            <a:off x="8388096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8388096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838809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58" name="Text 55"/>
          <p:cNvSpPr/>
          <p:nvPr/>
        </p:nvSpPr>
        <p:spPr>
          <a:xfrm>
            <a:off x="8845296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971397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0" name="Text 57"/>
          <p:cNvSpPr/>
          <p:nvPr/>
        </p:nvSpPr>
        <p:spPr>
          <a:xfrm>
            <a:off x="10171176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8388096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1E7EB"/>
          </a:solidFill>
          <a:ln/>
        </p:spPr>
      </p:sp>
      <p:sp>
        <p:nvSpPr>
          <p:cNvPr id="62" name="Shape 59"/>
          <p:cNvSpPr/>
          <p:nvPr/>
        </p:nvSpPr>
        <p:spPr>
          <a:xfrm>
            <a:off x="8388096" y="3200400"/>
            <a:ext cx="1801368" cy="118872"/>
          </a:xfrm>
          <a:prstGeom prst="roundRect">
            <a:avLst>
              <a:gd name="adj" fmla="val 50000"/>
            </a:avLst>
          </a:prstGeom>
          <a:solidFill>
            <a:srgbClr val="CDE5E8"/>
          </a:solidFill>
          <a:ln/>
        </p:spPr>
      </p:sp>
      <p:sp>
        <p:nvSpPr>
          <p:cNvPr id="63" name="Text 60"/>
          <p:cNvSpPr/>
          <p:nvPr/>
        </p:nvSpPr>
        <p:spPr>
          <a:xfrm>
            <a:off x="10789920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8388096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8388096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388096" y="42702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67" name="Text 64"/>
          <p:cNvSpPr/>
          <p:nvPr/>
        </p:nvSpPr>
        <p:spPr>
          <a:xfrm>
            <a:off x="8607552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8388096" y="47274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69" name="Text 66"/>
          <p:cNvSpPr/>
          <p:nvPr/>
        </p:nvSpPr>
        <p:spPr>
          <a:xfrm>
            <a:off x="8607552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8388096" y="5184648"/>
            <a:ext cx="118872" cy="118872"/>
          </a:xfrm>
          <a:prstGeom prst="ellipse">
            <a:avLst/>
          </a:prstGeom>
          <a:solidFill>
            <a:srgbClr val="CDE5E8"/>
          </a:solidFill>
          <a:ln/>
        </p:spPr>
      </p:sp>
      <p:sp>
        <p:nvSpPr>
          <p:cNvPr id="71" name="Text 68"/>
          <p:cNvSpPr/>
          <p:nvPr/>
        </p:nvSpPr>
        <p:spPr>
          <a:xfrm>
            <a:off x="8607552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8388096" y="56418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73" name="Text 70"/>
          <p:cNvSpPr/>
          <p:nvPr/>
        </p:nvSpPr>
        <p:spPr>
          <a:xfrm>
            <a:off x="8607552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640080" y="623620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Activity · 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Delivery Activity This Week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UJCJE2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76809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777240" y="1965960"/>
          <a:ext cx="7406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914400" y="5760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 activity this week.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641080" y="1783080"/>
            <a:ext cx="2907792" cy="1356360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15" name="Text 11"/>
          <p:cNvSpPr/>
          <p:nvPr/>
        </p:nvSpPr>
        <p:spPr>
          <a:xfrm>
            <a:off x="8869680" y="1892808"/>
            <a:ext cx="2450592" cy="745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8F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8869680" y="259689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641080" y="3322320"/>
            <a:ext cx="2907792" cy="135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869680" y="3432048"/>
            <a:ext cx="2450592" cy="745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8869680" y="413613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641080" y="4861560"/>
            <a:ext cx="2907792" cy="135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869680" y="4971288"/>
            <a:ext cx="2450592" cy="745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22" name="Text 18"/>
          <p:cNvSpPr/>
          <p:nvPr/>
        </p:nvSpPr>
        <p:spPr>
          <a:xfrm>
            <a:off x="8869680" y="567537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 completed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Week's Plan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UJCJE2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or track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178308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focus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720072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108960"/>
            <a:ext cx="10908792" cy="0"/>
          </a:xfrm>
          <a:prstGeom prst="line">
            <a:avLst/>
          </a:prstGeom>
          <a:noFill/>
          <a:ln w="9525">
            <a:solidFill>
              <a:srgbClr val="CFD7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 · Patient App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474720" y="22402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303520" y="224028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booking calendar, then start payments and receipts.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720072" y="2610612"/>
            <a:ext cx="128016" cy="128016"/>
          </a:xfrm>
          <a:prstGeom prst="rect">
            <a:avLst/>
          </a:prstGeom>
          <a:ln w="19050">
            <a:solidFill>
              <a:srgbClr val="3F6A8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939528" y="2542032"/>
            <a:ext cx="1517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40%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3977640"/>
            <a:ext cx="10908792" cy="0"/>
          </a:xfrm>
          <a:prstGeom prst="line">
            <a:avLst/>
          </a:prstGeom>
          <a:noFill/>
          <a:ln w="9525">
            <a:solidFill>
              <a:srgbClr val="CFD7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 · Clinic Dashboard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474720" y="3108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03520" y="310896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duplicate-reminder fix and release reminders; start reports and exports.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720072" y="3479292"/>
            <a:ext cx="128016" cy="128016"/>
          </a:xfrm>
          <a:prstGeom prst="rect">
            <a:avLst/>
          </a:prstGeom>
          <a:ln w="19050">
            <a:solidFill>
              <a:srgbClr val="3F6A8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39528" y="3410712"/>
            <a:ext cx="1517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80%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" y="4846320"/>
            <a:ext cx="10908792" cy="0"/>
          </a:xfrm>
          <a:prstGeom prst="line">
            <a:avLst/>
          </a:prstGeom>
          <a:noFill/>
          <a:ln w="9525">
            <a:solidFill>
              <a:srgbClr val="CFD7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" y="3977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PulseBoard · Usage Tracking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474720" y="3977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03520" y="397764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adding usage tracking to the web app, then open the first dashboard to managers.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720072" y="4347972"/>
            <a:ext cx="128016" cy="128016"/>
          </a:xfrm>
          <a:prstGeom prst="rect">
            <a:avLst/>
          </a:prstGeom>
          <a:ln w="19050">
            <a:solidFill>
              <a:srgbClr val="3F6A8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939528" y="4279392"/>
            <a:ext cx="1517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0080" y="5715000"/>
            <a:ext cx="10908792" cy="0"/>
          </a:xfrm>
          <a:prstGeom prst="line">
            <a:avLst/>
          </a:prstGeom>
          <a:noFill/>
          <a:ln w="9525">
            <a:solidFill>
              <a:srgbClr val="CFD7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960" y="4846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 Release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3474720" y="48463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303520" y="484632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the first 20 clinic staff to TestFlight.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720072" y="5216652"/>
            <a:ext cx="128016" cy="128016"/>
          </a:xfrm>
          <a:prstGeom prst="rect">
            <a:avLst/>
          </a:prstGeom>
          <a:ln w="19050">
            <a:solidFill>
              <a:srgbClr val="5B677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939528" y="5148072"/>
            <a:ext cx="1517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8063" y="5394960"/>
            <a:ext cx="566928" cy="1463040"/>
          </a:xfrm>
          <a:prstGeom prst="rect">
            <a:avLst/>
          </a:prstGeom>
          <a:solidFill>
            <a:srgbClr val="233240"/>
          </a:solidFill>
          <a:ln/>
        </p:spPr>
      </p:sp>
      <p:sp>
        <p:nvSpPr>
          <p:cNvPr id="3" name="Shape 1"/>
          <p:cNvSpPr/>
          <p:nvPr/>
        </p:nvSpPr>
        <p:spPr>
          <a:xfrm>
            <a:off x="8954719" y="4572000"/>
            <a:ext cx="566928" cy="2286000"/>
          </a:xfrm>
          <a:prstGeom prst="rect">
            <a:avLst/>
          </a:prstGeom>
          <a:solidFill>
            <a:srgbClr val="2F3D4A"/>
          </a:solidFill>
          <a:ln/>
        </p:spPr>
      </p:sp>
      <p:sp>
        <p:nvSpPr>
          <p:cNvPr id="4" name="Shape 2"/>
          <p:cNvSpPr/>
          <p:nvPr/>
        </p:nvSpPr>
        <p:spPr>
          <a:xfrm>
            <a:off x="9631375" y="3749040"/>
            <a:ext cx="566928" cy="3108960"/>
          </a:xfrm>
          <a:prstGeom prst="rect">
            <a:avLst/>
          </a:prstGeom>
          <a:solidFill>
            <a:srgbClr val="3B4854"/>
          </a:solidFill>
          <a:ln/>
        </p:spPr>
      </p:sp>
      <p:sp>
        <p:nvSpPr>
          <p:cNvPr id="5" name="Shape 3"/>
          <p:cNvSpPr/>
          <p:nvPr/>
        </p:nvSpPr>
        <p:spPr>
          <a:xfrm>
            <a:off x="10308031" y="2926080"/>
            <a:ext cx="566928" cy="3931920"/>
          </a:xfrm>
          <a:prstGeom prst="rect">
            <a:avLst/>
          </a:prstGeom>
          <a:solidFill>
            <a:srgbClr val="47535F"/>
          </a:solidFill>
          <a:ln/>
        </p:spPr>
      </p:sp>
      <p:sp>
        <p:nvSpPr>
          <p:cNvPr id="6" name="Shape 4"/>
          <p:cNvSpPr/>
          <p:nvPr/>
        </p:nvSpPr>
        <p:spPr>
          <a:xfrm>
            <a:off x="10984687" y="2103120"/>
            <a:ext cx="566928" cy="4754880"/>
          </a:xfrm>
          <a:prstGeom prst="rect">
            <a:avLst/>
          </a:prstGeom>
          <a:solidFill>
            <a:srgbClr val="0A6E78"/>
          </a:solidFill>
          <a:ln/>
        </p:spPr>
      </p:sp>
      <p:pic>
        <p:nvPicPr>
          <p:cNvPr id="7" name="Image 0" descr="/var/folders/lw/rmylcyvd5rjfxk9g1z9rrm8w0000gq/T/showship-deck-UJCJE2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89642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03120"/>
            <a:ext cx="1005840" cy="6400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2860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640080" y="34290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F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40080" y="5440680"/>
            <a:ext cx="7132320" cy="0"/>
          </a:xfrm>
          <a:prstGeom prst="line">
            <a:avLst/>
          </a:prstGeom>
          <a:noFill/>
          <a:ln w="12700">
            <a:solidFill>
              <a:srgbClr val="4C586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577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833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Maya Lin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297680" y="5577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97680" y="5833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9,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2026-10-15T14:34:26Z</dcterms:created>
  <dcterms:modified xsi:type="dcterms:W3CDTF">2026-10-15T14:34:26Z</dcterms:modified>
</cp:coreProperties>
</file>