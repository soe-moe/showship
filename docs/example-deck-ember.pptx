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F2B1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4F0E8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B9BF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4F0E8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5CC8D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4F0E8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6B74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4F0E8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50" u="none">
                  <a:solidFill>
                    <a:srgbClr val="F4F0E8"/>
                  </a:solidFill>
                  <a:latin typeface="Georg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4F0E8"/>
                </a:solidFill>
                <a:latin typeface="Georgi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F4F0E8"/>
              </a:solidFill>
              <a:latin typeface="Georgia"/>
              <a:cs typeface="Georgi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1097280"/>
            <a:ext cx="3685032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Shape 2"/>
          <p:cNvSpPr/>
          <p:nvPr/>
        </p:nvSpPr>
        <p:spPr>
          <a:xfrm>
            <a:off x="7863840" y="1810512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5" name="Shape 3"/>
          <p:cNvSpPr/>
          <p:nvPr/>
        </p:nvSpPr>
        <p:spPr>
          <a:xfrm>
            <a:off x="7863840" y="1810512"/>
            <a:ext cx="3021726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0" y="2523744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0" y="2523744"/>
            <a:ext cx="2432121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8" name="Shape 6"/>
          <p:cNvSpPr/>
          <p:nvPr/>
        </p:nvSpPr>
        <p:spPr>
          <a:xfrm>
            <a:off x="7863840" y="3236976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9" name="Shape 7"/>
          <p:cNvSpPr/>
          <p:nvPr/>
        </p:nvSpPr>
        <p:spPr>
          <a:xfrm>
            <a:off x="7863840" y="3236976"/>
            <a:ext cx="1916217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0" y="3950208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1" name="Shape 9"/>
          <p:cNvSpPr/>
          <p:nvPr/>
        </p:nvSpPr>
        <p:spPr>
          <a:xfrm>
            <a:off x="7863840" y="3950208"/>
            <a:ext cx="1400312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12" name="Shape 10"/>
          <p:cNvSpPr/>
          <p:nvPr/>
        </p:nvSpPr>
        <p:spPr>
          <a:xfrm>
            <a:off x="7863840" y="4663440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0" y="4663440"/>
            <a:ext cx="884408" cy="274320"/>
          </a:xfrm>
          <a:prstGeom prst="rect">
            <a:avLst/>
          </a:prstGeom>
          <a:solidFill>
            <a:srgbClr val="B9BFC9"/>
          </a:solidFill>
          <a:ln/>
        </p:spPr>
      </p:sp>
      <p:pic>
        <p:nvPicPr>
          <p:cNvPr id="14" name="Image 0" descr="/var/folders/lw/rmylcyvd5rjfxk9g1z9rrm8w0000gq/T/showship-deck-oVNQqv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489642" cy="56692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371600" y="56692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240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" y="265176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Weekly Development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Progress Report</a:t>
            </a:r>
            <a:endParaRPr lang="en-US" sz="4400" dirty="0"/>
          </a:p>
        </p:txBody>
      </p:sp>
      <p:sp>
        <p:nvSpPr>
          <p:cNvPr id="18" name="Shape 15"/>
          <p:cNvSpPr/>
          <p:nvPr/>
        </p:nvSpPr>
        <p:spPr>
          <a:xfrm>
            <a:off x="640080" y="5440680"/>
            <a:ext cx="6035040" cy="0"/>
          </a:xfrm>
          <a:prstGeom prst="line">
            <a:avLst/>
          </a:prstGeom>
          <a:noFill/>
          <a:ln w="12700">
            <a:solidFill>
              <a:srgbClr val="46494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38404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8404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October 9, 2026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 at a Glance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oVNQqv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4754880" cy="352044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2011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Release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14400" y="2331720"/>
            <a:ext cx="4206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7200" dirty="0"/>
          </a:p>
        </p:txBody>
      </p:sp>
      <p:sp>
        <p:nvSpPr>
          <p:cNvPr id="13" name="Text 10"/>
          <p:cNvSpPr/>
          <p:nvPr/>
        </p:nvSpPr>
        <p:spPr>
          <a:xfrm>
            <a:off x="914400" y="35204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Account Verified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914400" y="4069080"/>
            <a:ext cx="998525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4069080"/>
            <a:ext cx="9985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14400" y="44348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0" y="1783080"/>
            <a:ext cx="5879592" cy="166878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8" name="Text 15"/>
          <p:cNvSpPr/>
          <p:nvPr/>
        </p:nvSpPr>
        <p:spPr>
          <a:xfrm>
            <a:off x="5897880" y="187452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3400" dirty="0"/>
          </a:p>
        </p:txBody>
      </p:sp>
      <p:sp>
        <p:nvSpPr>
          <p:cNvPr id="19" name="Shape 16"/>
          <p:cNvSpPr/>
          <p:nvPr/>
        </p:nvSpPr>
        <p:spPr>
          <a:xfrm>
            <a:off x="5897880" y="3086100"/>
            <a:ext cx="918058" cy="274320"/>
          </a:xfrm>
          <a:prstGeom prst="rect">
            <a:avLst/>
          </a:prstGeom>
          <a:ln w="12700">
            <a:solidFill>
              <a:srgbClr val="5CC8D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97880" y="3086100"/>
            <a:ext cx="91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498080" y="1856232"/>
            <a:ext cx="3867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98080" y="2093976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of 8 Phases Complete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498080" y="2386584"/>
            <a:ext cx="3867912" cy="1010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0" y="3634740"/>
            <a:ext cx="5879592" cy="166878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25" name="Text 22"/>
          <p:cNvSpPr/>
          <p:nvPr/>
        </p:nvSpPr>
        <p:spPr>
          <a:xfrm>
            <a:off x="5897880" y="372618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9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2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5897880" y="4937760"/>
            <a:ext cx="918058" cy="274320"/>
          </a:xfrm>
          <a:prstGeom prst="rect">
            <a:avLst/>
          </a:prstGeom>
          <a:ln w="12700">
            <a:solidFill>
              <a:srgbClr val="A99B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897880" y="4937760"/>
            <a:ext cx="91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498080" y="3707892"/>
            <a:ext cx="3867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498080" y="3945636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Workstreams Complete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7498080" y="4238244"/>
            <a:ext cx="3867912" cy="1010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the new system finished; usage tracking is being rolled out.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640080" y="5532120"/>
            <a:ext cx="1737360" cy="7315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32" name="Text 29"/>
          <p:cNvSpPr/>
          <p:nvPr/>
        </p:nvSpPr>
        <p:spPr>
          <a:xfrm>
            <a:off x="640080" y="55321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update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2377440" y="5532120"/>
            <a:ext cx="9171432" cy="73152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4" name="Text 31"/>
          <p:cNvSpPr/>
          <p:nvPr/>
        </p:nvSpPr>
        <p:spPr>
          <a:xfrm>
            <a:off x="2606040" y="5532120"/>
            <a:ext cx="8732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 is needed this week: can patients turn off SMS reminders and keep email only? (see Decisions Needed)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· App Store Release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Store: Developer Account Verified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oVNQqv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987077" y="1783080"/>
            <a:ext cx="1561795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11" name="Text 8"/>
          <p:cNvSpPr/>
          <p:nvPr/>
        </p:nvSpPr>
        <p:spPr>
          <a:xfrm>
            <a:off x="9987077" y="1783080"/>
            <a:ext cx="15617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 resolved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17830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app is published under the company's own verified account, ready for beta testers.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914400" y="4343400"/>
            <a:ext cx="10360152" cy="0"/>
          </a:xfrm>
          <a:prstGeom prst="line">
            <a:avLst/>
          </a:prstGeom>
          <a:noFill/>
          <a:ln w="31750">
            <a:solidFill>
              <a:srgbClr val="46494E"/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>
            <a:off x="914400" y="4343400"/>
            <a:ext cx="10360152" cy="0"/>
          </a:xfrm>
          <a:prstGeom prst="line">
            <a:avLst/>
          </a:prstGeom>
          <a:noFill/>
          <a:ln w="38100">
            <a:solidFill>
              <a:srgbClr val="F2B13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" y="2743200"/>
            <a:ext cx="0" cy="1463040"/>
          </a:xfrm>
          <a:prstGeom prst="line">
            <a:avLst/>
          </a:prstGeom>
          <a:noFill/>
          <a:ln w="12700">
            <a:solidFill>
              <a:srgbClr val="46494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4206240"/>
            <a:ext cx="274320" cy="27432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17" name="Text 14"/>
          <p:cNvSpPr/>
          <p:nvPr/>
        </p:nvSpPr>
        <p:spPr>
          <a:xfrm>
            <a:off x="1042416" y="27432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42416" y="299923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Blocked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42416" y="35204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367784" y="4480560"/>
            <a:ext cx="0" cy="1463040"/>
          </a:xfrm>
          <a:prstGeom prst="line">
            <a:avLst/>
          </a:prstGeom>
          <a:noFill/>
          <a:ln w="12700">
            <a:solidFill>
              <a:srgbClr val="46494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30624" y="4206240"/>
            <a:ext cx="274320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22" name="Text 19"/>
          <p:cNvSpPr/>
          <p:nvPr/>
        </p:nvSpPr>
        <p:spPr>
          <a:xfrm>
            <a:off x="4495800" y="46177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495800" y="48737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 Received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495800" y="53949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821168" y="2743200"/>
            <a:ext cx="0" cy="1463040"/>
          </a:xfrm>
          <a:prstGeom prst="line">
            <a:avLst/>
          </a:prstGeom>
          <a:noFill/>
          <a:ln w="12700">
            <a:solidFill>
              <a:srgbClr val="46494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684008" y="4206240"/>
            <a:ext cx="274320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27" name="Text 24"/>
          <p:cNvSpPr/>
          <p:nvPr/>
        </p:nvSpPr>
        <p:spPr>
          <a:xfrm>
            <a:off x="7949184" y="27432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949184" y="299923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 Verified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7949184" y="35204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1274552" y="4480560"/>
            <a:ext cx="0" cy="1463040"/>
          </a:xfrm>
          <a:prstGeom prst="line">
            <a:avLst/>
          </a:prstGeom>
          <a:noFill/>
          <a:ln w="12700">
            <a:solidFill>
              <a:srgbClr val="46494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1137392" y="4206240"/>
            <a:ext cx="274320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32" name="Text 29"/>
          <p:cNvSpPr/>
          <p:nvPr/>
        </p:nvSpPr>
        <p:spPr>
          <a:xfrm>
            <a:off x="8037576" y="46177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037576" y="48737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TestFlight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8037576" y="53949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Progress Overview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Patient App &amp; Clinic Dashboard Progress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oVNQqv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6217920" cy="411480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965960"/>
            <a:ext cx="188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127760" y="2651760"/>
            <a:ext cx="1097280" cy="182880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3" name="Shape 10"/>
          <p:cNvSpPr/>
          <p:nvPr/>
        </p:nvSpPr>
        <p:spPr>
          <a:xfrm>
            <a:off x="1127760" y="3291840"/>
            <a:ext cx="1097280" cy="11887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" y="4572000"/>
            <a:ext cx="188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Combined Progress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5056632"/>
            <a:ext cx="188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+ Clinic dashboard · 8 phases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804160" y="1965960"/>
            <a:ext cx="188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3400" dirty="0"/>
          </a:p>
        </p:txBody>
      </p:sp>
      <p:sp>
        <p:nvSpPr>
          <p:cNvPr id="17" name="Shape 14"/>
          <p:cNvSpPr/>
          <p:nvPr/>
        </p:nvSpPr>
        <p:spPr>
          <a:xfrm>
            <a:off x="3200400" y="2651760"/>
            <a:ext cx="1097280" cy="182880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8" name="Shape 15"/>
          <p:cNvSpPr/>
          <p:nvPr/>
        </p:nvSpPr>
        <p:spPr>
          <a:xfrm>
            <a:off x="3200400" y="3383280"/>
            <a:ext cx="1097280" cy="109728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19" name="Text 16"/>
          <p:cNvSpPr/>
          <p:nvPr/>
        </p:nvSpPr>
        <p:spPr>
          <a:xfrm>
            <a:off x="2804160" y="4572000"/>
            <a:ext cx="188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 App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2804160" y="5056632"/>
            <a:ext cx="188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876800" y="1965960"/>
            <a:ext cx="188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3400" dirty="0"/>
          </a:p>
        </p:txBody>
      </p:sp>
      <p:sp>
        <p:nvSpPr>
          <p:cNvPr id="22" name="Shape 19"/>
          <p:cNvSpPr/>
          <p:nvPr/>
        </p:nvSpPr>
        <p:spPr>
          <a:xfrm>
            <a:off x="5273040" y="2651760"/>
            <a:ext cx="1097280" cy="182880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23" name="Shape 20"/>
          <p:cNvSpPr/>
          <p:nvPr/>
        </p:nvSpPr>
        <p:spPr>
          <a:xfrm>
            <a:off x="5273040" y="3200400"/>
            <a:ext cx="1097280" cy="128016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24" name="Text 21"/>
          <p:cNvSpPr/>
          <p:nvPr/>
        </p:nvSpPr>
        <p:spPr>
          <a:xfrm>
            <a:off x="4876800" y="4572000"/>
            <a:ext cx="188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 Dashboard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876800" y="5056632"/>
            <a:ext cx="188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223760" y="2212848"/>
            <a:ext cx="146304" cy="146304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27" name="Text 24"/>
          <p:cNvSpPr/>
          <p:nvPr/>
        </p:nvSpPr>
        <p:spPr>
          <a:xfrm>
            <a:off x="7589520" y="178308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28" name="Text 25"/>
          <p:cNvSpPr/>
          <p:nvPr/>
        </p:nvSpPr>
        <p:spPr>
          <a:xfrm>
            <a:off x="9052560" y="1783080"/>
            <a:ext cx="2496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Completed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7223760" y="2788920"/>
            <a:ext cx="4325112" cy="0"/>
          </a:xfrm>
          <a:prstGeom prst="line">
            <a:avLst/>
          </a:prstGeom>
          <a:noFill/>
          <a:ln w="9525">
            <a:solidFill>
              <a:srgbClr val="46494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223760" y="3218688"/>
            <a:ext cx="146304" cy="146304"/>
          </a:xfrm>
          <a:prstGeom prst="rect">
            <a:avLst/>
          </a:prstGeom>
          <a:ln w="19050">
            <a:solidFill>
              <a:srgbClr val="F2B134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589520" y="278892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32" name="Text 29"/>
          <p:cNvSpPr/>
          <p:nvPr/>
        </p:nvSpPr>
        <p:spPr>
          <a:xfrm>
            <a:off x="9052560" y="2788920"/>
            <a:ext cx="2496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In Progress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7223760" y="3794760"/>
            <a:ext cx="4325112" cy="0"/>
          </a:xfrm>
          <a:prstGeom prst="line">
            <a:avLst/>
          </a:prstGeom>
          <a:noFill/>
          <a:ln w="9525">
            <a:solidFill>
              <a:srgbClr val="46494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223760" y="4224528"/>
            <a:ext cx="146304" cy="146304"/>
          </a:xfrm>
          <a:prstGeom prst="rect">
            <a:avLst/>
          </a:prstGeom>
          <a:ln w="19050">
            <a:solidFill>
              <a:srgbClr val="929AA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89520" y="37947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36" name="Text 33"/>
          <p:cNvSpPr/>
          <p:nvPr/>
        </p:nvSpPr>
        <p:spPr>
          <a:xfrm>
            <a:off x="9052560" y="3794760"/>
            <a:ext cx="2496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Not Started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= average completion of each track's four phases.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Phase Breakdown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Status of Each Phase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oVNQqv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37360"/>
            <a:ext cx="10908792" cy="224028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182880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 App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914400" y="217627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863840" y="1810512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pPr algn="r"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of the track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914400" y="246888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5" name="Shape 12"/>
          <p:cNvSpPr/>
          <p:nvPr/>
        </p:nvSpPr>
        <p:spPr>
          <a:xfrm>
            <a:off x="914400" y="2468880"/>
            <a:ext cx="2521458" cy="365760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286207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14400" y="310896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527298" y="246888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9" name="Shape 16"/>
          <p:cNvSpPr/>
          <p:nvPr/>
        </p:nvSpPr>
        <p:spPr>
          <a:xfrm>
            <a:off x="3527298" y="2468880"/>
            <a:ext cx="2521458" cy="365760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20" name="Text 17"/>
          <p:cNvSpPr/>
          <p:nvPr/>
        </p:nvSpPr>
        <p:spPr>
          <a:xfrm>
            <a:off x="3527298" y="286207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27298" y="310896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140196" y="246888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23" name="Shape 20"/>
          <p:cNvSpPr/>
          <p:nvPr/>
        </p:nvSpPr>
        <p:spPr>
          <a:xfrm>
            <a:off x="6140196" y="2468880"/>
            <a:ext cx="1008583" cy="365760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24" name="Text 21"/>
          <p:cNvSpPr/>
          <p:nvPr/>
        </p:nvSpPr>
        <p:spPr>
          <a:xfrm>
            <a:off x="6140196" y="286207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140196" y="310896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753094" y="246888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27" name="Text 24"/>
          <p:cNvSpPr/>
          <p:nvPr/>
        </p:nvSpPr>
        <p:spPr>
          <a:xfrm>
            <a:off x="8753094" y="286207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753094" y="310896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14400" y="3703320"/>
            <a:ext cx="10360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calendar underway; payments are next.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40080" y="4114800"/>
            <a:ext cx="10908792" cy="224028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1" name="Text 28"/>
          <p:cNvSpPr/>
          <p:nvPr/>
        </p:nvSpPr>
        <p:spPr>
          <a:xfrm>
            <a:off x="914400" y="420624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 Dashboard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914400" y="455371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7863840" y="4187952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95DB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pPr algn="r"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of the track</a:t>
            </a:r>
            <a:endParaRPr lang="en-US" sz="3000" dirty="0"/>
          </a:p>
        </p:txBody>
      </p:sp>
      <p:sp>
        <p:nvSpPr>
          <p:cNvPr id="34" name="Shape 31"/>
          <p:cNvSpPr/>
          <p:nvPr/>
        </p:nvSpPr>
        <p:spPr>
          <a:xfrm>
            <a:off x="914400" y="484632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35" name="Shape 32"/>
          <p:cNvSpPr/>
          <p:nvPr/>
        </p:nvSpPr>
        <p:spPr>
          <a:xfrm>
            <a:off x="914400" y="4846320"/>
            <a:ext cx="2521458" cy="365760"/>
          </a:xfrm>
          <a:prstGeom prst="rect">
            <a:avLst/>
          </a:prstGeom>
          <a:solidFill>
            <a:srgbClr val="95DBE5"/>
          </a:solidFill>
          <a:ln/>
        </p:spPr>
      </p:sp>
      <p:sp>
        <p:nvSpPr>
          <p:cNvPr id="36" name="Text 33"/>
          <p:cNvSpPr/>
          <p:nvPr/>
        </p:nvSpPr>
        <p:spPr>
          <a:xfrm>
            <a:off x="914400" y="523951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DB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914400" y="548640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3527298" y="484632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39" name="Shape 36"/>
          <p:cNvSpPr/>
          <p:nvPr/>
        </p:nvSpPr>
        <p:spPr>
          <a:xfrm>
            <a:off x="3527298" y="4846320"/>
            <a:ext cx="2521458" cy="365760"/>
          </a:xfrm>
          <a:prstGeom prst="rect">
            <a:avLst/>
          </a:prstGeom>
          <a:solidFill>
            <a:srgbClr val="95DBE5"/>
          </a:solidFill>
          <a:ln/>
        </p:spPr>
      </p:sp>
      <p:sp>
        <p:nvSpPr>
          <p:cNvPr id="40" name="Text 37"/>
          <p:cNvSpPr/>
          <p:nvPr/>
        </p:nvSpPr>
        <p:spPr>
          <a:xfrm>
            <a:off x="3527298" y="523951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DB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3527298" y="548640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6140196" y="484632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43" name="Text 40"/>
          <p:cNvSpPr/>
          <p:nvPr/>
        </p:nvSpPr>
        <p:spPr>
          <a:xfrm>
            <a:off x="6140196" y="523951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6140196" y="548640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8753094" y="484632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46" name="Shape 43"/>
          <p:cNvSpPr/>
          <p:nvPr/>
        </p:nvSpPr>
        <p:spPr>
          <a:xfrm>
            <a:off x="8753094" y="4846320"/>
            <a:ext cx="2017166" cy="365760"/>
          </a:xfrm>
          <a:prstGeom prst="rect">
            <a:avLst/>
          </a:prstGeom>
          <a:solidFill>
            <a:srgbClr val="95DBE5"/>
          </a:solidFill>
          <a:ln/>
        </p:spPr>
      </p:sp>
      <p:sp>
        <p:nvSpPr>
          <p:cNvPr id="47" name="Text 44"/>
          <p:cNvSpPr/>
          <p:nvPr/>
        </p:nvSpPr>
        <p:spPr>
          <a:xfrm>
            <a:off x="8753094" y="523951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DB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80%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8753094" y="548640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 &amp; Notifications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14400" y="6080760"/>
            <a:ext cx="10360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are in final review; 4 of 5 parts verified.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· Code Review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Check: Issues Caught Before Release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oVNQqv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2926080" cy="12039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Text 8"/>
          <p:cNvSpPr/>
          <p:nvPr/>
        </p:nvSpPr>
        <p:spPr>
          <a:xfrm>
            <a:off x="868680" y="1837944"/>
            <a:ext cx="2468880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868680" y="2445258"/>
            <a:ext cx="2468880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reviewed this week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169920"/>
            <a:ext cx="2926080" cy="12039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3224784"/>
            <a:ext cx="2468880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868680" y="3832098"/>
            <a:ext cx="2468880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for release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4556760"/>
            <a:ext cx="2926080" cy="12039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" y="4611624"/>
            <a:ext cx="2468880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212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868680" y="5218938"/>
            <a:ext cx="2468880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 passing (100%)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840480" y="1783080"/>
            <a:ext cx="7708392" cy="123444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20" name="Text 17"/>
          <p:cNvSpPr/>
          <p:nvPr/>
        </p:nvSpPr>
        <p:spPr>
          <a:xfrm>
            <a:off x="4069080" y="189280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Appointment Reminders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069080" y="2194560"/>
            <a:ext cx="7251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10402214" y="1892808"/>
            <a:ext cx="918058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23" name="Text 20"/>
          <p:cNvSpPr/>
          <p:nvPr/>
        </p:nvSpPr>
        <p:spPr>
          <a:xfrm>
            <a:off x="10402214" y="1892808"/>
            <a:ext cx="91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840480" y="3154680"/>
            <a:ext cx="7708392" cy="123444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25" name="Text 22"/>
          <p:cNvSpPr/>
          <p:nvPr/>
        </p:nvSpPr>
        <p:spPr>
          <a:xfrm>
            <a:off x="4069080" y="326440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Reliability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4069080" y="3566160"/>
            <a:ext cx="7251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9597542" y="3264408"/>
            <a:ext cx="1722730" cy="274320"/>
          </a:xfrm>
          <a:prstGeom prst="rect">
            <a:avLst/>
          </a:prstGeom>
          <a:ln w="12700">
            <a:solidFill>
              <a:srgbClr val="F2B13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597542" y="3264408"/>
            <a:ext cx="1722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840480" y="4526280"/>
            <a:ext cx="7708392" cy="123444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0" name="Text 27"/>
          <p:cNvSpPr/>
          <p:nvPr/>
        </p:nvSpPr>
        <p:spPr>
          <a:xfrm>
            <a:off x="4069080" y="463600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4069080" y="4937760"/>
            <a:ext cx="7251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10402214" y="4636008"/>
            <a:ext cx="918058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33" name="Text 30"/>
          <p:cNvSpPr/>
          <p:nvPr/>
        </p:nvSpPr>
        <p:spPr>
          <a:xfrm>
            <a:off x="10402214" y="4636008"/>
            <a:ext cx="91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840480" y="5852160"/>
            <a:ext cx="7708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Attention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Blockers &amp; Decisions Needed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oVNQqv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5317236" cy="251587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Shape 8"/>
          <p:cNvSpPr/>
          <p:nvPr/>
        </p:nvSpPr>
        <p:spPr>
          <a:xfrm>
            <a:off x="640080" y="1783080"/>
            <a:ext cx="5317236" cy="73152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2011680"/>
            <a:ext cx="4768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Blockers and risks</a:t>
            </a:r>
            <a:pPr indent="0" marL="0">
              <a:buNone/>
            </a:pPr>
            <a:r>
              <a:rPr lang="en-US" sz="17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914400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417320" y="2606040"/>
            <a:ext cx="4265676" cy="953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Reminders release waiting on one fix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B9BF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Duplicate reminders must be prevented before release. Fix is small and already tested.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Owner: Nina Rao @Nina · Expected: next week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231636" y="1783080"/>
            <a:ext cx="5317236" cy="251587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6" name="Shape 13"/>
          <p:cNvSpPr/>
          <p:nvPr/>
        </p:nvSpPr>
        <p:spPr>
          <a:xfrm>
            <a:off x="6231636" y="1783080"/>
            <a:ext cx="5317236" cy="73152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2011680"/>
            <a:ext cx="4768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Decisions needed</a:t>
            </a:r>
            <a:pPr indent="0" marL="0">
              <a:buNone/>
            </a:pPr>
            <a:r>
              <a:rPr lang="en-US" sz="17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650595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7008876" y="2606040"/>
            <a:ext cx="4265676" cy="1372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patients turn off SMS reminders and keep email only?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B9BF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every patient with a phone number receives SMS reminders; some clinics report complaints.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Options: allow opt-out · clinic decides per patient · keep as today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Task Tracker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Task Track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oVNQqv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10908792" cy="12801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Text 8"/>
          <p:cNvSpPr/>
          <p:nvPr/>
        </p:nvSpPr>
        <p:spPr>
          <a:xfrm>
            <a:off x="868680" y="18745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Leo Park @Leo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68680" y="218541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68680" y="2441448"/>
            <a:ext cx="32918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Sign-in and clinic search done; booking calendar in progress.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480560" y="18745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4480560" y="24414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done, 2 open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80560" y="2788920"/>
            <a:ext cx="2103120" cy="73152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7" name="Shape 14"/>
          <p:cNvSpPr/>
          <p:nvPr/>
        </p:nvSpPr>
        <p:spPr>
          <a:xfrm>
            <a:off x="4480560" y="2788920"/>
            <a:ext cx="1261872" cy="73152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18" name="Shape 15"/>
          <p:cNvSpPr/>
          <p:nvPr/>
        </p:nvSpPr>
        <p:spPr>
          <a:xfrm>
            <a:off x="6903720" y="1984248"/>
            <a:ext cx="109728" cy="109728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19" name="Text 16"/>
          <p:cNvSpPr/>
          <p:nvPr/>
        </p:nvSpPr>
        <p:spPr>
          <a:xfrm>
            <a:off x="7104888" y="192024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903720" y="2350008"/>
            <a:ext cx="109728" cy="109728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21" name="Text 18"/>
          <p:cNvSpPr/>
          <p:nvPr/>
        </p:nvSpPr>
        <p:spPr>
          <a:xfrm>
            <a:off x="7104888" y="228600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111996" y="1984248"/>
            <a:ext cx="109728" cy="109728"/>
          </a:xfrm>
          <a:prstGeom prst="rect">
            <a:avLst/>
          </a:prstGeom>
          <a:ln w="15875">
            <a:solidFill>
              <a:srgbClr val="5CC8D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313164" y="192024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111996" y="2350008"/>
            <a:ext cx="109728" cy="109728"/>
          </a:xfrm>
          <a:prstGeom prst="rect">
            <a:avLst/>
          </a:prstGeom>
          <a:ln w="15875">
            <a:solidFill>
              <a:srgbClr val="929AA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313164" y="228600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3246120"/>
            <a:ext cx="10908792" cy="12801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27" name="Text 24"/>
          <p:cNvSpPr/>
          <p:nvPr/>
        </p:nvSpPr>
        <p:spPr>
          <a:xfrm>
            <a:off x="868680" y="33375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Nina Rao @Nina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868680" y="364845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868680" y="3904488"/>
            <a:ext cx="32918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and schedules done; reminders in final review.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80560" y="3337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2800" dirty="0"/>
          </a:p>
        </p:txBody>
      </p:sp>
      <p:sp>
        <p:nvSpPr>
          <p:cNvPr id="31" name="Text 28"/>
          <p:cNvSpPr/>
          <p:nvPr/>
        </p:nvSpPr>
        <p:spPr>
          <a:xfrm>
            <a:off x="4480560" y="390448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done, 1 open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480560" y="4251960"/>
            <a:ext cx="2103120" cy="73152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33" name="Shape 30"/>
          <p:cNvSpPr/>
          <p:nvPr/>
        </p:nvSpPr>
        <p:spPr>
          <a:xfrm>
            <a:off x="4480560" y="4251960"/>
            <a:ext cx="1472184" cy="73152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34" name="Shape 31"/>
          <p:cNvSpPr/>
          <p:nvPr/>
        </p:nvSpPr>
        <p:spPr>
          <a:xfrm>
            <a:off x="6903720" y="3447288"/>
            <a:ext cx="109728" cy="109728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35" name="Text 32"/>
          <p:cNvSpPr/>
          <p:nvPr/>
        </p:nvSpPr>
        <p:spPr>
          <a:xfrm>
            <a:off x="7104888" y="338328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03720" y="3813048"/>
            <a:ext cx="109728" cy="109728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37" name="Text 34"/>
          <p:cNvSpPr/>
          <p:nvPr/>
        </p:nvSpPr>
        <p:spPr>
          <a:xfrm>
            <a:off x="7104888" y="374904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111996" y="3447288"/>
            <a:ext cx="109728" cy="109728"/>
          </a:xfrm>
          <a:prstGeom prst="rect">
            <a:avLst/>
          </a:prstGeom>
          <a:ln w="15875">
            <a:solidFill>
              <a:srgbClr val="5CC8D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13164" y="338328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9111996" y="3813048"/>
            <a:ext cx="109728" cy="109728"/>
          </a:xfrm>
          <a:prstGeom prst="rect">
            <a:avLst/>
          </a:prstGeom>
          <a:ln w="15875">
            <a:solidFill>
              <a:srgbClr val="929AA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313164" y="374904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640080" y="4709160"/>
            <a:ext cx="10908792" cy="12801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43" name="Text 40"/>
          <p:cNvSpPr/>
          <p:nvPr/>
        </p:nvSpPr>
        <p:spPr>
          <a:xfrm>
            <a:off x="868680" y="48006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44" name="Text 41"/>
          <p:cNvSpPr/>
          <p:nvPr/>
        </p:nvSpPr>
        <p:spPr>
          <a:xfrm>
            <a:off x="868680" y="511149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9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868680" y="5367528"/>
            <a:ext cx="32918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done; usage tracking rolling out.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4480560" y="4800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99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2800" dirty="0"/>
          </a:p>
        </p:txBody>
      </p:sp>
      <p:sp>
        <p:nvSpPr>
          <p:cNvPr id="47" name="Text 44"/>
          <p:cNvSpPr/>
          <p:nvPr/>
        </p:nvSpPr>
        <p:spPr>
          <a:xfrm>
            <a:off x="4480560" y="536752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done, 1 open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4480560" y="5715000"/>
            <a:ext cx="2103120" cy="73152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49" name="Shape 46"/>
          <p:cNvSpPr/>
          <p:nvPr/>
        </p:nvSpPr>
        <p:spPr>
          <a:xfrm>
            <a:off x="4480560" y="5715000"/>
            <a:ext cx="1577340" cy="73152"/>
          </a:xfrm>
          <a:prstGeom prst="rect">
            <a:avLst/>
          </a:prstGeom>
          <a:solidFill>
            <a:srgbClr val="A99BFF"/>
          </a:solidFill>
          <a:ln/>
        </p:spPr>
      </p:sp>
      <p:sp>
        <p:nvSpPr>
          <p:cNvPr id="50" name="Shape 47"/>
          <p:cNvSpPr/>
          <p:nvPr/>
        </p:nvSpPr>
        <p:spPr>
          <a:xfrm>
            <a:off x="6903720" y="4910328"/>
            <a:ext cx="109728" cy="109728"/>
          </a:xfrm>
          <a:prstGeom prst="rect">
            <a:avLst/>
          </a:prstGeom>
          <a:solidFill>
            <a:srgbClr val="A99BFF"/>
          </a:solidFill>
          <a:ln/>
        </p:spPr>
      </p:sp>
      <p:sp>
        <p:nvSpPr>
          <p:cNvPr id="51" name="Text 48"/>
          <p:cNvSpPr/>
          <p:nvPr/>
        </p:nvSpPr>
        <p:spPr>
          <a:xfrm>
            <a:off x="7104888" y="484632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6903720" y="5276088"/>
            <a:ext cx="109728" cy="109728"/>
          </a:xfrm>
          <a:prstGeom prst="rect">
            <a:avLst/>
          </a:prstGeom>
          <a:solidFill>
            <a:srgbClr val="A99BFF"/>
          </a:solidFill>
          <a:ln/>
        </p:spPr>
      </p:sp>
      <p:sp>
        <p:nvSpPr>
          <p:cNvPr id="53" name="Text 50"/>
          <p:cNvSpPr/>
          <p:nvPr/>
        </p:nvSpPr>
        <p:spPr>
          <a:xfrm>
            <a:off x="7104888" y="521208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9111996" y="4910328"/>
            <a:ext cx="109728" cy="109728"/>
          </a:xfrm>
          <a:prstGeom prst="rect">
            <a:avLst/>
          </a:prstGeom>
          <a:ln w="15875">
            <a:solidFill>
              <a:srgbClr val="A99BFF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9313164" y="484632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9111996" y="5276088"/>
            <a:ext cx="109728" cy="109728"/>
          </a:xfrm>
          <a:prstGeom prst="rect">
            <a:avLst/>
          </a:prstGeom>
          <a:solidFill>
            <a:srgbClr val="A99BFF"/>
          </a:solidFill>
          <a:ln/>
        </p:spPr>
      </p:sp>
      <p:sp>
        <p:nvSpPr>
          <p:cNvPr id="57" name="Text 54"/>
          <p:cNvSpPr/>
          <p:nvPr/>
        </p:nvSpPr>
        <p:spPr>
          <a:xfrm>
            <a:off x="9313164" y="521208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640080" y="605332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Activity · GitHub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Delivery Activity This Week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oVNQqv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3514344" cy="10515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Text 8"/>
          <p:cNvSpPr/>
          <p:nvPr/>
        </p:nvSpPr>
        <p:spPr>
          <a:xfrm>
            <a:off x="868680" y="1856232"/>
            <a:ext cx="3057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868680" y="2459736"/>
            <a:ext cx="3057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37304" y="1783080"/>
            <a:ext cx="3514344" cy="10515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4" name="Text 11"/>
          <p:cNvSpPr/>
          <p:nvPr/>
        </p:nvSpPr>
        <p:spPr>
          <a:xfrm>
            <a:off x="4565904" y="1856232"/>
            <a:ext cx="3057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4565904" y="2459736"/>
            <a:ext cx="3057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034528" y="1783080"/>
            <a:ext cx="3514344" cy="10515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7" name="Text 14"/>
          <p:cNvSpPr/>
          <p:nvPr/>
        </p:nvSpPr>
        <p:spPr>
          <a:xfrm>
            <a:off x="8263128" y="1856232"/>
            <a:ext cx="3057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8263128" y="2459736"/>
            <a:ext cx="3057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 completed</a:t>
            </a:r>
            <a:endParaRPr lang="en-US" sz="12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40080" y="3017520"/>
          <a:ext cx="10908792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 16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GitHub activity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Ahead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Week's Plan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oVNQqv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solidFill>
            <a:srgbClr val="2E3237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/ track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566160" y="1783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303520" y="1783080"/>
            <a:ext cx="359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focus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262872" y="1783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2240280"/>
            <a:ext cx="10908792" cy="91440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22402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 · Patient App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566160" y="224028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Park @Leo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303520" y="224028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the booking calendar, then start payments and receipts.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10447934" y="2560320"/>
            <a:ext cx="918058" cy="274320"/>
          </a:xfrm>
          <a:prstGeom prst="rect">
            <a:avLst/>
          </a:prstGeom>
          <a:ln w="12700">
            <a:solidFill>
              <a:srgbClr val="5CC8D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447934" y="2560320"/>
            <a:ext cx="91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40%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3154680"/>
            <a:ext cx="10908792" cy="914400"/>
          </a:xfrm>
          <a:prstGeom prst="rect">
            <a:avLst/>
          </a:prstGeom>
          <a:solidFill>
            <a:srgbClr val="12161C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31546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 · Clinic Dashboard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3566160" y="315468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 Rao @Nina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303520" y="315468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duplicate-reminder fix and release reminders; start reports and exports.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10447934" y="3474720"/>
            <a:ext cx="918058" cy="274320"/>
          </a:xfrm>
          <a:prstGeom prst="rect">
            <a:avLst/>
          </a:prstGeom>
          <a:ln w="12700">
            <a:solidFill>
              <a:srgbClr val="5CC8D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447934" y="3474720"/>
            <a:ext cx="91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80%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40080" y="4069080"/>
            <a:ext cx="10908792" cy="91440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28" name="Text 25"/>
          <p:cNvSpPr/>
          <p:nvPr/>
        </p:nvSpPr>
        <p:spPr>
          <a:xfrm>
            <a:off x="822960" y="40690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9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PulseBoard · Usage Tracking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566160" y="406908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5303520" y="406908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adding usage tracking to the web app, then open the first dashboard to managers.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10206533" y="4389120"/>
            <a:ext cx="1159459" cy="274320"/>
          </a:xfrm>
          <a:prstGeom prst="rect">
            <a:avLst/>
          </a:prstGeom>
          <a:ln w="12700">
            <a:solidFill>
              <a:srgbClr val="A99B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0206533" y="4389120"/>
            <a:ext cx="1159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40080" y="4983480"/>
            <a:ext cx="10908792" cy="914400"/>
          </a:xfrm>
          <a:prstGeom prst="rect">
            <a:avLst/>
          </a:prstGeom>
          <a:solidFill>
            <a:srgbClr val="12161C"/>
          </a:solidFill>
          <a:ln/>
        </p:spPr>
      </p:sp>
      <p:sp>
        <p:nvSpPr>
          <p:cNvPr id="34" name="Text 31"/>
          <p:cNvSpPr/>
          <p:nvPr/>
        </p:nvSpPr>
        <p:spPr>
          <a:xfrm>
            <a:off x="822960" y="49834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Store Release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3566160" y="498348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5303520" y="498348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Invite the first 20 clinic staff to TestFlight.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10769803" y="5303520"/>
            <a:ext cx="596189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38" name="Text 35"/>
          <p:cNvSpPr/>
          <p:nvPr/>
        </p:nvSpPr>
        <p:spPr>
          <a:xfrm>
            <a:off x="10769803" y="5303520"/>
            <a:ext cx="596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1097280"/>
            <a:ext cx="3685032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Shape 2"/>
          <p:cNvSpPr/>
          <p:nvPr/>
        </p:nvSpPr>
        <p:spPr>
          <a:xfrm>
            <a:off x="7863840" y="1810512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5" name="Shape 3"/>
          <p:cNvSpPr/>
          <p:nvPr/>
        </p:nvSpPr>
        <p:spPr>
          <a:xfrm>
            <a:off x="7863840" y="1810512"/>
            <a:ext cx="3685032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0" y="2523744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0" y="2523744"/>
            <a:ext cx="3685032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8" name="Shape 6"/>
          <p:cNvSpPr/>
          <p:nvPr/>
        </p:nvSpPr>
        <p:spPr>
          <a:xfrm>
            <a:off x="7863840" y="3236976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9" name="Shape 7"/>
          <p:cNvSpPr/>
          <p:nvPr/>
        </p:nvSpPr>
        <p:spPr>
          <a:xfrm>
            <a:off x="7863840" y="3236976"/>
            <a:ext cx="3685032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0" y="3950208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1" name="Shape 9"/>
          <p:cNvSpPr/>
          <p:nvPr/>
        </p:nvSpPr>
        <p:spPr>
          <a:xfrm>
            <a:off x="7863840" y="3950208"/>
            <a:ext cx="3685032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12" name="Shape 10"/>
          <p:cNvSpPr/>
          <p:nvPr/>
        </p:nvSpPr>
        <p:spPr>
          <a:xfrm>
            <a:off x="7863840" y="4663440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0" y="4663440"/>
            <a:ext cx="3685032" cy="274320"/>
          </a:xfrm>
          <a:prstGeom prst="rect">
            <a:avLst/>
          </a:prstGeom>
          <a:solidFill>
            <a:srgbClr val="B9BFC9"/>
          </a:solidFill>
          <a:ln/>
        </p:spPr>
      </p:sp>
      <p:pic>
        <p:nvPicPr>
          <p:cNvPr id="14" name="Image 0" descr="/var/folders/lw/rmylcyvd5rjfxk9g1z9rrm8w0000gq/T/showship-deck-oVNQqv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489642" cy="56692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371600" y="56692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4688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17" name="Text 14"/>
          <p:cNvSpPr/>
          <p:nvPr/>
        </p:nvSpPr>
        <p:spPr>
          <a:xfrm>
            <a:off x="640080" y="3566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and discussion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640080" y="5440680"/>
            <a:ext cx="6035040" cy="0"/>
          </a:xfrm>
          <a:prstGeom prst="line">
            <a:avLst/>
          </a:prstGeom>
          <a:noFill/>
          <a:ln w="12700">
            <a:solidFill>
              <a:srgbClr val="46494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38404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8404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October 9, 2026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2026-10-11T06:43:02Z</dcterms:created>
  <dcterms:modified xsi:type="dcterms:W3CDTF">2026-10-11T06:43:02Z</dcterms:modified>
</cp:coreProperties>
</file>