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Combined Progress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41412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6E8D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65</c:v>
                </c:pt>
                <c:pt idx="1">
                  <c:v>35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Patient App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A8CC3A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6E8D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60</c:v>
                </c:pt>
                <c:pt idx="1">
                  <c:v>40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Clinic Dashboard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A8CC3A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6E8D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70</c:v>
                </c:pt>
                <c:pt idx="1">
                  <c:v>30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Completed</c:v>
                </c:pt>
              </c:strCache>
            </c:strRef>
          </c:tx>
          <c:spPr>
            <a:solidFill>
              <a:srgbClr val="A8CC3A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Accounts &amp; Sign-in</c:v>
                  </c:pt>
                  <c:pt idx="1">
                    <c:v>P2 · Clinic Search &amp; Maps</c:v>
                  </c:pt>
                  <c:pt idx="2">
                    <c:v>P3 · Booking Calendar</c:v>
                  </c:pt>
                  <c:pt idx="3">
                    <c:v>P4 · Payments &amp; Receipts (Not started)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 Progress</c:v>
                </c:pt>
              </c:strCache>
            </c:strRef>
          </c:tx>
          <c:spPr>
            <a:solidFill>
              <a:srgbClr val="D6E6A0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Accounts &amp; Sign-in</c:v>
                  </c:pt>
                  <c:pt idx="1">
                    <c:v>P2 · Clinic Search &amp; Maps</c:v>
                  </c:pt>
                  <c:pt idx="2">
                    <c:v>P3 · Booking Calendar</c:v>
                  </c:pt>
                  <c:pt idx="3">
                    <c:v>P4 · Payments &amp; Receipts (Not started)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40</c:v>
                </c:pt>
                <c:pt idx="3">
                  <c:v>0</c:v>
                </c:pt>
              </c:numCache>
            </c:numRef>
          </c:val>
        </c:ser>
        <c:dLbls>
          <c:numFmt formatCode="0&quot;%&quot;;;;" sourceLinked="0"/>
          <c:txPr>
            <a:bodyPr/>
            <a:lstStyle/>
            <a:p>
              <a:pPr>
                <a:defRPr b="1" i="0" strike="noStrike" sz="1000" u="none">
                  <a:solidFill>
                    <a:srgbClr val="1414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A3A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3E5DC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Completed</c:v>
                </c:pt>
              </c:strCache>
            </c:strRef>
          </c:tx>
          <c:spPr>
            <a:solidFill>
              <a:srgbClr val="A8CC3A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Clinic Onboarding</c:v>
                  </c:pt>
                  <c:pt idx="1">
                    <c:v>P2 · Doctor Schedules</c:v>
                  </c:pt>
                  <c:pt idx="2">
                    <c:v>P3 · Reports &amp; Exports (Not started)</c:v>
                  </c:pt>
                  <c:pt idx="3">
                    <c:v>P4 · Reminders &amp; Notifications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 Progress</c:v>
                </c:pt>
              </c:strCache>
            </c:strRef>
          </c:tx>
          <c:spPr>
            <a:solidFill>
              <a:srgbClr val="D6E6A0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Clinic Onboarding</c:v>
                  </c:pt>
                  <c:pt idx="1">
                    <c:v>P2 · Doctor Schedules</c:v>
                  </c:pt>
                  <c:pt idx="2">
                    <c:v>P3 · Reports &amp; Exports (Not started)</c:v>
                  </c:pt>
                  <c:pt idx="3">
                    <c:v>P4 · Reminders &amp; Notifications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80</c:v>
                </c:pt>
              </c:numCache>
            </c:numRef>
          </c:val>
        </c:ser>
        <c:dLbls>
          <c:numFmt formatCode="0&quot;%&quot;;;;" sourceLinked="0"/>
          <c:txPr>
            <a:bodyPr/>
            <a:lstStyle/>
            <a:p>
              <a:pPr>
                <a:defRPr b="1" i="0" strike="noStrike" sz="1000" u="none">
                  <a:solidFill>
                    <a:srgbClr val="1414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A3A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3E5DC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Development work</c:v>
                </c:pt>
              </c:strCache>
            </c:strRef>
          </c:tx>
          <c:spPr>
            <a:solidFill>
              <a:srgbClr val="A8C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14</c:v>
                </c:pt>
                <c:pt idx="2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Features submitted</c:v>
                </c:pt>
              </c:strCache>
            </c:strRef>
          </c:tx>
          <c:spPr>
            <a:solidFill>
              <a:srgbClr val="14141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Features approved</c:v>
                </c:pt>
              </c:strCache>
            </c:strRef>
          </c:tx>
          <c:spPr>
            <a:solidFill>
              <a:srgbClr val="D6E6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Reviews given</c:v>
                </c:pt>
              </c:strCache>
            </c:strRef>
          </c:tx>
          <c:spPr>
            <a:solidFill>
              <a:srgbClr val="8A8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414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3A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5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1VHyyi/logo_trimm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7680960" y="2743200"/>
            <a:ext cx="6035040" cy="6987624"/>
          </a:xfrm>
          <a:prstGeom prst="rect">
            <a:avLst/>
          </a:prstGeom>
        </p:spPr>
      </p:pic>
      <p:pic>
        <p:nvPicPr>
          <p:cNvPr id="3" name="Image 1" descr="/var/folders/lw/rmylcyvd5rjfxk9g1z9rrm8w0000gq/T/showship-deck-1VHyyi/logo_trimm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138" y="452628"/>
            <a:ext cx="544924" cy="63093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0" y="10698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5" name="Text 1"/>
          <p:cNvSpPr/>
          <p:nvPr/>
        </p:nvSpPr>
        <p:spPr>
          <a:xfrm>
            <a:off x="731520" y="2788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report</a:t>
            </a:r>
            <a:endParaRPr lang="en-US" sz="1500" dirty="0"/>
          </a:p>
        </p:txBody>
      </p:sp>
      <p:sp>
        <p:nvSpPr>
          <p:cNvPr id="6" name="Text 2"/>
          <p:cNvSpPr/>
          <p:nvPr/>
        </p:nvSpPr>
        <p:spPr>
          <a:xfrm>
            <a:off x="685800" y="3154680"/>
            <a:ext cx="9601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Development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 Report</a:t>
            </a:r>
            <a:endParaRPr lang="en-US" sz="4400" dirty="0"/>
          </a:p>
        </p:txBody>
      </p:sp>
      <p:sp>
        <p:nvSpPr>
          <p:cNvPr id="7" name="Text 3"/>
          <p:cNvSpPr/>
          <p:nvPr/>
        </p:nvSpPr>
        <p:spPr>
          <a:xfrm>
            <a:off x="731520" y="5760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731520" y="60167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 Lin @Maya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7315200" y="5760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8B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7315200" y="60167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9,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Week at a Glance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392424" cy="3291840"/>
          </a:xfrm>
          <a:prstGeom prst="roundRect">
            <a:avLst>
              <a:gd name="adj" fmla="val 2222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874520"/>
            <a:ext cx="3392424" cy="82296"/>
          </a:xfrm>
          <a:prstGeom prst="rect">
            <a:avLst/>
          </a:prstGeom>
          <a:solidFill>
            <a:srgbClr val="A8CC3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Store Release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914400" y="3566160"/>
            <a:ext cx="918972" cy="292608"/>
          </a:xfrm>
          <a:prstGeom prst="roundRect">
            <a:avLst>
              <a:gd name="adj" fmla="val 50000"/>
            </a:avLst>
          </a:prstGeom>
          <a:solidFill>
            <a:srgbClr val="A8CC3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566160"/>
            <a:ext cx="9189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40233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Account Verified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438912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approved our company account; the app is now in TestFlight.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98264" y="1874520"/>
            <a:ext cx="3392424" cy="3291840"/>
          </a:xfrm>
          <a:prstGeom prst="roundRect">
            <a:avLst>
              <a:gd name="adj" fmla="val 2222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98264" y="1874520"/>
            <a:ext cx="3392424" cy="82296"/>
          </a:xfrm>
          <a:prstGeom prst="rect">
            <a:avLst/>
          </a:prstGeom>
          <a:solidFill>
            <a:srgbClr val="D6E6A0"/>
          </a:solidFill>
          <a:ln/>
        </p:spPr>
      </p:sp>
      <p:sp>
        <p:nvSpPr>
          <p:cNvPr id="14" name="Text 12"/>
          <p:cNvSpPr/>
          <p:nvPr/>
        </p:nvSpPr>
        <p:spPr>
          <a:xfrm>
            <a:off x="4672584" y="2194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ClinicBook · Patient &amp; Clinic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72584" y="256032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65%</a:t>
            </a:r>
            <a:endParaRPr lang="en-US" sz="5400" dirty="0"/>
          </a:p>
        </p:txBody>
      </p:sp>
      <p:sp>
        <p:nvSpPr>
          <p:cNvPr id="16" name="Shape 14"/>
          <p:cNvSpPr/>
          <p:nvPr/>
        </p:nvSpPr>
        <p:spPr>
          <a:xfrm>
            <a:off x="4672584" y="3566160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D6E6A0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3566160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track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72584" y="40233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8 Phases Complete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672584" y="438912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app and clinic dashboard are being built in parallel.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156448" y="1874520"/>
            <a:ext cx="3392424" cy="3291840"/>
          </a:xfrm>
          <a:prstGeom prst="roundRect">
            <a:avLst>
              <a:gd name="adj" fmla="val 2222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56448" y="1874520"/>
            <a:ext cx="3392424" cy="82296"/>
          </a:xfrm>
          <a:prstGeom prst="rect">
            <a:avLst/>
          </a:prstGeom>
          <a:solidFill>
            <a:srgbClr val="D6E6A0"/>
          </a:solidFill>
          <a:ln/>
        </p:spPr>
      </p:sp>
      <p:sp>
        <p:nvSpPr>
          <p:cNvPr id="22" name="Text 20"/>
          <p:cNvSpPr/>
          <p:nvPr/>
        </p:nvSpPr>
        <p:spPr>
          <a:xfrm>
            <a:off x="8430768" y="2194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PulseBoard Analytics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430768" y="256032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/ 2</a:t>
            </a:r>
            <a:endParaRPr lang="en-US" sz="5400" dirty="0"/>
          </a:p>
        </p:txBody>
      </p:sp>
      <p:sp>
        <p:nvSpPr>
          <p:cNvPr id="24" name="Shape 22"/>
          <p:cNvSpPr/>
          <p:nvPr/>
        </p:nvSpPr>
        <p:spPr>
          <a:xfrm>
            <a:off x="8430768" y="3566160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D6E6A0"/>
          </a:solidFill>
          <a:ln/>
        </p:spPr>
      </p:sp>
      <p:sp>
        <p:nvSpPr>
          <p:cNvPr id="25" name="Text 23"/>
          <p:cNvSpPr/>
          <p:nvPr/>
        </p:nvSpPr>
        <p:spPr>
          <a:xfrm>
            <a:off x="8430768" y="3566160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track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30768" y="40233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Workstreams Complete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430768" y="438912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transfer to the new system finished; usage tracking is being rolled out.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0080" y="5532120"/>
            <a:ext cx="10908792" cy="640080"/>
          </a:xfrm>
          <a:prstGeom prst="roundRect">
            <a:avLst>
              <a:gd name="adj" fmla="val 11429"/>
            </a:avLst>
          </a:prstGeom>
          <a:solidFill>
            <a:srgbClr val="141412"/>
          </a:solidFill>
          <a:ln/>
        </p:spPr>
      </p:sp>
      <p:sp>
        <p:nvSpPr>
          <p:cNvPr id="29" name="Text 27"/>
          <p:cNvSpPr/>
          <p:nvPr/>
        </p:nvSpPr>
        <p:spPr>
          <a:xfrm>
            <a:off x="914400" y="55321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update 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decision is needed this week: can patients turn off SMS reminders and keep email only? (see Decisions Needed)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· App Store Release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 Store: Developer Account Verified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A8CC3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45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 resolved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935099" y="3017520"/>
            <a:ext cx="8321497" cy="0"/>
          </a:xfrm>
          <a:prstGeom prst="line">
            <a:avLst/>
          </a:prstGeom>
          <a:noFill/>
          <a:ln w="38100">
            <a:solidFill>
              <a:srgbClr val="A8CC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79067" y="2761488"/>
            <a:ext cx="512064" cy="51206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E0A3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9067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0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week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for the company's D-U-N-S business number.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52899" y="2761488"/>
            <a:ext cx="512064" cy="512064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13" name="Text 11"/>
          <p:cNvSpPr/>
          <p:nvPr/>
        </p:nvSpPr>
        <p:spPr>
          <a:xfrm>
            <a:off x="4452899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413912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13912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Received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05352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provided the D-U-N-S number.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226732" y="2761488"/>
            <a:ext cx="512064" cy="512064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18" name="Text 16"/>
          <p:cNvSpPr/>
          <p:nvPr/>
        </p:nvSpPr>
        <p:spPr>
          <a:xfrm>
            <a:off x="7226732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187745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87745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Verified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279185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verified the company developer account.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927412" y="2688336"/>
            <a:ext cx="658368" cy="658368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23" name="Text 21"/>
          <p:cNvSpPr/>
          <p:nvPr/>
        </p:nvSpPr>
        <p:spPr>
          <a:xfrm>
            <a:off x="9927412" y="26883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961577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961577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TestFlight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053017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build available to internal testers.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5486400"/>
            <a:ext cx="10908792" cy="777240"/>
          </a:xfrm>
          <a:prstGeom prst="roundRect">
            <a:avLst>
              <a:gd name="adj" fmla="val 9412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14400" y="54864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Impact:  </a:t>
            </a:r>
            <a:pPr indent="0" marL="0">
              <a:buNone/>
            </a:pPr>
            <a:r>
              <a:rPr lang="en-US" sz="135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is published under the company's own verified account, ready for beta testers.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ClinicBook · Progress 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ClinicBook: Patient App &amp; Clinic Dashboard Progress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392424" cy="2971800"/>
          </a:xfrm>
          <a:prstGeom prst="roundRect">
            <a:avLst>
              <a:gd name="adj" fmla="val 2462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1376172" y="19659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1376172" y="196596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65%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822960" y="39776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Progress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432511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app + Clinic dashboard · 8 phases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98264" y="1783080"/>
            <a:ext cx="3392424" cy="2971800"/>
          </a:xfrm>
          <a:prstGeom prst="roundRect">
            <a:avLst>
              <a:gd name="adj" fmla="val 2462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graphicFrame>
        <p:nvGraphicFramePr>
          <p:cNvPr id="10" name="Chart 1" descr=""/>
          <p:cNvGraphicFramePr/>
          <p:nvPr/>
        </p:nvGraphicFramePr>
        <p:xfrm>
          <a:off x="5134356" y="19659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/>
          <p:nvPr/>
        </p:nvSpPr>
        <p:spPr>
          <a:xfrm>
            <a:off x="5134356" y="196596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4581144" y="39776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App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581144" y="432511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Leo Park @Leo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56448" y="1783080"/>
            <a:ext cx="3392424" cy="2971800"/>
          </a:xfrm>
          <a:prstGeom prst="roundRect">
            <a:avLst>
              <a:gd name="adj" fmla="val 2462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graphicFrame>
        <p:nvGraphicFramePr>
          <p:cNvPr id="15" name="Chart 2" descr=""/>
          <p:cNvGraphicFramePr/>
          <p:nvPr/>
        </p:nvGraphicFramePr>
        <p:xfrm>
          <a:off x="8892540" y="19659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Text 11"/>
          <p:cNvSpPr/>
          <p:nvPr/>
        </p:nvSpPr>
        <p:spPr>
          <a:xfrm>
            <a:off x="8892540" y="196596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2400" dirty="0"/>
          </a:p>
        </p:txBody>
      </p:sp>
      <p:sp>
        <p:nvSpPr>
          <p:cNvPr id="17" name="Text 12"/>
          <p:cNvSpPr/>
          <p:nvPr/>
        </p:nvSpPr>
        <p:spPr>
          <a:xfrm>
            <a:off x="8339328" y="39776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Dashboard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339328" y="432511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Nina Rao @Nina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40080" y="4983480"/>
            <a:ext cx="339242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0080" y="4983480"/>
            <a:ext cx="91440" cy="868680"/>
          </a:xfrm>
          <a:prstGeom prst="rect">
            <a:avLst/>
          </a:prstGeom>
          <a:solidFill>
            <a:srgbClr val="A8CC3A"/>
          </a:solidFill>
          <a:ln/>
        </p:spPr>
      </p:sp>
      <p:sp>
        <p:nvSpPr>
          <p:cNvPr id="21" name="Text 16"/>
          <p:cNvSpPr/>
          <p:nvPr/>
        </p:nvSpPr>
        <p:spPr>
          <a:xfrm>
            <a:off x="914400" y="4983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/>
          <p:nvPr/>
        </p:nvSpPr>
        <p:spPr>
          <a:xfrm>
            <a:off x="1645920" y="49834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Completed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4398264" y="4983480"/>
            <a:ext cx="339242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398264" y="4983480"/>
            <a:ext cx="91440" cy="868680"/>
          </a:xfrm>
          <a:prstGeom prst="rect">
            <a:avLst/>
          </a:prstGeom>
          <a:solidFill>
            <a:srgbClr val="D6E6A0"/>
          </a:solidFill>
          <a:ln/>
        </p:spPr>
      </p:sp>
      <p:sp>
        <p:nvSpPr>
          <p:cNvPr id="25" name="Text 20"/>
          <p:cNvSpPr/>
          <p:nvPr/>
        </p:nvSpPr>
        <p:spPr>
          <a:xfrm>
            <a:off x="4672584" y="4983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26" name="Text 21"/>
          <p:cNvSpPr/>
          <p:nvPr/>
        </p:nvSpPr>
        <p:spPr>
          <a:xfrm>
            <a:off x="5404104" y="49834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In Progress</a:t>
            </a:r>
            <a:endParaRPr lang="en-US" sz="1400" dirty="0"/>
          </a:p>
        </p:txBody>
      </p:sp>
      <p:sp>
        <p:nvSpPr>
          <p:cNvPr id="27" name="Shape 22"/>
          <p:cNvSpPr/>
          <p:nvPr/>
        </p:nvSpPr>
        <p:spPr>
          <a:xfrm>
            <a:off x="8156448" y="4983480"/>
            <a:ext cx="339242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156448" y="4983480"/>
            <a:ext cx="91440" cy="868680"/>
          </a:xfrm>
          <a:prstGeom prst="rect">
            <a:avLst/>
          </a:prstGeom>
          <a:solidFill>
            <a:srgbClr val="E6E8DF"/>
          </a:solidFill>
          <a:ln/>
        </p:spPr>
      </p:sp>
      <p:sp>
        <p:nvSpPr>
          <p:cNvPr id="29" name="Text 24"/>
          <p:cNvSpPr/>
          <p:nvPr/>
        </p:nvSpPr>
        <p:spPr>
          <a:xfrm>
            <a:off x="8430768" y="4983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30" name="Text 25"/>
          <p:cNvSpPr/>
          <p:nvPr/>
        </p:nvSpPr>
        <p:spPr>
          <a:xfrm>
            <a:off x="9162288" y="49834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Not Started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640080" y="60350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B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= average completion of each track's four phases.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ClinicBook · Phase Breakdown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ClinicBook: Status of Each Phase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71516" cy="4434840"/>
          </a:xfrm>
          <a:prstGeom prst="roundRect">
            <a:avLst>
              <a:gd name="adj" fmla="val 1649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11680"/>
            <a:ext cx="2345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App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168396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Dev: Leo Park @Leo</a:t>
            </a:r>
            <a:endParaRPr lang="en-US" sz="1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77240" y="2423160"/>
          <a:ext cx="4997196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914400" y="566928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calendar underway; payments are next.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77356" y="1783080"/>
            <a:ext cx="5271516" cy="4434840"/>
          </a:xfrm>
          <a:prstGeom prst="roundRect">
            <a:avLst>
              <a:gd name="adj" fmla="val 1649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551676" y="2011680"/>
            <a:ext cx="2345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Dashboard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8805672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Dev: Nina Rao @Nina</a:t>
            </a:r>
            <a:endParaRPr lang="en-US" sz="120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6414516" y="2423160"/>
          <a:ext cx="4997196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/>
          <p:nvPr/>
        </p:nvSpPr>
        <p:spPr>
          <a:xfrm>
            <a:off x="6551676" y="566928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 are in final review; 4 of 5 parts verified.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ClinicBook · Patient App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ClinicBook: What Was Done on Each Task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453384" cy="3694938"/>
          </a:xfrm>
          <a:prstGeom prst="roundRect">
            <a:avLst>
              <a:gd name="adj" fmla="val 2118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65960"/>
            <a:ext cx="1074420" cy="292608"/>
          </a:xfrm>
          <a:prstGeom prst="roundRect">
            <a:avLst>
              <a:gd name="adj" fmla="val 50000"/>
            </a:avLst>
          </a:prstGeom>
          <a:solidFill>
            <a:srgbClr val="D6E6A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65960"/>
            <a:ext cx="10744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313432"/>
            <a:ext cx="299618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P3 · Booking Calendar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59727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2871597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pick a doctor, a day and a time slot in one screen. Free slots update as other patients book, so nobody is offered a time that is already taken.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380123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68680" y="4130421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12" name="Text 10"/>
          <p:cNvSpPr/>
          <p:nvPr/>
        </p:nvSpPr>
        <p:spPr>
          <a:xfrm>
            <a:off x="1115568" y="4075557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and day picker built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68680" y="4352925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14" name="Text 12"/>
          <p:cNvSpPr/>
          <p:nvPr/>
        </p:nvSpPr>
        <p:spPr>
          <a:xfrm>
            <a:off x="1115568" y="4298061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time slots shown live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68680" y="4575429"/>
            <a:ext cx="118872" cy="118872"/>
          </a:xfrm>
          <a:prstGeom prst="ellipse">
            <a:avLst/>
          </a:prstGeom>
          <a:ln w="19050">
            <a:solidFill>
              <a:srgbClr val="A8CC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15568" y="4520565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confirmation screen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680" y="4797933"/>
            <a:ext cx="118872" cy="118872"/>
          </a:xfrm>
          <a:prstGeom prst="ellipse">
            <a:avLst/>
          </a:prstGeom>
          <a:ln w="19050">
            <a:solidFill>
              <a:srgbClr val="B8B8B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15568" y="4743069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Rescheduling an existing booking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68680" y="5020437"/>
            <a:ext cx="118872" cy="118872"/>
          </a:xfrm>
          <a:prstGeom prst="ellipse">
            <a:avLst/>
          </a:prstGeom>
          <a:ln w="19050">
            <a:solidFill>
              <a:srgbClr val="B8B8B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15568" y="4965573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Cancellation with clinic notice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67784" y="1783080"/>
            <a:ext cx="3453384" cy="3694938"/>
          </a:xfrm>
          <a:prstGeom prst="roundRect">
            <a:avLst>
              <a:gd name="adj" fmla="val 2118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96384" y="1965960"/>
            <a:ext cx="918972" cy="292608"/>
          </a:xfrm>
          <a:prstGeom prst="roundRect">
            <a:avLst>
              <a:gd name="adj" fmla="val 50000"/>
            </a:avLst>
          </a:prstGeom>
          <a:solidFill>
            <a:srgbClr val="A8CC3A"/>
          </a:solidFill>
          <a:ln/>
        </p:spPr>
      </p:sp>
      <p:sp>
        <p:nvSpPr>
          <p:cNvPr id="23" name="Text 21"/>
          <p:cNvSpPr/>
          <p:nvPr/>
        </p:nvSpPr>
        <p:spPr>
          <a:xfrm>
            <a:off x="4596384" y="1965960"/>
            <a:ext cx="9189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96384" y="2313432"/>
            <a:ext cx="299618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P2 · Clinic Search and Maps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96384" y="2835402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96384" y="3109722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find nearby clinics by name, specialty or distance and open directions in their maps app. Reviewed and approved this week.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96384" y="4039362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96384" y="4368546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29" name="Text 27"/>
          <p:cNvSpPr/>
          <p:nvPr/>
        </p:nvSpPr>
        <p:spPr>
          <a:xfrm>
            <a:off x="4843272" y="4313682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by name and specialty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96384" y="4591050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31" name="Text 29"/>
          <p:cNvSpPr/>
          <p:nvPr/>
        </p:nvSpPr>
        <p:spPr>
          <a:xfrm>
            <a:off x="4843272" y="4536186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sorting from the patient's location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96384" y="4813554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33" name="Text 31"/>
          <p:cNvSpPr/>
          <p:nvPr/>
        </p:nvSpPr>
        <p:spPr>
          <a:xfrm>
            <a:off x="4843272" y="4758690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Directions open in the maps app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96384" y="5036058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35" name="Text 33"/>
          <p:cNvSpPr/>
          <p:nvPr/>
        </p:nvSpPr>
        <p:spPr>
          <a:xfrm>
            <a:off x="4843272" y="4981194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offline for recent searches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095488" y="1783080"/>
            <a:ext cx="3453384" cy="3694938"/>
          </a:xfrm>
          <a:prstGeom prst="roundRect">
            <a:avLst>
              <a:gd name="adj" fmla="val 2118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324088" y="1965960"/>
            <a:ext cx="1074420" cy="292608"/>
          </a:xfrm>
          <a:prstGeom prst="roundRect">
            <a:avLst>
              <a:gd name="adj" fmla="val 50000"/>
            </a:avLst>
          </a:prstGeom>
          <a:solidFill>
            <a:srgbClr val="E6E8DF"/>
          </a:solidFill>
          <a:ln/>
        </p:spPr>
      </p:sp>
      <p:sp>
        <p:nvSpPr>
          <p:cNvPr id="38" name="Text 36"/>
          <p:cNvSpPr/>
          <p:nvPr/>
        </p:nvSpPr>
        <p:spPr>
          <a:xfrm>
            <a:off x="8324088" y="1965960"/>
            <a:ext cx="10744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started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324088" y="2313432"/>
            <a:ext cx="299618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P4 · Payments and Receipts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8324088" y="259727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324088" y="2871597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pay the booking deposit in the app and get a receipt by email. Starts after the booking calendar is approved.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24088" y="360311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324088" y="3932301"/>
            <a:ext cx="118872" cy="118872"/>
          </a:xfrm>
          <a:prstGeom prst="ellipse">
            <a:avLst/>
          </a:prstGeom>
          <a:ln w="19050">
            <a:solidFill>
              <a:srgbClr val="B8B8B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570976" y="3877437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payment method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324088" y="4154805"/>
            <a:ext cx="118872" cy="118872"/>
          </a:xfrm>
          <a:prstGeom prst="ellipse">
            <a:avLst/>
          </a:prstGeom>
          <a:ln w="19050">
            <a:solidFill>
              <a:srgbClr val="B8B8B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570976" y="4099941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the booking deposit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324088" y="4377309"/>
            <a:ext cx="118872" cy="118872"/>
          </a:xfrm>
          <a:prstGeom prst="ellipse">
            <a:avLst/>
          </a:prstGeom>
          <a:ln w="19050">
            <a:solidFill>
              <a:srgbClr val="B8B8B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570976" y="4322445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 sent by email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40080" y="561517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as of this week's review; detail comes from the task tracker and the lead's code reviews.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· Code Review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Check: Issues Caught Before Release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017520" cy="4434840"/>
          </a:xfrm>
          <a:prstGeom prst="roundRect">
            <a:avLst>
              <a:gd name="adj" fmla="val 2424"/>
            </a:avLst>
          </a:prstGeom>
          <a:solidFill>
            <a:srgbClr val="14141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011680"/>
            <a:ext cx="246888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A8C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14400" y="2807208"/>
            <a:ext cx="2468880" cy="477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reviewed this week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14400" y="3319272"/>
            <a:ext cx="2468880" cy="0"/>
          </a:xfrm>
          <a:prstGeom prst="line">
            <a:avLst/>
          </a:prstGeom>
          <a:noFill/>
          <a:ln w="9525">
            <a:solidFill>
              <a:srgbClr val="3A3A3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337560"/>
            <a:ext cx="246888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914400" y="4133088"/>
            <a:ext cx="2468880" cy="477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for release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4645152"/>
            <a:ext cx="2468880" cy="0"/>
          </a:xfrm>
          <a:prstGeom prst="line">
            <a:avLst/>
          </a:prstGeom>
          <a:noFill/>
          <a:ln w="9525">
            <a:solidFill>
              <a:srgbClr val="3A3A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663440"/>
            <a:ext cx="246888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14400" y="5458968"/>
            <a:ext cx="2468880" cy="477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passing (100%)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977640" y="1783080"/>
            <a:ext cx="7571232" cy="4434840"/>
          </a:xfrm>
          <a:prstGeom prst="roundRect">
            <a:avLst>
              <a:gd name="adj" fmla="val 1649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206240" y="2084832"/>
            <a:ext cx="64008" cy="984504"/>
          </a:xfrm>
          <a:prstGeom prst="rect">
            <a:avLst/>
          </a:prstGeom>
          <a:solidFill>
            <a:srgbClr val="A8CC3A"/>
          </a:solidFill>
          <a:ln/>
        </p:spPr>
      </p:sp>
      <p:sp>
        <p:nvSpPr>
          <p:cNvPr id="15" name="Text 13"/>
          <p:cNvSpPr/>
          <p:nvPr/>
        </p:nvSpPr>
        <p:spPr>
          <a:xfrm>
            <a:off x="4389120" y="2048256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Reminders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89120" y="2304288"/>
            <a:ext cx="5376672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Clinics can send SMS and email reminders 24 hours and 2 hours before each appointment.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0479024" y="2066544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A8CC3A"/>
          </a:solidFill>
          <a:ln/>
        </p:spPr>
      </p:sp>
      <p:sp>
        <p:nvSpPr>
          <p:cNvPr id="18" name="Text 16"/>
          <p:cNvSpPr/>
          <p:nvPr/>
        </p:nvSpPr>
        <p:spPr>
          <a:xfrm>
            <a:off x="10479024" y="2066544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06240" y="3325368"/>
            <a:ext cx="64008" cy="984504"/>
          </a:xfrm>
          <a:prstGeom prst="rect">
            <a:avLst/>
          </a:prstGeom>
          <a:solidFill>
            <a:srgbClr val="D6E6A0"/>
          </a:solidFill>
          <a:ln/>
        </p:spPr>
      </p:sp>
      <p:sp>
        <p:nvSpPr>
          <p:cNvPr id="20" name="Text 18"/>
          <p:cNvSpPr/>
          <p:nvPr/>
        </p:nvSpPr>
        <p:spPr>
          <a:xfrm>
            <a:off x="4389120" y="3288792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389120" y="3544824"/>
            <a:ext cx="5376672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could receive the same reminder twice if sending is retried. Small fix identified.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9701784" y="3307080"/>
            <a:ext cx="1618488" cy="292608"/>
          </a:xfrm>
          <a:prstGeom prst="roundRect">
            <a:avLst>
              <a:gd name="adj" fmla="val 50000"/>
            </a:avLst>
          </a:prstGeom>
          <a:solidFill>
            <a:srgbClr val="D6E6A0"/>
          </a:solidFill>
          <a:ln/>
        </p:spPr>
      </p:sp>
      <p:sp>
        <p:nvSpPr>
          <p:cNvPr id="23" name="Text 21"/>
          <p:cNvSpPr/>
          <p:nvPr/>
        </p:nvSpPr>
        <p:spPr>
          <a:xfrm>
            <a:off x="9701784" y="3307080"/>
            <a:ext cx="1618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before release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06240" y="4565904"/>
            <a:ext cx="64008" cy="984504"/>
          </a:xfrm>
          <a:prstGeom prst="rect">
            <a:avLst/>
          </a:prstGeom>
          <a:solidFill>
            <a:srgbClr val="A8CC3A"/>
          </a:solidFill>
          <a:ln/>
        </p:spPr>
      </p:sp>
      <p:sp>
        <p:nvSpPr>
          <p:cNvPr id="25" name="Text 23"/>
          <p:cNvSpPr/>
          <p:nvPr/>
        </p:nvSpPr>
        <p:spPr>
          <a:xfrm>
            <a:off x="4389120" y="4529328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389120" y="4785360"/>
            <a:ext cx="5376672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phone numbers are hidden in system logs and only visible to clinic staff.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10479024" y="454761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A8CC3A"/>
          </a:solidFill>
          <a:ln/>
        </p:spPr>
      </p:sp>
      <p:sp>
        <p:nvSpPr>
          <p:cNvPr id="28" name="Text 26"/>
          <p:cNvSpPr/>
          <p:nvPr/>
        </p:nvSpPr>
        <p:spPr>
          <a:xfrm>
            <a:off x="10479024" y="454761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389120" y="5760720"/>
            <a:ext cx="6931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lead's code reviews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Blockers &amp; Decisions Needed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71516" cy="2377440"/>
          </a:xfrm>
          <a:prstGeom prst="roundRect">
            <a:avLst>
              <a:gd name="adj" fmla="val 3077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783080"/>
            <a:ext cx="5271516" cy="82296"/>
          </a:xfrm>
          <a:prstGeom prst="rect">
            <a:avLst/>
          </a:prstGeom>
          <a:solidFill>
            <a:srgbClr val="E0A33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39112"/>
            <a:ext cx="4722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Blockers &amp; Risks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14400" y="2532888"/>
            <a:ext cx="329184" cy="329184"/>
          </a:xfrm>
          <a:prstGeom prst="ellipse">
            <a:avLst/>
          </a:prstGeom>
          <a:solidFill>
            <a:srgbClr val="E0A33A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2514600"/>
            <a:ext cx="42656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 release waiting on one fix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reminders must be prevented before release. Fix is small and already tested.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Nina Rao @Nina · Expected: next week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77356" y="1783080"/>
            <a:ext cx="5271516" cy="2377440"/>
          </a:xfrm>
          <a:prstGeom prst="roundRect">
            <a:avLst>
              <a:gd name="adj" fmla="val 3077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77356" y="1783080"/>
            <a:ext cx="5271516" cy="82296"/>
          </a:xfrm>
          <a:prstGeom prst="rect">
            <a:avLst/>
          </a:prstGeom>
          <a:solidFill>
            <a:srgbClr val="141412"/>
          </a:solidFill>
          <a:ln/>
        </p:spPr>
      </p:sp>
      <p:sp>
        <p:nvSpPr>
          <p:cNvPr id="12" name="Text 10"/>
          <p:cNvSpPr/>
          <p:nvPr/>
        </p:nvSpPr>
        <p:spPr>
          <a:xfrm>
            <a:off x="6551676" y="2039112"/>
            <a:ext cx="4722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Needed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51676" y="2532888"/>
            <a:ext cx="329184" cy="329184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14" name="Text 12"/>
          <p:cNvSpPr/>
          <p:nvPr/>
        </p:nvSpPr>
        <p:spPr>
          <a:xfrm>
            <a:off x="655167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08876" y="2514600"/>
            <a:ext cx="42656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patients turn off SMS reminders and keep email only?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every patient with a phone number receives SMS reminders; some clinics report complaints.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Options: allow opt-out · clinic decides per patient · keep as today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· Task Tracker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Developer Task Track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453384" cy="4434840"/>
          </a:xfrm>
          <a:prstGeom prst="roundRect">
            <a:avLst>
              <a:gd name="adj" fmla="val 2118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783080"/>
            <a:ext cx="82296" cy="4434840"/>
          </a:xfrm>
          <a:prstGeom prst="rect">
            <a:avLst/>
          </a:prstGeom>
          <a:solidFill>
            <a:srgbClr val="D6E6A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984248"/>
            <a:ext cx="295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 Park @Leo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32688" y="2295144"/>
            <a:ext cx="2950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ClinicBook · Patient App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389888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this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58568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715768" y="2606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32688" y="3200400"/>
            <a:ext cx="2401824" cy="118872"/>
          </a:xfrm>
          <a:prstGeom prst="roundRect">
            <a:avLst>
              <a:gd name="adj" fmla="val 50000"/>
            </a:avLst>
          </a:prstGeom>
          <a:solidFill>
            <a:srgbClr val="E6E8DF"/>
          </a:solidFill>
          <a:ln/>
        </p:spPr>
      </p:sp>
      <p:sp>
        <p:nvSpPr>
          <p:cNvPr id="13" name="Shape 11"/>
          <p:cNvSpPr/>
          <p:nvPr/>
        </p:nvSpPr>
        <p:spPr>
          <a:xfrm>
            <a:off x="932688" y="3200400"/>
            <a:ext cx="1441094" cy="118872"/>
          </a:xfrm>
          <a:prstGeom prst="roundRect">
            <a:avLst>
              <a:gd name="adj" fmla="val 50000"/>
            </a:avLst>
          </a:prstGeom>
          <a:solidFill>
            <a:srgbClr val="D6E6A0"/>
          </a:solidFill>
          <a:ln/>
        </p:spPr>
      </p:sp>
      <p:sp>
        <p:nvSpPr>
          <p:cNvPr id="14" name="Text 12"/>
          <p:cNvSpPr/>
          <p:nvPr/>
        </p:nvSpPr>
        <p:spPr>
          <a:xfrm>
            <a:off x="3334512" y="3127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32688" y="3456432"/>
            <a:ext cx="295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and clinic search done; booking calendar in progress.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32688" y="4069080"/>
            <a:ext cx="2950464" cy="0"/>
          </a:xfrm>
          <a:prstGeom prst="line">
            <a:avLst/>
          </a:prstGeom>
          <a:noFill/>
          <a:ln w="9525">
            <a:solidFill>
              <a:srgbClr val="E0E2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2688" y="4270248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18" name="Text 16"/>
          <p:cNvSpPr/>
          <p:nvPr/>
        </p:nvSpPr>
        <p:spPr>
          <a:xfrm>
            <a:off x="1152144" y="42062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· Accounts &amp; Sign-in (3/3)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32688" y="4727448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20" name="Text 18"/>
          <p:cNvSpPr/>
          <p:nvPr/>
        </p:nvSpPr>
        <p:spPr>
          <a:xfrm>
            <a:off x="1152144" y="46634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· Clinic Search &amp; Maps (5/5)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32688" y="5184648"/>
            <a:ext cx="118872" cy="118872"/>
          </a:xfrm>
          <a:prstGeom prst="ellipse">
            <a:avLst/>
          </a:prstGeom>
          <a:solidFill>
            <a:srgbClr val="D6E6A0"/>
          </a:solidFill>
          <a:ln/>
        </p:spPr>
      </p:sp>
      <p:sp>
        <p:nvSpPr>
          <p:cNvPr id="22" name="Text 20"/>
          <p:cNvSpPr/>
          <p:nvPr/>
        </p:nvSpPr>
        <p:spPr>
          <a:xfrm>
            <a:off x="1152144" y="51206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· Booking Calendar (2/5)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32688" y="5641848"/>
            <a:ext cx="118872" cy="118872"/>
          </a:xfrm>
          <a:prstGeom prst="ellipse">
            <a:avLst/>
          </a:prstGeom>
          <a:solidFill>
            <a:srgbClr val="E6E8DF"/>
          </a:solidFill>
          <a:ln/>
        </p:spPr>
      </p:sp>
      <p:sp>
        <p:nvSpPr>
          <p:cNvPr id="24" name="Text 22"/>
          <p:cNvSpPr/>
          <p:nvPr/>
        </p:nvSpPr>
        <p:spPr>
          <a:xfrm>
            <a:off x="1152144" y="55778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· Payments &amp; Receipts (0/4)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67784" y="1783080"/>
            <a:ext cx="3453384" cy="4434840"/>
          </a:xfrm>
          <a:prstGeom prst="roundRect">
            <a:avLst>
              <a:gd name="adj" fmla="val 2118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67784" y="1783080"/>
            <a:ext cx="82296" cy="4434840"/>
          </a:xfrm>
          <a:prstGeom prst="rect">
            <a:avLst/>
          </a:prstGeom>
          <a:solidFill>
            <a:srgbClr val="D6E6A0"/>
          </a:solidFill>
          <a:ln/>
        </p:spPr>
      </p:sp>
      <p:sp>
        <p:nvSpPr>
          <p:cNvPr id="27" name="Text 25"/>
          <p:cNvSpPr/>
          <p:nvPr/>
        </p:nvSpPr>
        <p:spPr>
          <a:xfrm>
            <a:off x="4660392" y="1984248"/>
            <a:ext cx="295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Nina Rao @Nina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660392" y="2295144"/>
            <a:ext cx="2950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ClinicBook · Clinic Dashboard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660392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5117592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this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986272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6443472" y="2606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660392" y="3200400"/>
            <a:ext cx="2401824" cy="118872"/>
          </a:xfrm>
          <a:prstGeom prst="roundRect">
            <a:avLst>
              <a:gd name="adj" fmla="val 50000"/>
            </a:avLst>
          </a:prstGeom>
          <a:solidFill>
            <a:srgbClr val="E6E8DF"/>
          </a:solidFill>
          <a:ln/>
        </p:spPr>
      </p:sp>
      <p:sp>
        <p:nvSpPr>
          <p:cNvPr id="34" name="Shape 32"/>
          <p:cNvSpPr/>
          <p:nvPr/>
        </p:nvSpPr>
        <p:spPr>
          <a:xfrm>
            <a:off x="4660392" y="3200400"/>
            <a:ext cx="1681277" cy="118872"/>
          </a:xfrm>
          <a:prstGeom prst="roundRect">
            <a:avLst>
              <a:gd name="adj" fmla="val 50000"/>
            </a:avLst>
          </a:prstGeom>
          <a:solidFill>
            <a:srgbClr val="D6E6A0"/>
          </a:solidFill>
          <a:ln/>
        </p:spPr>
      </p:sp>
      <p:sp>
        <p:nvSpPr>
          <p:cNvPr id="35" name="Text 33"/>
          <p:cNvSpPr/>
          <p:nvPr/>
        </p:nvSpPr>
        <p:spPr>
          <a:xfrm>
            <a:off x="7062216" y="3127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660392" y="3456432"/>
            <a:ext cx="295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and schedules done; reminders in final review.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660392" y="4069080"/>
            <a:ext cx="2950464" cy="0"/>
          </a:xfrm>
          <a:prstGeom prst="line">
            <a:avLst/>
          </a:prstGeom>
          <a:noFill/>
          <a:ln w="9525">
            <a:solidFill>
              <a:srgbClr val="E0E2D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60392" y="4270248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39" name="Text 37"/>
          <p:cNvSpPr/>
          <p:nvPr/>
        </p:nvSpPr>
        <p:spPr>
          <a:xfrm>
            <a:off x="4879848" y="42062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· Clinic Onboarding (3/3)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660392" y="4727448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41" name="Text 39"/>
          <p:cNvSpPr/>
          <p:nvPr/>
        </p:nvSpPr>
        <p:spPr>
          <a:xfrm>
            <a:off x="4879848" y="46634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· Doctor Schedules (5/5)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660392" y="5184648"/>
            <a:ext cx="118872" cy="118872"/>
          </a:xfrm>
          <a:prstGeom prst="ellipse">
            <a:avLst/>
          </a:prstGeom>
          <a:solidFill>
            <a:srgbClr val="D6E6A0"/>
          </a:solidFill>
          <a:ln/>
        </p:spPr>
      </p:sp>
      <p:sp>
        <p:nvSpPr>
          <p:cNvPr id="43" name="Text 41"/>
          <p:cNvSpPr/>
          <p:nvPr/>
        </p:nvSpPr>
        <p:spPr>
          <a:xfrm>
            <a:off x="4879848" y="51206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· Reminders, in review (5/5)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660392" y="5641848"/>
            <a:ext cx="118872" cy="118872"/>
          </a:xfrm>
          <a:prstGeom prst="ellipse">
            <a:avLst/>
          </a:prstGeom>
          <a:solidFill>
            <a:srgbClr val="E6E8DF"/>
          </a:solidFill>
          <a:ln/>
        </p:spPr>
      </p:sp>
      <p:sp>
        <p:nvSpPr>
          <p:cNvPr id="45" name="Text 43"/>
          <p:cNvSpPr/>
          <p:nvPr/>
        </p:nvSpPr>
        <p:spPr>
          <a:xfrm>
            <a:off x="4879848" y="55778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· Reports &amp; Exports (0/3)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095488" y="1783080"/>
            <a:ext cx="3453384" cy="4434840"/>
          </a:xfrm>
          <a:prstGeom prst="roundRect">
            <a:avLst>
              <a:gd name="adj" fmla="val 2118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8095488" y="1783080"/>
            <a:ext cx="82296" cy="4434840"/>
          </a:xfrm>
          <a:prstGeom prst="rect">
            <a:avLst/>
          </a:prstGeom>
          <a:solidFill>
            <a:srgbClr val="D6E6A0"/>
          </a:solidFill>
          <a:ln/>
        </p:spPr>
      </p:sp>
      <p:sp>
        <p:nvSpPr>
          <p:cNvPr id="48" name="Text 46"/>
          <p:cNvSpPr/>
          <p:nvPr/>
        </p:nvSpPr>
        <p:spPr>
          <a:xfrm>
            <a:off x="8388096" y="1984248"/>
            <a:ext cx="295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 Lin @Maya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8388096" y="2295144"/>
            <a:ext cx="2950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PulseBoard · Analytics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8388096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51" name="Text 49"/>
          <p:cNvSpPr/>
          <p:nvPr/>
        </p:nvSpPr>
        <p:spPr>
          <a:xfrm>
            <a:off x="8845296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this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9713976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53" name="Text 51"/>
          <p:cNvSpPr/>
          <p:nvPr/>
        </p:nvSpPr>
        <p:spPr>
          <a:xfrm>
            <a:off x="10171176" y="2606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388096" y="3200400"/>
            <a:ext cx="2401824" cy="118872"/>
          </a:xfrm>
          <a:prstGeom prst="roundRect">
            <a:avLst>
              <a:gd name="adj" fmla="val 50000"/>
            </a:avLst>
          </a:prstGeom>
          <a:solidFill>
            <a:srgbClr val="E6E8DF"/>
          </a:solidFill>
          <a:ln/>
        </p:spPr>
      </p:sp>
      <p:sp>
        <p:nvSpPr>
          <p:cNvPr id="55" name="Shape 53"/>
          <p:cNvSpPr/>
          <p:nvPr/>
        </p:nvSpPr>
        <p:spPr>
          <a:xfrm>
            <a:off x="8388096" y="3200400"/>
            <a:ext cx="1801368" cy="118872"/>
          </a:xfrm>
          <a:prstGeom prst="roundRect">
            <a:avLst>
              <a:gd name="adj" fmla="val 50000"/>
            </a:avLst>
          </a:prstGeom>
          <a:solidFill>
            <a:srgbClr val="D6E6A0"/>
          </a:solidFill>
          <a:ln/>
        </p:spPr>
      </p:sp>
      <p:sp>
        <p:nvSpPr>
          <p:cNvPr id="56" name="Text 54"/>
          <p:cNvSpPr/>
          <p:nvPr/>
        </p:nvSpPr>
        <p:spPr>
          <a:xfrm>
            <a:off x="10789920" y="3127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388096" y="3456432"/>
            <a:ext cx="295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transfer done; usage tracking rolling out.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388096" y="4069080"/>
            <a:ext cx="2950464" cy="0"/>
          </a:xfrm>
          <a:prstGeom prst="line">
            <a:avLst/>
          </a:prstGeom>
          <a:noFill/>
          <a:ln w="9525">
            <a:solidFill>
              <a:srgbClr val="E0E2D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388096" y="4270248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60" name="Text 58"/>
          <p:cNvSpPr/>
          <p:nvPr/>
        </p:nvSpPr>
        <p:spPr>
          <a:xfrm>
            <a:off x="8607552" y="42062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transfer to new system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388096" y="4727448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62" name="Text 60"/>
          <p:cNvSpPr/>
          <p:nvPr/>
        </p:nvSpPr>
        <p:spPr>
          <a:xfrm>
            <a:off x="8607552" y="46634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plan agreed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388096" y="5184648"/>
            <a:ext cx="118872" cy="118872"/>
          </a:xfrm>
          <a:prstGeom prst="ellipse">
            <a:avLst/>
          </a:prstGeom>
          <a:solidFill>
            <a:srgbClr val="D6E6A0"/>
          </a:solidFill>
          <a:ln/>
        </p:spPr>
      </p:sp>
      <p:sp>
        <p:nvSpPr>
          <p:cNvPr id="64" name="Text 62"/>
          <p:cNvSpPr/>
          <p:nvPr/>
        </p:nvSpPr>
        <p:spPr>
          <a:xfrm>
            <a:off x="8607552" y="51206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tracking rollout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88096" y="5641848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66" name="Text 64"/>
          <p:cNvSpPr/>
          <p:nvPr/>
        </p:nvSpPr>
        <p:spPr>
          <a:xfrm>
            <a:off x="8607552" y="55778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reviews, 3 features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640080" y="63093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B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Done/Open = planned tasks this week; work in review stays open until approved.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Activity · GitHub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Delivery Activity This Week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7680960" cy="4434840"/>
          </a:xfrm>
          <a:prstGeom prst="roundRect">
            <a:avLst>
              <a:gd name="adj" fmla="val 1649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777240" y="1965960"/>
          <a:ext cx="74066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914400" y="57607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GitHub activity this week.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8641080" y="1783080"/>
            <a:ext cx="2907792" cy="1356360"/>
          </a:xfrm>
          <a:prstGeom prst="roundRect">
            <a:avLst>
              <a:gd name="adj" fmla="val 5393"/>
            </a:avLst>
          </a:prstGeom>
          <a:solidFill>
            <a:srgbClr val="141412"/>
          </a:solidFill>
          <a:ln/>
        </p:spPr>
      </p:sp>
      <p:sp>
        <p:nvSpPr>
          <p:cNvPr id="8" name="Text 5"/>
          <p:cNvSpPr/>
          <p:nvPr/>
        </p:nvSpPr>
        <p:spPr>
          <a:xfrm>
            <a:off x="8869680" y="1892808"/>
            <a:ext cx="2450592" cy="7459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A8C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8869680" y="2596896"/>
            <a:ext cx="2450592" cy="47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approved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641080" y="3322320"/>
            <a:ext cx="2907792" cy="1356360"/>
          </a:xfrm>
          <a:prstGeom prst="roundRect">
            <a:avLst>
              <a:gd name="adj" fmla="val 5393"/>
            </a:avLst>
          </a:prstGeom>
          <a:solidFill>
            <a:srgbClr val="FFFFF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69680" y="3432048"/>
            <a:ext cx="2450592" cy="7459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869680" y="4136136"/>
            <a:ext cx="2450592" cy="47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final review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641080" y="4861560"/>
            <a:ext cx="2907792" cy="1356360"/>
          </a:xfrm>
          <a:prstGeom prst="roundRect">
            <a:avLst>
              <a:gd name="adj" fmla="val 5393"/>
            </a:avLst>
          </a:prstGeom>
          <a:solidFill>
            <a:srgbClr val="FFFFF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869680" y="4971288"/>
            <a:ext cx="2450592" cy="7459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8869680" y="5675376"/>
            <a:ext cx="2450592" cy="47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reviews completed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Ahead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Week's Plan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90879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920240"/>
                <a:gridCol w="4965192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/ track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focus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ClinicBook · Patient App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 Park @Leo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 the booking calendar, then start payments and receipts.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 · 40%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6A0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ClinicBook · Clinic Dashboard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Nina Rao @Nina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Apply the duplicate-reminder fix and release reminders; start reports and exports.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 · 80%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6A0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PulseBoard · Usage Tracking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Maya Lin @Maya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 adding usage tracking to the web app, then open the first dashboard to managers.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6A0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Store Release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Maya Lin @Maya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Invite the first 20 clinic staff to TestFlight.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CC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1VHyyi/logo_trimm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7680960" y="2743200"/>
            <a:ext cx="6035040" cy="6987624"/>
          </a:xfrm>
          <a:prstGeom prst="rect">
            <a:avLst/>
          </a:prstGeom>
        </p:spPr>
      </p:pic>
      <p:pic>
        <p:nvPicPr>
          <p:cNvPr id="3" name="Image 1" descr="/var/folders/lw/rmylcyvd5rjfxk9g1z9rrm8w0000gq/T/showship-deck-1VHyyi/logo_trimm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138" y="452628"/>
            <a:ext cx="544924" cy="63093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0" y="10698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5" name="Text 1"/>
          <p:cNvSpPr/>
          <p:nvPr/>
        </p:nvSpPr>
        <p:spPr>
          <a:xfrm>
            <a:off x="640080" y="26517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6" name="Text 2"/>
          <p:cNvSpPr/>
          <p:nvPr/>
        </p:nvSpPr>
        <p:spPr>
          <a:xfrm>
            <a:off x="640080" y="370332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Questions?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731520" y="5760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731520" y="60167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 Lin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7315200" y="5760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8B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7315200" y="60167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9, 2026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2026-10-11T16:36:19Z</dcterms:created>
  <dcterms:modified xsi:type="dcterms:W3CDTF">2026-10-11T16:36:19Z</dcterms:modified>
</cp:coreProperties>
</file>