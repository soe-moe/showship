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Combined Progress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1412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6E8D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65</c:v>
                </c:pt>
                <c:pt idx="1">
                  <c:v>35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 App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A8CC3A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6E8D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40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Clinic Dashboard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A8CC3A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6E8D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A8CC3A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D6E6A0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40</c:v>
                </c:pt>
                <c:pt idx="3">
                  <c:v>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1414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5DC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A8CC3A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D6E6A0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1414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5DC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A8C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414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D6E6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8A8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414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414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5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JidNvZ/logo_trimm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680960" y="2743200"/>
            <a:ext cx="6035040" cy="6987624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JidNvZ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138" y="452628"/>
            <a:ext cx="544924" cy="63093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10698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731520" y="2788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</a:t>
            </a:r>
            <a:endParaRPr lang="en-US" sz="1500" dirty="0"/>
          </a:p>
        </p:txBody>
      </p:sp>
      <p:sp>
        <p:nvSpPr>
          <p:cNvPr id="6" name="Text 2"/>
          <p:cNvSpPr/>
          <p:nvPr/>
        </p:nvSpPr>
        <p:spPr>
          <a:xfrm>
            <a:off x="685800" y="3154680"/>
            <a:ext cx="9601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Development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Report</a:t>
            </a:r>
            <a:endParaRPr lang="en-US" sz="4400" dirty="0"/>
          </a:p>
        </p:txBody>
      </p:sp>
      <p:sp>
        <p:nvSpPr>
          <p:cNvPr id="7" name="Text 3"/>
          <p:cNvSpPr/>
          <p:nvPr/>
        </p:nvSpPr>
        <p:spPr>
          <a:xfrm>
            <a:off x="73152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31520" y="6016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Lin @Maya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31520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315200" y="6016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9,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 at a Glance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392424" cy="3291840"/>
          </a:xfrm>
          <a:prstGeom prst="roundRect">
            <a:avLst>
              <a:gd name="adj" fmla="val 222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74520"/>
            <a:ext cx="3392424" cy="82296"/>
          </a:xfrm>
          <a:prstGeom prst="rect">
            <a:avLst/>
          </a:prstGeom>
          <a:solidFill>
            <a:srgbClr val="A8CC3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914400" y="3566160"/>
            <a:ext cx="918972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566160"/>
            <a:ext cx="9189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Account Verified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approved our company account; the app is now in TestFlight.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98264" y="1874520"/>
            <a:ext cx="3392424" cy="3291840"/>
          </a:xfrm>
          <a:prstGeom prst="roundRect">
            <a:avLst>
              <a:gd name="adj" fmla="val 222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98264" y="1874520"/>
            <a:ext cx="3392424" cy="82296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14" name="Text 12"/>
          <p:cNvSpPr/>
          <p:nvPr/>
        </p:nvSpPr>
        <p:spPr>
          <a:xfrm>
            <a:off x="4672584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72584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5400" dirty="0"/>
          </a:p>
        </p:txBody>
      </p:sp>
      <p:sp>
        <p:nvSpPr>
          <p:cNvPr id="16" name="Shape 14"/>
          <p:cNvSpPr/>
          <p:nvPr/>
        </p:nvSpPr>
        <p:spPr>
          <a:xfrm>
            <a:off x="4672584" y="3566160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356616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72584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8 Phases Complete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72584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 and clinic dashboard are being built in parallel.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56448" y="1874520"/>
            <a:ext cx="3392424" cy="3291840"/>
          </a:xfrm>
          <a:prstGeom prst="roundRect">
            <a:avLst>
              <a:gd name="adj" fmla="val 222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56448" y="1874520"/>
            <a:ext cx="3392424" cy="82296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22" name="Text 20"/>
          <p:cNvSpPr/>
          <p:nvPr/>
        </p:nvSpPr>
        <p:spPr>
          <a:xfrm>
            <a:off x="8430768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430768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/ 2</a:t>
            </a:r>
            <a:endParaRPr lang="en-US" sz="5400" dirty="0"/>
          </a:p>
        </p:txBody>
      </p:sp>
      <p:sp>
        <p:nvSpPr>
          <p:cNvPr id="24" name="Shape 22"/>
          <p:cNvSpPr/>
          <p:nvPr/>
        </p:nvSpPr>
        <p:spPr>
          <a:xfrm>
            <a:off x="8430768" y="3566160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25" name="Text 23"/>
          <p:cNvSpPr/>
          <p:nvPr/>
        </p:nvSpPr>
        <p:spPr>
          <a:xfrm>
            <a:off x="8430768" y="356616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30768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Workstreams Complete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430768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transfer to the new system finished; usage tracking is being rolled out.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5532120"/>
            <a:ext cx="10908792" cy="640080"/>
          </a:xfrm>
          <a:prstGeom prst="roundRect">
            <a:avLst>
              <a:gd name="adj" fmla="val 11429"/>
            </a:avLst>
          </a:prstGeom>
          <a:solidFill>
            <a:srgbClr val="141412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5532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update 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decision is needed this week: can patients turn off SMS reminders and keep email only? (see Decisions Needed)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· App Store Release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Store: Developer Account Verified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45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935099" y="3017520"/>
            <a:ext cx="8321497" cy="0"/>
          </a:xfrm>
          <a:prstGeom prst="line">
            <a:avLst/>
          </a:prstGeom>
          <a:noFill/>
          <a:ln w="38100">
            <a:solidFill>
              <a:srgbClr val="A8CC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79067" y="276148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E0A3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9067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0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0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for the company's D-U-N-S business number.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52899" y="2761488"/>
            <a:ext cx="512064" cy="512064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3" name="Text 11"/>
          <p:cNvSpPr/>
          <p:nvPr/>
        </p:nvSpPr>
        <p:spPr>
          <a:xfrm>
            <a:off x="4452899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13912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13912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Received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05352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provided the D-U-N-S number.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26732" y="2761488"/>
            <a:ext cx="512064" cy="512064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8" name="Text 16"/>
          <p:cNvSpPr/>
          <p:nvPr/>
        </p:nvSpPr>
        <p:spPr>
          <a:xfrm>
            <a:off x="7226732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187745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87745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Verified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79185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verified the company developer account.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927412" y="2688336"/>
            <a:ext cx="658368" cy="658368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23" name="Text 21"/>
          <p:cNvSpPr/>
          <p:nvPr/>
        </p:nvSpPr>
        <p:spPr>
          <a:xfrm>
            <a:off x="9927412" y="26883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961577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961577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TestFlight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053017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build available to internal testers.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5486400"/>
            <a:ext cx="10908792" cy="777240"/>
          </a:xfrm>
          <a:prstGeom prst="roundRect">
            <a:avLst>
              <a:gd name="adj" fmla="val 941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14400" y="54864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Impact:  </a:t>
            </a:r>
            <a:pPr indent="0" marL="0">
              <a:buNone/>
            </a:pPr>
            <a:r>
              <a:rPr lang="en-US" sz="135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is published under the company's own verified account, ready for beta testers.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Progress 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392424" cy="2971800"/>
          </a:xfrm>
          <a:prstGeom prst="roundRect">
            <a:avLst>
              <a:gd name="adj" fmla="val 246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1376172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1376172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22960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Progress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 + Clinic dashboard · 8 phases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98264" y="1783080"/>
            <a:ext cx="3392424" cy="2971800"/>
          </a:xfrm>
          <a:prstGeom prst="roundRect">
            <a:avLst>
              <a:gd name="adj" fmla="val 246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graphicFrame>
        <p:nvGraphicFramePr>
          <p:cNvPr id="10" name="Chart 1" descr=""/>
          <p:cNvGraphicFramePr/>
          <p:nvPr/>
        </p:nvGraphicFramePr>
        <p:xfrm>
          <a:off x="5134356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/>
          <p:nvPr/>
        </p:nvSpPr>
        <p:spPr>
          <a:xfrm>
            <a:off x="5134356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4581144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81144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Leo Park @Leo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56448" y="1783080"/>
            <a:ext cx="3392424" cy="2971800"/>
          </a:xfrm>
          <a:prstGeom prst="roundRect">
            <a:avLst>
              <a:gd name="adj" fmla="val 2462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graphicFrame>
        <p:nvGraphicFramePr>
          <p:cNvPr id="15" name="Chart 2" descr=""/>
          <p:cNvGraphicFramePr/>
          <p:nvPr/>
        </p:nvGraphicFramePr>
        <p:xfrm>
          <a:off x="8892540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 11"/>
          <p:cNvSpPr/>
          <p:nvPr/>
        </p:nvSpPr>
        <p:spPr>
          <a:xfrm>
            <a:off x="8892540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2400" dirty="0"/>
          </a:p>
        </p:txBody>
      </p:sp>
      <p:sp>
        <p:nvSpPr>
          <p:cNvPr id="17" name="Text 12"/>
          <p:cNvSpPr/>
          <p:nvPr/>
        </p:nvSpPr>
        <p:spPr>
          <a:xfrm>
            <a:off x="8339328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Dashboard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39328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Nina Rao @Nina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40080" y="4983480"/>
            <a:ext cx="339242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0080" y="4983480"/>
            <a:ext cx="91440" cy="868680"/>
          </a:xfrm>
          <a:prstGeom prst="rect">
            <a:avLst/>
          </a:prstGeom>
          <a:solidFill>
            <a:srgbClr val="A8CC3A"/>
          </a:solidFill>
          <a:ln/>
        </p:spPr>
      </p:sp>
      <p:sp>
        <p:nvSpPr>
          <p:cNvPr id="21" name="Text 16"/>
          <p:cNvSpPr/>
          <p:nvPr/>
        </p:nvSpPr>
        <p:spPr>
          <a:xfrm>
            <a:off x="914400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/>
          <p:nvPr/>
        </p:nvSpPr>
        <p:spPr>
          <a:xfrm>
            <a:off x="1645920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Completed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4398264" y="4983480"/>
            <a:ext cx="339242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398264" y="4983480"/>
            <a:ext cx="91440" cy="868680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25" name="Text 20"/>
          <p:cNvSpPr/>
          <p:nvPr/>
        </p:nvSpPr>
        <p:spPr>
          <a:xfrm>
            <a:off x="4672584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26" name="Text 21"/>
          <p:cNvSpPr/>
          <p:nvPr/>
        </p:nvSpPr>
        <p:spPr>
          <a:xfrm>
            <a:off x="5404104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In Progress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8156448" y="4983480"/>
            <a:ext cx="3392424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156448" y="4983480"/>
            <a:ext cx="91440" cy="868680"/>
          </a:xfrm>
          <a:prstGeom prst="rect">
            <a:avLst/>
          </a:prstGeom>
          <a:solidFill>
            <a:srgbClr val="E6E8DF"/>
          </a:solidFill>
          <a:ln/>
        </p:spPr>
      </p:sp>
      <p:sp>
        <p:nvSpPr>
          <p:cNvPr id="29" name="Text 24"/>
          <p:cNvSpPr/>
          <p:nvPr/>
        </p:nvSpPr>
        <p:spPr>
          <a:xfrm>
            <a:off x="8430768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30" name="Text 25"/>
          <p:cNvSpPr/>
          <p:nvPr/>
        </p:nvSpPr>
        <p:spPr>
          <a:xfrm>
            <a:off x="9162288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Not Started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Phase Breakdown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ClinicBook: Status of Each Phase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71516" cy="4434840"/>
          </a:xfrm>
          <a:prstGeom prst="roundRect">
            <a:avLst>
              <a:gd name="adj" fmla="val 1649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68396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 Leo Park @Leo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77240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914400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calendar underway; payments are next.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7356" y="1783080"/>
            <a:ext cx="5271516" cy="4434840"/>
          </a:xfrm>
          <a:prstGeom prst="roundRect">
            <a:avLst>
              <a:gd name="adj" fmla="val 1649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51676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805672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Dev: Nina Rao @Nina</a:t>
            </a:r>
            <a:endParaRPr lang="en-US" sz="12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6414516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6551676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are in final review; 4 of 5 parts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· Code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Check: Issues Caught Before Release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017520" cy="4434840"/>
          </a:xfrm>
          <a:prstGeom prst="roundRect">
            <a:avLst>
              <a:gd name="adj" fmla="val 2424"/>
            </a:avLst>
          </a:prstGeom>
          <a:solidFill>
            <a:srgbClr val="14141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01168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A8C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280720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reviewed this week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331927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33756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914400" y="413308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release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464515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66344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14400" y="545896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 (100%)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977640" y="1783080"/>
            <a:ext cx="7571232" cy="4434840"/>
          </a:xfrm>
          <a:prstGeom prst="roundRect">
            <a:avLst>
              <a:gd name="adj" fmla="val 1649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206240" y="2084832"/>
            <a:ext cx="64008" cy="984504"/>
          </a:xfrm>
          <a:prstGeom prst="rect">
            <a:avLst/>
          </a:prstGeom>
          <a:solidFill>
            <a:srgbClr val="A8CC3A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0" y="2048256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Reminders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89120" y="2304288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Clinics can send SMS and email reminders 24 hours and 2 hours before each appointment.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479024" y="2066544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18" name="Text 16"/>
          <p:cNvSpPr/>
          <p:nvPr/>
        </p:nvSpPr>
        <p:spPr>
          <a:xfrm>
            <a:off x="10479024" y="2066544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06240" y="3325368"/>
            <a:ext cx="64008" cy="984504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20" name="Text 18"/>
          <p:cNvSpPr/>
          <p:nvPr/>
        </p:nvSpPr>
        <p:spPr>
          <a:xfrm>
            <a:off x="4389120" y="3288792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89120" y="3544824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could receive the same reminder twice if sending is retried. Small fix identified.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701784" y="3307080"/>
            <a:ext cx="1618488" cy="292608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23" name="Text 21"/>
          <p:cNvSpPr/>
          <p:nvPr/>
        </p:nvSpPr>
        <p:spPr>
          <a:xfrm>
            <a:off x="9701784" y="3307080"/>
            <a:ext cx="1618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06240" y="4565904"/>
            <a:ext cx="64008" cy="984504"/>
          </a:xfrm>
          <a:prstGeom prst="rect">
            <a:avLst/>
          </a:prstGeom>
          <a:solidFill>
            <a:srgbClr val="A8CC3A"/>
          </a:solidFill>
          <a:ln/>
        </p:spPr>
      </p:sp>
      <p:sp>
        <p:nvSpPr>
          <p:cNvPr id="25" name="Text 23"/>
          <p:cNvSpPr/>
          <p:nvPr/>
        </p:nvSpPr>
        <p:spPr>
          <a:xfrm>
            <a:off x="4389120" y="4529328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89120" y="4785360"/>
            <a:ext cx="5376672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phone numbers are hidden in system logs and only visible to clinic staff.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479024" y="454761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A8CC3A"/>
          </a:solidFill>
          <a:ln/>
        </p:spPr>
      </p:sp>
      <p:sp>
        <p:nvSpPr>
          <p:cNvPr id="28" name="Text 26"/>
          <p:cNvSpPr/>
          <p:nvPr/>
        </p:nvSpPr>
        <p:spPr>
          <a:xfrm>
            <a:off x="10479024" y="454761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389120" y="5760720"/>
            <a:ext cx="6931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Blockers &amp; Decisions Needed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71516" cy="2377440"/>
          </a:xfrm>
          <a:prstGeom prst="roundRect">
            <a:avLst>
              <a:gd name="adj" fmla="val 3077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5271516" cy="82296"/>
          </a:xfrm>
          <a:prstGeom prst="rect">
            <a:avLst/>
          </a:prstGeom>
          <a:solidFill>
            <a:srgbClr val="E0A33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Blockers &amp; Risks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2532888"/>
            <a:ext cx="329184" cy="329184"/>
          </a:xfrm>
          <a:prstGeom prst="ellipse">
            <a:avLst/>
          </a:prstGeom>
          <a:solidFill>
            <a:srgbClr val="E0A33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release waiting on one fix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reminders must be prevented before release. Fix is small and already tested.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Nina Rao @Nina · Expected: next week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77356" y="1783080"/>
            <a:ext cx="5271516" cy="2377440"/>
          </a:xfrm>
          <a:prstGeom prst="roundRect">
            <a:avLst>
              <a:gd name="adj" fmla="val 3077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77356" y="1783080"/>
            <a:ext cx="5271516" cy="82296"/>
          </a:xfrm>
          <a:prstGeom prst="rect">
            <a:avLst/>
          </a:prstGeom>
          <a:solidFill>
            <a:srgbClr val="141412"/>
          </a:solidFill>
          <a:ln/>
        </p:spPr>
      </p:sp>
      <p:sp>
        <p:nvSpPr>
          <p:cNvPr id="12" name="Text 10"/>
          <p:cNvSpPr/>
          <p:nvPr/>
        </p:nvSpPr>
        <p:spPr>
          <a:xfrm>
            <a:off x="6551676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51676" y="2532888"/>
            <a:ext cx="329184" cy="329184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4" name="Text 12"/>
          <p:cNvSpPr/>
          <p:nvPr/>
        </p:nvSpPr>
        <p:spPr>
          <a:xfrm>
            <a:off x="655167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08876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patients turn off SMS reminders and keep email only?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every patient with a phone number receives SMS reminders; some clinics report complaints.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Options: allow opt-out · clinic decides per patient · keep as today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· Task Tracker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 Task Track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53384" cy="4434840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783080"/>
            <a:ext cx="82296" cy="4434840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 Park @Leo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89888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5856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715768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32688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6E8DF"/>
          </a:solidFill>
          <a:ln/>
        </p:spPr>
      </p:sp>
      <p:sp>
        <p:nvSpPr>
          <p:cNvPr id="13" name="Shape 11"/>
          <p:cNvSpPr/>
          <p:nvPr/>
        </p:nvSpPr>
        <p:spPr>
          <a:xfrm>
            <a:off x="932688" y="3200400"/>
            <a:ext cx="1441094" cy="118872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14" name="Text 12"/>
          <p:cNvSpPr/>
          <p:nvPr/>
        </p:nvSpPr>
        <p:spPr>
          <a:xfrm>
            <a:off x="3334512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2688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2688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42702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18" name="Text 16"/>
          <p:cNvSpPr/>
          <p:nvPr/>
        </p:nvSpPr>
        <p:spPr>
          <a:xfrm>
            <a:off x="1152144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32688" y="47274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20" name="Text 18"/>
          <p:cNvSpPr/>
          <p:nvPr/>
        </p:nvSpPr>
        <p:spPr>
          <a:xfrm>
            <a:off x="1152144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32688" y="5184648"/>
            <a:ext cx="118872" cy="118872"/>
          </a:xfrm>
          <a:prstGeom prst="ellipse">
            <a:avLst/>
          </a:prstGeom>
          <a:solidFill>
            <a:srgbClr val="D6E6A0"/>
          </a:solidFill>
          <a:ln/>
        </p:spPr>
      </p:sp>
      <p:sp>
        <p:nvSpPr>
          <p:cNvPr id="22" name="Text 20"/>
          <p:cNvSpPr/>
          <p:nvPr/>
        </p:nvSpPr>
        <p:spPr>
          <a:xfrm>
            <a:off x="1152144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2688" y="5641848"/>
            <a:ext cx="118872" cy="118872"/>
          </a:xfrm>
          <a:prstGeom prst="ellipse">
            <a:avLst/>
          </a:prstGeom>
          <a:solidFill>
            <a:srgbClr val="E6E8DF"/>
          </a:solidFill>
          <a:ln/>
        </p:spPr>
      </p:sp>
      <p:sp>
        <p:nvSpPr>
          <p:cNvPr id="24" name="Text 22"/>
          <p:cNvSpPr/>
          <p:nvPr/>
        </p:nvSpPr>
        <p:spPr>
          <a:xfrm>
            <a:off x="1152144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67784" y="1783080"/>
            <a:ext cx="3453384" cy="4434840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367784" y="1783080"/>
            <a:ext cx="82296" cy="4434840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27" name="Text 25"/>
          <p:cNvSpPr/>
          <p:nvPr/>
        </p:nvSpPr>
        <p:spPr>
          <a:xfrm>
            <a:off x="4660392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Nina Rao @Nina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660392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66039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5117592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98627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6443472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60392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6E8DF"/>
          </a:solidFill>
          <a:ln/>
        </p:spPr>
      </p:sp>
      <p:sp>
        <p:nvSpPr>
          <p:cNvPr id="34" name="Shape 32"/>
          <p:cNvSpPr/>
          <p:nvPr/>
        </p:nvSpPr>
        <p:spPr>
          <a:xfrm>
            <a:off x="4660392" y="3200400"/>
            <a:ext cx="1681277" cy="118872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35" name="Text 33"/>
          <p:cNvSpPr/>
          <p:nvPr/>
        </p:nvSpPr>
        <p:spPr>
          <a:xfrm>
            <a:off x="7062216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660392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660392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60392" y="42702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39" name="Text 37"/>
          <p:cNvSpPr/>
          <p:nvPr/>
        </p:nvSpPr>
        <p:spPr>
          <a:xfrm>
            <a:off x="4879848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660392" y="47274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41" name="Text 39"/>
          <p:cNvSpPr/>
          <p:nvPr/>
        </p:nvSpPr>
        <p:spPr>
          <a:xfrm>
            <a:off x="4879848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660392" y="5184648"/>
            <a:ext cx="118872" cy="118872"/>
          </a:xfrm>
          <a:prstGeom prst="ellipse">
            <a:avLst/>
          </a:prstGeom>
          <a:solidFill>
            <a:srgbClr val="D6E6A0"/>
          </a:solidFill>
          <a:ln/>
        </p:spPr>
      </p:sp>
      <p:sp>
        <p:nvSpPr>
          <p:cNvPr id="43" name="Text 41"/>
          <p:cNvSpPr/>
          <p:nvPr/>
        </p:nvSpPr>
        <p:spPr>
          <a:xfrm>
            <a:off x="4879848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660392" y="5641848"/>
            <a:ext cx="118872" cy="118872"/>
          </a:xfrm>
          <a:prstGeom prst="ellipse">
            <a:avLst/>
          </a:prstGeom>
          <a:solidFill>
            <a:srgbClr val="E6E8DF"/>
          </a:solidFill>
          <a:ln/>
        </p:spPr>
      </p:sp>
      <p:sp>
        <p:nvSpPr>
          <p:cNvPr id="45" name="Text 43"/>
          <p:cNvSpPr/>
          <p:nvPr/>
        </p:nvSpPr>
        <p:spPr>
          <a:xfrm>
            <a:off x="4879848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095488" y="1783080"/>
            <a:ext cx="3453384" cy="4434840"/>
          </a:xfrm>
          <a:prstGeom prst="roundRect">
            <a:avLst>
              <a:gd name="adj" fmla="val 2118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8095488" y="1783080"/>
            <a:ext cx="82296" cy="4434840"/>
          </a:xfrm>
          <a:prstGeom prst="rect">
            <a:avLst/>
          </a:prstGeom>
          <a:solidFill>
            <a:srgbClr val="D6E6A0"/>
          </a:solidFill>
          <a:ln/>
        </p:spPr>
      </p:sp>
      <p:sp>
        <p:nvSpPr>
          <p:cNvPr id="48" name="Text 46"/>
          <p:cNvSpPr/>
          <p:nvPr/>
        </p:nvSpPr>
        <p:spPr>
          <a:xfrm>
            <a:off x="8388096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388096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838809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51" name="Text 49"/>
          <p:cNvSpPr/>
          <p:nvPr/>
        </p:nvSpPr>
        <p:spPr>
          <a:xfrm>
            <a:off x="8845296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71397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3" name="Text 51"/>
          <p:cNvSpPr/>
          <p:nvPr/>
        </p:nvSpPr>
        <p:spPr>
          <a:xfrm>
            <a:off x="10171176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88096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6E8DF"/>
          </a:solidFill>
          <a:ln/>
        </p:spPr>
      </p:sp>
      <p:sp>
        <p:nvSpPr>
          <p:cNvPr id="55" name="Shape 53"/>
          <p:cNvSpPr/>
          <p:nvPr/>
        </p:nvSpPr>
        <p:spPr>
          <a:xfrm>
            <a:off x="8388096" y="3200400"/>
            <a:ext cx="1801368" cy="118872"/>
          </a:xfrm>
          <a:prstGeom prst="roundRect">
            <a:avLst>
              <a:gd name="adj" fmla="val 50000"/>
            </a:avLst>
          </a:prstGeom>
          <a:solidFill>
            <a:srgbClr val="D6E6A0"/>
          </a:solidFill>
          <a:ln/>
        </p:spPr>
      </p:sp>
      <p:sp>
        <p:nvSpPr>
          <p:cNvPr id="56" name="Text 54"/>
          <p:cNvSpPr/>
          <p:nvPr/>
        </p:nvSpPr>
        <p:spPr>
          <a:xfrm>
            <a:off x="10789920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388096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388096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388096" y="42702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60" name="Text 58"/>
          <p:cNvSpPr/>
          <p:nvPr/>
        </p:nvSpPr>
        <p:spPr>
          <a:xfrm>
            <a:off x="8607552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388096" y="47274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62" name="Text 60"/>
          <p:cNvSpPr/>
          <p:nvPr/>
        </p:nvSpPr>
        <p:spPr>
          <a:xfrm>
            <a:off x="8607552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388096" y="5184648"/>
            <a:ext cx="118872" cy="118872"/>
          </a:xfrm>
          <a:prstGeom prst="ellipse">
            <a:avLst/>
          </a:prstGeom>
          <a:solidFill>
            <a:srgbClr val="D6E6A0"/>
          </a:solidFill>
          <a:ln/>
        </p:spPr>
      </p:sp>
      <p:sp>
        <p:nvSpPr>
          <p:cNvPr id="64" name="Text 62"/>
          <p:cNvSpPr/>
          <p:nvPr/>
        </p:nvSpPr>
        <p:spPr>
          <a:xfrm>
            <a:off x="8607552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88096" y="5641848"/>
            <a:ext cx="118872" cy="118872"/>
          </a:xfrm>
          <a:prstGeom prst="ellipse">
            <a:avLst/>
          </a:prstGeom>
          <a:solidFill>
            <a:srgbClr val="A8CC3A"/>
          </a:solidFill>
          <a:ln/>
        </p:spPr>
      </p:sp>
      <p:sp>
        <p:nvSpPr>
          <p:cNvPr id="66" name="Text 64"/>
          <p:cNvSpPr/>
          <p:nvPr/>
        </p:nvSpPr>
        <p:spPr>
          <a:xfrm>
            <a:off x="8607552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141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40080" y="63093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Activity · GitHub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Delivery Activity This Week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7680960" cy="4434840"/>
          </a:xfrm>
          <a:prstGeom prst="roundRect">
            <a:avLst>
              <a:gd name="adj" fmla="val 1649"/>
            </a:avLst>
          </a:prstGeom>
          <a:solidFill>
            <a:srgbClr val="F6F7F1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777240" y="1965960"/>
          <a:ext cx="74066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5760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GitHub activity this week.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8641080" y="1783080"/>
            <a:ext cx="2907792" cy="1356360"/>
          </a:xfrm>
          <a:prstGeom prst="roundRect">
            <a:avLst>
              <a:gd name="adj" fmla="val 5393"/>
            </a:avLst>
          </a:prstGeom>
          <a:solidFill>
            <a:srgbClr val="141412"/>
          </a:solidFill>
          <a:ln/>
        </p:spPr>
      </p:sp>
      <p:sp>
        <p:nvSpPr>
          <p:cNvPr id="8" name="Text 5"/>
          <p:cNvSpPr/>
          <p:nvPr/>
        </p:nvSpPr>
        <p:spPr>
          <a:xfrm>
            <a:off x="8869680" y="189280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A8C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8869680" y="259689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641080" y="3322320"/>
            <a:ext cx="2907792" cy="1356360"/>
          </a:xfrm>
          <a:prstGeom prst="roundRect">
            <a:avLst>
              <a:gd name="adj" fmla="val 5393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69680" y="343204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869680" y="413613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641080" y="4861560"/>
            <a:ext cx="2907792" cy="1356360"/>
          </a:xfrm>
          <a:prstGeom prst="roundRect">
            <a:avLst>
              <a:gd name="adj" fmla="val 5393"/>
            </a:avLst>
          </a:prstGeom>
          <a:solidFill>
            <a:srgbClr val="FFFFFF"/>
          </a:solidFill>
          <a:ln w="12700">
            <a:solidFill>
              <a:srgbClr val="E6E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69680" y="497128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8869680" y="567537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reviews completed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414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Week's Plan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0879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920240"/>
                <a:gridCol w="4965192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/ track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focus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ClinicBook · Patient App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 Park @Leo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 the booking calendar, then start payments and receipts.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 · 40%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A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ClinicBook · Clinic Dashboard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 Rao @Nina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Apply the duplicate-reminder fix and release reminders; start reports and exports.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 · 80%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A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PulseBoard · Usage Tracking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Maya Lin @Maya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 adding usage tracking to the web app, then open the first dashboard to managers.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6A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Store Release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Maya Lin @Maya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858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Invite the first 20 clinic staff to TestFlight.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14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CC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JidNvZ/logo_trimm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680960" y="2743200"/>
            <a:ext cx="6035040" cy="6987624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JidNvZ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138" y="452628"/>
            <a:ext cx="544924" cy="63093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10698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640080" y="26517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C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3152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731520" y="6016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Lin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31520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8B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7315200" y="60167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9, 2026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2026-10-11T06:51:26Z</dcterms:created>
  <dcterms:modified xsi:type="dcterms:W3CDTF">2026-10-11T06:51:26Z</dcterms:modified>
</cp:coreProperties>
</file>