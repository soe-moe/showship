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Combined Progress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4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9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 App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9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Clinic Dashboard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9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C7D7F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Accounts &amp; Sign-in</c:v>
                  </c:pt>
                  <c:pt idx="1">
                    <c:v>P2 · Clinic Search &amp; Maps</c:v>
                  </c:pt>
                  <c:pt idx="2">
                    <c:v>P3 · Booking Calendar</c:v>
                  </c:pt>
                  <c:pt idx="3">
                    <c:v>P4 · Payments &amp; Receipts (Not started)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40</c:v>
                </c:pt>
                <c:pt idx="3">
                  <c:v>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 Progress</c:v>
                </c:pt>
              </c:strCache>
            </c:strRef>
          </c:tx>
          <c:spPr>
            <a:solidFill>
              <a:srgbClr val="C7D7FB"/>
            </a:solidFill>
            <a:effectLst/>
          </c:spPr>
          <c:invertIfNegative val="0"/>
          <c:dLbls>
            <c:numFmt formatCode="0&quot;%&quot;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P1 · Clinic Onboarding</c:v>
                  </c:pt>
                  <c:pt idx="1">
                    <c:v>P2 · Doctor Schedules</c:v>
                  </c:pt>
                  <c:pt idx="2">
                    <c:v>P3 · Reports &amp; Exports (Not started)</c:v>
                  </c:pt>
                  <c:pt idx="3">
                    <c:v>P4 · Reminders &amp; Notifications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dLbls>
          <c:numFmt formatCode="0&quot;%&quot;;;;" sourceLinked="0"/>
          <c:txPr>
            <a:bodyPr/>
            <a:lstStyle/>
            <a:p>
              <a:pPr>
                <a:defRPr b="1" i="0" strike="noStrike" sz="10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C7D7F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8A8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/var/folders/lw/rmylcyvd5rjfxk9g1z9rrm8w0000gq/T/showship-deck-IA2uJl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68" y="749808"/>
            <a:ext cx="789745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2011680"/>
            <a:ext cx="6796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2377440"/>
            <a:ext cx="67967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Development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4754880" y="4251960"/>
            <a:ext cx="9144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5669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5925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0" y="5669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5925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at a Glance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74520"/>
            <a:ext cx="3392424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74520"/>
            <a:ext cx="3392424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104241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Account Verified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98264" y="1874520"/>
            <a:ext cx="3392424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8264" y="1874520"/>
            <a:ext cx="3392424" cy="82296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18" name="Text 16"/>
          <p:cNvSpPr/>
          <p:nvPr/>
        </p:nvSpPr>
        <p:spPr>
          <a:xfrm>
            <a:off x="4672584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5400" dirty="0"/>
          </a:p>
        </p:txBody>
      </p:sp>
      <p:sp>
        <p:nvSpPr>
          <p:cNvPr id="20" name="Shape 18"/>
          <p:cNvSpPr/>
          <p:nvPr/>
        </p:nvSpPr>
        <p:spPr>
          <a:xfrm>
            <a:off x="4672584" y="3566160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C7D7FB"/>
          </a:solidFill>
          <a:ln/>
        </p:spPr>
      </p:sp>
      <p:sp>
        <p:nvSpPr>
          <p:cNvPr id="21" name="Text 19"/>
          <p:cNvSpPr/>
          <p:nvPr/>
        </p:nvSpPr>
        <p:spPr>
          <a:xfrm>
            <a:off x="4672584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72584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8 Phases Complete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72584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6448" y="1874520"/>
            <a:ext cx="3392424" cy="3291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1874520"/>
            <a:ext cx="3392424" cy="82296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2194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30768" y="256032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5400" dirty="0"/>
          </a:p>
        </p:txBody>
      </p:sp>
      <p:sp>
        <p:nvSpPr>
          <p:cNvPr id="28" name="Shape 26"/>
          <p:cNvSpPr/>
          <p:nvPr/>
        </p:nvSpPr>
        <p:spPr>
          <a:xfrm>
            <a:off x="8430768" y="3566160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C7D7FB"/>
          </a:solidFill>
          <a:ln/>
        </p:spPr>
      </p:sp>
      <p:sp>
        <p:nvSpPr>
          <p:cNvPr id="29" name="Text 27"/>
          <p:cNvSpPr/>
          <p:nvPr/>
        </p:nvSpPr>
        <p:spPr>
          <a:xfrm>
            <a:off x="8430768" y="35661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30768" y="402336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 Complete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30768" y="4389120"/>
            <a:ext cx="2843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5532120"/>
            <a:ext cx="10908792" cy="6400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5321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update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 is needed this week: can patients turn off SMS reminders and keep email only? (see Decisions Needed)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· App Store Release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Store: Developer Account Verified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45920"/>
            <a:ext cx="168249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4592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35099" y="3017520"/>
            <a:ext cx="8321497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79067" y="2761488"/>
            <a:ext cx="512064" cy="51206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79067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52899" y="276148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452899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13912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13912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Received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05352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6732" y="276148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226732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87745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87745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Verified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79185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927412" y="2688336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9927412" y="26883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961577" y="356616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61577" y="3840480"/>
            <a:ext cx="25900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TestFlight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53017" y="422452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  </a:t>
            </a:r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is published under the company's own verified account, ready for beta testers.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Progress Overview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ClinicBook: Patient App &amp; Clinic Dashboard Progress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392424" cy="29718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1376172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376172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98264" y="1783080"/>
            <a:ext cx="3392424" cy="29718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5134356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5134356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581144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81144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56448" y="1783080"/>
            <a:ext cx="3392424" cy="297180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9" name="Chart 2" descr=""/>
          <p:cNvGraphicFramePr/>
          <p:nvPr/>
        </p:nvGraphicFramePr>
        <p:xfrm>
          <a:off x="8892540" y="196596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 15"/>
          <p:cNvSpPr/>
          <p:nvPr/>
        </p:nvSpPr>
        <p:spPr>
          <a:xfrm>
            <a:off x="8892540" y="196596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339328" y="39776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39328" y="43251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" y="4983480"/>
            <a:ext cx="91440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0"/>
          <p:cNvSpPr/>
          <p:nvPr/>
        </p:nvSpPr>
        <p:spPr>
          <a:xfrm>
            <a:off x="914400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1645920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Completed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398264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398264" y="4983480"/>
            <a:ext cx="91440" cy="868680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29" name="Text 24"/>
          <p:cNvSpPr/>
          <p:nvPr/>
        </p:nvSpPr>
        <p:spPr>
          <a:xfrm>
            <a:off x="4672584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30" name="Text 25"/>
          <p:cNvSpPr/>
          <p:nvPr/>
        </p:nvSpPr>
        <p:spPr>
          <a:xfrm>
            <a:off x="5404104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In Progress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156448" y="4983480"/>
            <a:ext cx="3392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156448" y="4983480"/>
            <a:ext cx="91440" cy="868680"/>
          </a:xfrm>
          <a:prstGeom prst="rect">
            <a:avLst/>
          </a:prstGeom>
          <a:solidFill>
            <a:srgbClr val="E5E9F0"/>
          </a:solidFill>
          <a:ln/>
        </p:spPr>
      </p:sp>
      <p:sp>
        <p:nvSpPr>
          <p:cNvPr id="33" name="Text 28"/>
          <p:cNvSpPr/>
          <p:nvPr/>
        </p:nvSpPr>
        <p:spPr>
          <a:xfrm>
            <a:off x="8430768" y="49834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34" name="Text 29"/>
          <p:cNvSpPr/>
          <p:nvPr/>
        </p:nvSpPr>
        <p:spPr>
          <a:xfrm>
            <a:off x="9162288" y="49834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Not Started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Phase Breakdown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ClinicBook: Status of Each Phase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271516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68396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Leo Park @Leo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77240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914400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77356" y="1783080"/>
            <a:ext cx="5271516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51676" y="2011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805672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Nina Rao @Nina</a:t>
            </a:r>
            <a:endParaRPr lang="en-US" sz="12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414516" y="2423160"/>
          <a:ext cx="4997196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6551676" y="566928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ClinicBook: What Was Done on Each Task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453384" cy="369493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965960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C7D7F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659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67784" y="1783080"/>
            <a:ext cx="3453384" cy="369493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6384" y="1965960"/>
            <a:ext cx="104241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596384" y="1965960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95488" y="1783080"/>
            <a:ext cx="3453384" cy="3694938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4088" y="1965960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E5E9F0"/>
          </a:solidFill>
          <a:ln/>
        </p:spPr>
      </p:sp>
      <p:sp>
        <p:nvSpPr>
          <p:cNvPr id="42" name="Text 40"/>
          <p:cNvSpPr/>
          <p:nvPr/>
        </p:nvSpPr>
        <p:spPr>
          <a:xfrm>
            <a:off x="8324088" y="19659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B8B8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· Code Review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Check: Issues Caught Before Release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017520" cy="443484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14400" y="280720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reviewed this week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31927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3756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14400" y="413308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for release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645152"/>
            <a:ext cx="2468880" cy="0"/>
          </a:xfrm>
          <a:prstGeom prst="line">
            <a:avLst/>
          </a:prstGeom>
          <a:noFill/>
          <a:ln w="9525">
            <a:solidFill>
              <a:srgbClr val="3A3A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663440"/>
            <a:ext cx="2468880" cy="7690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4400" y="54589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passing (100%)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77640" y="1783080"/>
            <a:ext cx="7571232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084832"/>
            <a:ext cx="64008" cy="9845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048256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304288"/>
            <a:ext cx="5751576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369296" y="2066544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0369296" y="2066544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0" y="3325368"/>
            <a:ext cx="64008" cy="984504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3288792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544824"/>
            <a:ext cx="4837176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454896" y="3307080"/>
            <a:ext cx="1865376" cy="292608"/>
          </a:xfrm>
          <a:prstGeom prst="roundRect">
            <a:avLst>
              <a:gd name="adj" fmla="val 15625"/>
            </a:avLst>
          </a:prstGeom>
          <a:solidFill>
            <a:srgbClr val="C7D7FB"/>
          </a:solidFill>
          <a:ln/>
        </p:spPr>
      </p:sp>
      <p:sp>
        <p:nvSpPr>
          <p:cNvPr id="27" name="Text 25"/>
          <p:cNvSpPr/>
          <p:nvPr/>
        </p:nvSpPr>
        <p:spPr>
          <a:xfrm>
            <a:off x="9454896" y="330708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4565904"/>
            <a:ext cx="64008" cy="9845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452932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4785360"/>
            <a:ext cx="5751576" cy="801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369296" y="4547616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0369296" y="454761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5760720"/>
            <a:ext cx="6931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Decisions Needed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5271516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5271516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Blockers &amp; Risks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53288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release waiting on one fix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reminders must be prevented before release. Fix is small and already tested.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 · Expected: next week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7356" y="1783080"/>
            <a:ext cx="5271516" cy="23774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7356" y="1783080"/>
            <a:ext cx="5271516" cy="8229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203911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51676" y="253288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55167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08876" y="2514600"/>
            <a:ext cx="42656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patients turn off SMS reminders and keep email only?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every patient with a phone number receives SMS reminders; some clinics report complaints.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8A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Options: allow opt-out · clinic decides per patient · keep as today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· Task Tracker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Task Track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3453384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82296" cy="4434840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89888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58568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15768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2688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" y="3200400"/>
            <a:ext cx="1441094" cy="118872"/>
          </a:xfrm>
          <a:prstGeom prst="roundRect">
            <a:avLst>
              <a:gd name="adj" fmla="val 50000"/>
            </a:avLst>
          </a:prstGeom>
          <a:solidFill>
            <a:srgbClr val="C7D7FB"/>
          </a:solidFill>
          <a:ln/>
        </p:spPr>
      </p:sp>
      <p:sp>
        <p:nvSpPr>
          <p:cNvPr id="18" name="Text 16"/>
          <p:cNvSpPr/>
          <p:nvPr/>
        </p:nvSpPr>
        <p:spPr>
          <a:xfrm>
            <a:off x="3334512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42702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2688" y="47274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144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" y="5184648"/>
            <a:ext cx="118872" cy="118872"/>
          </a:xfrm>
          <a:prstGeom prst="ellipse">
            <a:avLst/>
          </a:prstGeom>
          <a:solidFill>
            <a:srgbClr val="C7D7FB"/>
          </a:solidFill>
          <a:ln/>
        </p:spPr>
      </p:sp>
      <p:sp>
        <p:nvSpPr>
          <p:cNvPr id="26" name="Text 24"/>
          <p:cNvSpPr/>
          <p:nvPr/>
        </p:nvSpPr>
        <p:spPr>
          <a:xfrm>
            <a:off x="1152144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2688" y="5641848"/>
            <a:ext cx="118872" cy="118872"/>
          </a:xfrm>
          <a:prstGeom prst="ellipse">
            <a:avLst/>
          </a:prstGeom>
          <a:solidFill>
            <a:srgbClr val="E5E9F0"/>
          </a:solidFill>
          <a:ln/>
        </p:spPr>
      </p:sp>
      <p:sp>
        <p:nvSpPr>
          <p:cNvPr id="28" name="Text 26"/>
          <p:cNvSpPr/>
          <p:nvPr/>
        </p:nvSpPr>
        <p:spPr>
          <a:xfrm>
            <a:off x="1152144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67784" y="1783080"/>
            <a:ext cx="3453384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67784" y="1783080"/>
            <a:ext cx="82296" cy="4434840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31" name="Text 29"/>
          <p:cNvSpPr/>
          <p:nvPr/>
        </p:nvSpPr>
        <p:spPr>
          <a:xfrm>
            <a:off x="4660392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60392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039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117592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62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443472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0392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/>
        </p:spPr>
      </p:sp>
      <p:sp>
        <p:nvSpPr>
          <p:cNvPr id="38" name="Shape 36"/>
          <p:cNvSpPr/>
          <p:nvPr/>
        </p:nvSpPr>
        <p:spPr>
          <a:xfrm>
            <a:off x="4660392" y="3200400"/>
            <a:ext cx="1681277" cy="118872"/>
          </a:xfrm>
          <a:prstGeom prst="roundRect">
            <a:avLst>
              <a:gd name="adj" fmla="val 50000"/>
            </a:avLst>
          </a:prstGeom>
          <a:solidFill>
            <a:srgbClr val="C7D7FB"/>
          </a:solidFill>
          <a:ln/>
        </p:spPr>
      </p:sp>
      <p:sp>
        <p:nvSpPr>
          <p:cNvPr id="39" name="Text 37"/>
          <p:cNvSpPr/>
          <p:nvPr/>
        </p:nvSpPr>
        <p:spPr>
          <a:xfrm>
            <a:off x="7062216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0392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0392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0392" y="42702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4879848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0392" y="47274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4879848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0392" y="5184648"/>
            <a:ext cx="118872" cy="118872"/>
          </a:xfrm>
          <a:prstGeom prst="ellipse">
            <a:avLst/>
          </a:prstGeom>
          <a:solidFill>
            <a:srgbClr val="C7D7FB"/>
          </a:solidFill>
          <a:ln/>
        </p:spPr>
      </p:sp>
      <p:sp>
        <p:nvSpPr>
          <p:cNvPr id="47" name="Text 45"/>
          <p:cNvSpPr/>
          <p:nvPr/>
        </p:nvSpPr>
        <p:spPr>
          <a:xfrm>
            <a:off x="4879848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0392" y="5641848"/>
            <a:ext cx="118872" cy="118872"/>
          </a:xfrm>
          <a:prstGeom prst="ellipse">
            <a:avLst/>
          </a:prstGeom>
          <a:solidFill>
            <a:srgbClr val="E5E9F0"/>
          </a:solidFill>
          <a:ln/>
        </p:spPr>
      </p:sp>
      <p:sp>
        <p:nvSpPr>
          <p:cNvPr id="49" name="Text 47"/>
          <p:cNvSpPr/>
          <p:nvPr/>
        </p:nvSpPr>
        <p:spPr>
          <a:xfrm>
            <a:off x="4879848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95488" y="1783080"/>
            <a:ext cx="3453384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95488" y="1783080"/>
            <a:ext cx="82296" cy="4434840"/>
          </a:xfrm>
          <a:prstGeom prst="rect">
            <a:avLst/>
          </a:prstGeom>
          <a:solidFill>
            <a:srgbClr val="C7D7FB"/>
          </a:solidFill>
          <a:ln/>
        </p:spPr>
      </p:sp>
      <p:sp>
        <p:nvSpPr>
          <p:cNvPr id="52" name="Text 50"/>
          <p:cNvSpPr/>
          <p:nvPr/>
        </p:nvSpPr>
        <p:spPr>
          <a:xfrm>
            <a:off x="8388096" y="1984248"/>
            <a:ext cx="295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388096" y="2295144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38809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8845296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713976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10171176" y="2606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88096" y="3200400"/>
            <a:ext cx="2401824" cy="11887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/>
        </p:spPr>
      </p:sp>
      <p:sp>
        <p:nvSpPr>
          <p:cNvPr id="59" name="Shape 57"/>
          <p:cNvSpPr/>
          <p:nvPr/>
        </p:nvSpPr>
        <p:spPr>
          <a:xfrm>
            <a:off x="8388096" y="3200400"/>
            <a:ext cx="1801368" cy="118872"/>
          </a:xfrm>
          <a:prstGeom prst="roundRect">
            <a:avLst>
              <a:gd name="adj" fmla="val 50000"/>
            </a:avLst>
          </a:prstGeom>
          <a:solidFill>
            <a:srgbClr val="C7D7FB"/>
          </a:solidFill>
          <a:ln/>
        </p:spPr>
      </p:sp>
      <p:sp>
        <p:nvSpPr>
          <p:cNvPr id="60" name="Text 58"/>
          <p:cNvSpPr/>
          <p:nvPr/>
        </p:nvSpPr>
        <p:spPr>
          <a:xfrm>
            <a:off x="10789920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388096" y="3456432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388096" y="4069080"/>
            <a:ext cx="2950464" cy="0"/>
          </a:xfrm>
          <a:prstGeom prst="line">
            <a:avLst/>
          </a:prstGeom>
          <a:noFill/>
          <a:ln w="9525">
            <a:solidFill>
              <a:srgbClr val="E0E2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88096" y="42702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4" name="Text 62"/>
          <p:cNvSpPr/>
          <p:nvPr/>
        </p:nvSpPr>
        <p:spPr>
          <a:xfrm>
            <a:off x="8607552" y="42062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88096" y="47274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6" name="Text 64"/>
          <p:cNvSpPr/>
          <p:nvPr/>
        </p:nvSpPr>
        <p:spPr>
          <a:xfrm>
            <a:off x="8607552" y="46634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388096" y="5184648"/>
            <a:ext cx="118872" cy="118872"/>
          </a:xfrm>
          <a:prstGeom prst="ellipse">
            <a:avLst/>
          </a:prstGeom>
          <a:solidFill>
            <a:srgbClr val="C7D7FB"/>
          </a:solidFill>
          <a:ln/>
        </p:spPr>
      </p:sp>
      <p:sp>
        <p:nvSpPr>
          <p:cNvPr id="68" name="Text 66"/>
          <p:cNvSpPr/>
          <p:nvPr/>
        </p:nvSpPr>
        <p:spPr>
          <a:xfrm>
            <a:off x="8607552" y="51206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388096" y="5641848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8607552" y="5577840"/>
            <a:ext cx="2731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B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Activity · GitHub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Delivery Activity This Week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83080"/>
            <a:ext cx="7680960" cy="4434840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777240" y="1965960"/>
          <a:ext cx="7406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914400" y="5760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41080" y="1783080"/>
            <a:ext cx="2907792" cy="13563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2" name="Text 9"/>
          <p:cNvSpPr/>
          <p:nvPr/>
        </p:nvSpPr>
        <p:spPr>
          <a:xfrm>
            <a:off x="8869680" y="189280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869680" y="259689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D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41080" y="3322320"/>
            <a:ext cx="2907792" cy="135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343204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869680" y="413613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41080" y="4861560"/>
            <a:ext cx="2907792" cy="135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4971288"/>
            <a:ext cx="2450592" cy="7459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869680" y="5675376"/>
            <a:ext cx="2450592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 completed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471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634472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Week's Plan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53896"/>
            <a:ext cx="1005840" cy="54864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087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4965192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/ track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Patient App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Leo Park @Leo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the booking calendar, then start payments and receipts.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· 40%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ClinicBook · Clinic Dashboard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Nina Rao @Nina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the duplicate-reminder fix and release reminders; start reports and exports.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· 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PulseBoard · Usage Tracking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adding usage tracking to the web app, then open the first dashboard to managers.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Store Release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Maya Lin @Maya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Invite the first 20 clinic staff to TestFlight.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9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/var/folders/lw/rmylcyvd5rjfxk9g1z9rrm8w0000gq/T/showship-deck-IA2uJl/logo_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68" y="749808"/>
            <a:ext cx="789745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4880" y="228600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754880" y="320040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754880" y="3840480"/>
            <a:ext cx="9144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5669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5925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0" y="5669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0" y="5925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2026-10-15T14:34:35Z</dcterms:created>
  <dcterms:modified xsi:type="dcterms:W3CDTF">2026-10-15T14:34:35Z</dcterms:modified>
</cp:coreProperties>
</file>