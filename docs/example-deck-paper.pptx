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Development work</c:v>
                </c:pt>
              </c:strCache>
            </c:strRef>
          </c:tx>
          <c:spPr>
            <a:solidFill>
              <a:srgbClr val="6C4CF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14</c:v>
                </c:pt>
                <c:pt idx="2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Features submitted</c:v>
                </c:pt>
              </c:strCache>
            </c:strRef>
          </c:tx>
          <c:spPr>
            <a:solidFill>
              <a:srgbClr val="17153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Features approved</c:v>
                </c:pt>
              </c:strCache>
            </c:strRef>
          </c:tx>
          <c:spPr>
            <a:solidFill>
              <a:srgbClr val="BDAEF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2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Reviews given</c:v>
                </c:pt>
              </c:strCache>
            </c:strRef>
          </c:tx>
          <c:spPr>
            <a:solidFill>
              <a:srgbClr val="A9A6B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050" u="none">
                    <a:solidFill>
                      <a:srgbClr val="17153A"/>
                    </a:solidFill>
                    <a:latin typeface="Poppins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Leo Park @Leo</c:v>
                  </c:pt>
                  <c:pt idx="1">
                    <c:v>Nina Rao @Nina</c:v>
                  </c:pt>
                  <c:pt idx="2">
                    <c:v>Maya Lin @Maya</c:v>
                  </c:pt>
                </c:lvl>
              </c:multiLvlStrCache>
            </c:multiLvlStrRef>
          </c:cat>
          <c:val>
            <c:numRef>
              <c:f>Sheet1!$E$2:$E$4</c:f>
              <c:numCache>
                <c:formatCode>General</c:formatCode>
                <c:ptCount val="3"/>
                <c:pt idx="0">
                  <c:v>0</c:v>
                </c:pt>
                <c:pt idx="1">
                  <c:v>3</c:v>
                </c:pt>
                <c:pt idx="2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050" u="none">
                  <a:solidFill>
                    <a:srgbClr val="17153A"/>
                  </a:solidFill>
                  <a:latin typeface="Poppins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7153A"/>
                </a:solidFill>
                <a:latin typeface="Poppins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
              <a:latin typeface="Poppins"/>
              <a:cs typeface="Poppins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L0Xly7/paper_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4032" y="0"/>
            <a:ext cx="5080406" cy="6858000"/>
          </a:xfrm>
          <a:prstGeom prst="rect">
            <a:avLst/>
          </a:prstGeom>
        </p:spPr>
      </p:pic>
      <p:pic>
        <p:nvPicPr>
          <p:cNvPr id="3" name="Image 1" descr="/var/folders/lw/rmylcyvd5rjfxk9g1z9rrm8w0000gq/T/showship-deck-L0Xly7/logo_trimm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66928"/>
            <a:ext cx="489642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371600" y="56692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5" name="Text 1"/>
          <p:cNvSpPr/>
          <p:nvPr/>
        </p:nvSpPr>
        <p:spPr>
          <a:xfrm>
            <a:off x="640080" y="2240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report</a:t>
            </a:r>
            <a:endParaRPr lang="en-US" sz="1500" dirty="0"/>
          </a:p>
        </p:txBody>
      </p:sp>
      <p:sp>
        <p:nvSpPr>
          <p:cNvPr id="6" name="Text 2"/>
          <p:cNvSpPr/>
          <p:nvPr/>
        </p:nvSpPr>
        <p:spPr>
          <a:xfrm>
            <a:off x="640080" y="2651760"/>
            <a:ext cx="67665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Weekly Development</a:t>
            </a:r>
            <a:endParaRPr lang="en-US" sz="44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 Report</a:t>
            </a:r>
            <a:endParaRPr lang="en-US" sz="4400" dirty="0"/>
          </a:p>
        </p:txBody>
      </p:sp>
      <p:sp>
        <p:nvSpPr>
          <p:cNvPr id="7" name="Shape 3"/>
          <p:cNvSpPr/>
          <p:nvPr/>
        </p:nvSpPr>
        <p:spPr>
          <a:xfrm>
            <a:off x="640080" y="5440680"/>
            <a:ext cx="6035040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0080" y="5577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40080" y="5833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 @Maya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3840480" y="5577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840480" y="5833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October 9, 2026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40080" y="6355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 at a Glance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L0Xly7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830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Key update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103120"/>
            <a:ext cx="329184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One decision is needed this week: can patients turn off SMS reminders and keep email only? (see Decisions Needed)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4480560" y="1892808"/>
            <a:ext cx="2103120" cy="1274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6766560" y="1929384"/>
            <a:ext cx="2862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Store Release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10570464" y="1993392"/>
            <a:ext cx="118872" cy="118872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771632" y="1929384"/>
            <a:ext cx="9784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Completed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766560" y="2194560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Account Verified</a:t>
            </a:r>
            <a:endParaRPr lang="en-US" sz="1500" dirty="0"/>
          </a:p>
        </p:txBody>
      </p:sp>
      <p:sp>
        <p:nvSpPr>
          <p:cNvPr id="16" name="Text 13"/>
          <p:cNvSpPr/>
          <p:nvPr/>
        </p:nvSpPr>
        <p:spPr>
          <a:xfrm>
            <a:off x="6766560" y="2569464"/>
            <a:ext cx="4782312" cy="597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approved our company account; the app is now in TestFlight.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4480560" y="3276600"/>
            <a:ext cx="706831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80560" y="3386328"/>
            <a:ext cx="2103120" cy="1274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65%</a:t>
            </a:r>
            <a:endParaRPr lang="en-US" sz="4400" dirty="0"/>
          </a:p>
        </p:txBody>
      </p:sp>
      <p:sp>
        <p:nvSpPr>
          <p:cNvPr id="19" name="Text 16"/>
          <p:cNvSpPr/>
          <p:nvPr/>
        </p:nvSpPr>
        <p:spPr>
          <a:xfrm>
            <a:off x="6766560" y="3422904"/>
            <a:ext cx="2862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&amp; Clinic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10643616" y="3486912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10A6A0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10844784" y="3422904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6766560" y="3688080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of 8 Phases Complete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766560" y="4062984"/>
            <a:ext cx="4782312" cy="597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and clinic dashboard are being built in parallel.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4480560" y="4770120"/>
            <a:ext cx="706831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480560" y="4879848"/>
            <a:ext cx="2103120" cy="1274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86611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/ 2</a:t>
            </a:r>
            <a:endParaRPr lang="en-US" sz="4400" dirty="0"/>
          </a:p>
        </p:txBody>
      </p:sp>
      <p:sp>
        <p:nvSpPr>
          <p:cNvPr id="26" name="Text 23"/>
          <p:cNvSpPr/>
          <p:nvPr/>
        </p:nvSpPr>
        <p:spPr>
          <a:xfrm>
            <a:off x="6766560" y="4916424"/>
            <a:ext cx="2862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611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PulseBoard Analytics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10643616" y="4980432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E0A21B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844784" y="4916424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611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On track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6766560" y="5181600"/>
            <a:ext cx="478231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Workstreams Complete</a:t>
            </a:r>
            <a:endParaRPr lang="en-US" sz="1500" dirty="0"/>
          </a:p>
        </p:txBody>
      </p:sp>
      <p:sp>
        <p:nvSpPr>
          <p:cNvPr id="30" name="Text 27"/>
          <p:cNvSpPr/>
          <p:nvPr/>
        </p:nvSpPr>
        <p:spPr>
          <a:xfrm>
            <a:off x="6766560" y="5556504"/>
            <a:ext cx="4782312" cy="5974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the new system finished; usage tracking is being rolled out.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Mobile · App Store Release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Store: Developer Account Verified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L0Xly7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0058400" y="1847088"/>
            <a:ext cx="118872" cy="118872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259568" y="1783080"/>
            <a:ext cx="1490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Blocker resolved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178308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The app is published under the company's own verified account, ready for beta testers.</a:t>
            </a:r>
            <a:endParaRPr lang="en-US" sz="1900" dirty="0"/>
          </a:p>
        </p:txBody>
      </p:sp>
      <p:pic>
        <p:nvPicPr>
          <p:cNvPr id="12" name="Image 1" descr="/var/folders/lw/rmylcyvd5rjfxk9g1z9rrm8w0000gq/T/showship-deck-L0Xly7/paper_tl_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154680"/>
            <a:ext cx="10908792" cy="5486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713232" y="3273552"/>
            <a:ext cx="310896" cy="310896"/>
          </a:xfrm>
          <a:prstGeom prst="ellipse">
            <a:avLst/>
          </a:prstGeom>
          <a:solidFill>
            <a:srgbClr val="D9472B"/>
          </a:solidFill>
          <a:ln w="12700">
            <a:solidFill>
              <a:srgbClr val="D9472B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13232" y="37947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C340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Last week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13232" y="40507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Blocked</a:t>
            </a:r>
            <a:endParaRPr lang="en-US" sz="1500" dirty="0"/>
          </a:p>
        </p:txBody>
      </p:sp>
      <p:sp>
        <p:nvSpPr>
          <p:cNvPr id="16" name="Text 12"/>
          <p:cNvSpPr/>
          <p:nvPr/>
        </p:nvSpPr>
        <p:spPr>
          <a:xfrm>
            <a:off x="713232" y="44348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Waiting for the company's D-U-N-S business number.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4187952" y="3273552"/>
            <a:ext cx="310896" cy="310896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154680" y="37947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19" name="Text 15"/>
          <p:cNvSpPr/>
          <p:nvPr/>
        </p:nvSpPr>
        <p:spPr>
          <a:xfrm>
            <a:off x="3154680" y="40507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Number Received</a:t>
            </a:r>
            <a:endParaRPr lang="en-US" sz="1500" dirty="0"/>
          </a:p>
        </p:txBody>
      </p:sp>
      <p:sp>
        <p:nvSpPr>
          <p:cNvPr id="20" name="Text 16"/>
          <p:cNvSpPr/>
          <p:nvPr/>
        </p:nvSpPr>
        <p:spPr>
          <a:xfrm>
            <a:off x="3154680" y="44348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Operations provided the D-U-N-S number.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7662672" y="3273552"/>
            <a:ext cx="310896" cy="310896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629400" y="37947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6629400" y="40507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Account Verified</a:t>
            </a:r>
            <a:endParaRPr lang="en-US" sz="1500" dirty="0"/>
          </a:p>
        </p:txBody>
      </p:sp>
      <p:sp>
        <p:nvSpPr>
          <p:cNvPr id="24" name="Text 20"/>
          <p:cNvSpPr/>
          <p:nvPr/>
        </p:nvSpPr>
        <p:spPr>
          <a:xfrm>
            <a:off x="6629400" y="44348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Apple verified the company developer account.</a:t>
            </a:r>
            <a:endParaRPr lang="en-US" sz="1100" dirty="0"/>
          </a:p>
        </p:txBody>
      </p:sp>
      <p:sp>
        <p:nvSpPr>
          <p:cNvPr id="25" name="Shape 21"/>
          <p:cNvSpPr/>
          <p:nvPr/>
        </p:nvSpPr>
        <p:spPr>
          <a:xfrm>
            <a:off x="11137392" y="3273552"/>
            <a:ext cx="310896" cy="310896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9070848" y="379476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This week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9070848" y="405079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TestFlight</a:t>
            </a:r>
            <a:endParaRPr lang="en-US" sz="1500" dirty="0"/>
          </a:p>
        </p:txBody>
      </p:sp>
      <p:sp>
        <p:nvSpPr>
          <p:cNvPr id="28" name="Text 24"/>
          <p:cNvSpPr/>
          <p:nvPr/>
        </p:nvSpPr>
        <p:spPr>
          <a:xfrm>
            <a:off x="9070848" y="443484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build available to internal testers.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Progress Overview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ClinicBook: Patient App &amp; Clinic Dashboard Progress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L0Xly7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1005840" y="2423160"/>
            <a:ext cx="3474720" cy="3474720"/>
          </a:xfrm>
          <a:prstGeom prst="blockArc">
            <a:avLst>
              <a:gd name="adj1" fmla="val 10800000"/>
              <a:gd name="adj2" fmla="val 0"/>
              <a:gd name="adj3" fmla="val 6000"/>
            </a:avLst>
          </a:prstGeom>
          <a:solidFill>
            <a:srgbClr val="E6E1D6"/>
          </a:solidFill>
          <a:ln/>
        </p:spPr>
      </p:sp>
      <p:sp>
        <p:nvSpPr>
          <p:cNvPr id="10" name="Shape 7"/>
          <p:cNvSpPr/>
          <p:nvPr/>
        </p:nvSpPr>
        <p:spPr>
          <a:xfrm>
            <a:off x="1005840" y="2423160"/>
            <a:ext cx="3474720" cy="3474720"/>
          </a:xfrm>
          <a:prstGeom prst="blockArc">
            <a:avLst>
              <a:gd name="adj1" fmla="val 10800000"/>
              <a:gd name="adj2" fmla="val 17820000"/>
              <a:gd name="adj3" fmla="val 6000"/>
            </a:avLst>
          </a:prstGeom>
          <a:solidFill>
            <a:srgbClr val="10A6A0"/>
          </a:solidFill>
          <a:ln/>
        </p:spPr>
      </p:sp>
      <p:sp>
        <p:nvSpPr>
          <p:cNvPr id="11" name="Text 8"/>
          <p:cNvSpPr/>
          <p:nvPr/>
        </p:nvSpPr>
        <p:spPr>
          <a:xfrm>
            <a:off x="1280160" y="3017520"/>
            <a:ext cx="2926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65%</a:t>
            </a:r>
            <a:endParaRPr lang="en-US" sz="5400" dirty="0"/>
          </a:p>
        </p:txBody>
      </p:sp>
      <p:sp>
        <p:nvSpPr>
          <p:cNvPr id="12" name="Text 9"/>
          <p:cNvSpPr/>
          <p:nvPr/>
        </p:nvSpPr>
        <p:spPr>
          <a:xfrm>
            <a:off x="640080" y="42976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Combined Progress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40080" y="46634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app + Clinic dashboard · 8 phases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5577840" y="1783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Track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177272" y="178308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Progress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577840" y="2103120"/>
            <a:ext cx="5971032" cy="0"/>
          </a:xfrm>
          <a:prstGeom prst="line">
            <a:avLst/>
          </a:prstGeom>
          <a:noFill/>
          <a:ln w="9525">
            <a:solidFill>
              <a:srgbClr val="1715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577840" y="2194560"/>
            <a:ext cx="4507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App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5577840" y="2542032"/>
            <a:ext cx="4507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10177272" y="21945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endParaRPr lang="en-US" sz="2600" dirty="0"/>
          </a:p>
        </p:txBody>
      </p:sp>
      <p:sp>
        <p:nvSpPr>
          <p:cNvPr id="20" name="Shape 17"/>
          <p:cNvSpPr/>
          <p:nvPr/>
        </p:nvSpPr>
        <p:spPr>
          <a:xfrm>
            <a:off x="5577840" y="2907792"/>
            <a:ext cx="5971032" cy="64008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21" name="Shape 18"/>
          <p:cNvSpPr/>
          <p:nvPr/>
        </p:nvSpPr>
        <p:spPr>
          <a:xfrm>
            <a:off x="5577840" y="2907792"/>
            <a:ext cx="3582619" cy="64008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22" name="Shape 19"/>
          <p:cNvSpPr/>
          <p:nvPr/>
        </p:nvSpPr>
        <p:spPr>
          <a:xfrm>
            <a:off x="5577840" y="3108960"/>
            <a:ext cx="597103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5577840" y="3154680"/>
            <a:ext cx="45079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 Dashboard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577840" y="3502152"/>
            <a:ext cx="4507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177272" y="315468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600" b="1" dirty="0">
                <a:solidFill>
                  <a:srgbClr val="0B74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endParaRPr lang="en-US" sz="2600" dirty="0"/>
          </a:p>
        </p:txBody>
      </p:sp>
      <p:sp>
        <p:nvSpPr>
          <p:cNvPr id="26" name="Shape 23"/>
          <p:cNvSpPr/>
          <p:nvPr/>
        </p:nvSpPr>
        <p:spPr>
          <a:xfrm>
            <a:off x="5577840" y="3867912"/>
            <a:ext cx="5971032" cy="64008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27" name="Shape 24"/>
          <p:cNvSpPr/>
          <p:nvPr/>
        </p:nvSpPr>
        <p:spPr>
          <a:xfrm>
            <a:off x="5577840" y="3867912"/>
            <a:ext cx="4179722" cy="64008"/>
          </a:xfrm>
          <a:prstGeom prst="rect">
            <a:avLst/>
          </a:prstGeom>
          <a:solidFill>
            <a:srgbClr val="0B7470"/>
          </a:solidFill>
          <a:ln/>
        </p:spPr>
      </p:sp>
      <p:sp>
        <p:nvSpPr>
          <p:cNvPr id="28" name="Shape 25"/>
          <p:cNvSpPr/>
          <p:nvPr/>
        </p:nvSpPr>
        <p:spPr>
          <a:xfrm>
            <a:off x="5577840" y="4069080"/>
            <a:ext cx="597103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577840" y="4343400"/>
            <a:ext cx="5971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0A6A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 </a:t>
            </a:r>
            <a:pPr indent="0" marL="0">
              <a:buNone/>
            </a:pPr>
            <a:r>
              <a:rPr lang="en-US" sz="1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pPr indent="0" marL="0"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phases completed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 </a:t>
            </a:r>
            <a:pPr indent="0" marL="0">
              <a:buNone/>
            </a:pPr>
            <a:r>
              <a:rPr lang="en-US" sz="1200" dirty="0">
                <a:solidFill>
                  <a:srgbClr val="88D3D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 </a:t>
            </a:r>
            <a:pPr indent="0" marL="0">
              <a:buNone/>
            </a:pPr>
            <a:r>
              <a:rPr lang="en-US" sz="1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phases in progress</a:t>
            </a:r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  </a:t>
            </a:r>
            <a:pPr indent="0" marL="0">
              <a:buNone/>
            </a:pPr>
            <a:r>
              <a:rPr lang="en-US" sz="1200" dirty="0">
                <a:solidFill>
                  <a:srgbClr val="D6D0C3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●  </a:t>
            </a:r>
            <a:pPr indent="0" marL="0">
              <a:buNone/>
            </a:pPr>
            <a:r>
              <a:rPr lang="en-US" sz="1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pPr indent="0" marL="0"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phases not started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5577840" y="5897880"/>
            <a:ext cx="5971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= average completion of each track's four phases.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Phase Breakdown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ClinicBook: Status of Each Phase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L0Xly7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892808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Patient App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640080" y="228600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Leo Park @Leo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7863840" y="1874520"/>
            <a:ext cx="3685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pPr algn="r"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the track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640080" y="265176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2370582" y="2651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640080" y="310896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15" name="Shape 12"/>
          <p:cNvSpPr/>
          <p:nvPr/>
        </p:nvSpPr>
        <p:spPr>
          <a:xfrm>
            <a:off x="640080" y="3108960"/>
            <a:ext cx="2644902" cy="146304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16" name="Text 13"/>
          <p:cNvSpPr/>
          <p:nvPr/>
        </p:nvSpPr>
        <p:spPr>
          <a:xfrm>
            <a:off x="3394710" y="265176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125212" y="2651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1300" dirty="0"/>
          </a:p>
        </p:txBody>
      </p:sp>
      <p:sp>
        <p:nvSpPr>
          <p:cNvPr id="18" name="Shape 15"/>
          <p:cNvSpPr/>
          <p:nvPr/>
        </p:nvSpPr>
        <p:spPr>
          <a:xfrm>
            <a:off x="3394710" y="310896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19" name="Shape 16"/>
          <p:cNvSpPr/>
          <p:nvPr/>
        </p:nvSpPr>
        <p:spPr>
          <a:xfrm>
            <a:off x="3394710" y="3108960"/>
            <a:ext cx="2644902" cy="146304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20" name="Text 17"/>
          <p:cNvSpPr/>
          <p:nvPr/>
        </p:nvSpPr>
        <p:spPr>
          <a:xfrm>
            <a:off x="6149340" y="265176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7879842" y="2651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40%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149340" y="310896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23" name="Shape 20"/>
          <p:cNvSpPr/>
          <p:nvPr/>
        </p:nvSpPr>
        <p:spPr>
          <a:xfrm>
            <a:off x="6149340" y="3108960"/>
            <a:ext cx="1057961" cy="146304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24" name="Text 21"/>
          <p:cNvSpPr/>
          <p:nvPr/>
        </p:nvSpPr>
        <p:spPr>
          <a:xfrm>
            <a:off x="8903970" y="265176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10634472" y="265176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started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8903970" y="310896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27" name="Text 24"/>
          <p:cNvSpPr/>
          <p:nvPr/>
        </p:nvSpPr>
        <p:spPr>
          <a:xfrm>
            <a:off x="640080" y="338328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calendar underway; payments are next.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640080" y="397764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640080" y="4133088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 Dashboard</a:t>
            </a:r>
            <a:endParaRPr lang="en-US" sz="1900" dirty="0"/>
          </a:p>
        </p:txBody>
      </p:sp>
      <p:sp>
        <p:nvSpPr>
          <p:cNvPr id="30" name="Text 27"/>
          <p:cNvSpPr/>
          <p:nvPr/>
        </p:nvSpPr>
        <p:spPr>
          <a:xfrm>
            <a:off x="640080" y="452628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Owner: Nina Rao @Nina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7863840" y="4114800"/>
            <a:ext cx="3685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0B74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pPr algn="r"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of the track</a:t>
            </a:r>
            <a:endParaRPr lang="en-US" sz="3000" dirty="0"/>
          </a:p>
        </p:txBody>
      </p:sp>
      <p:sp>
        <p:nvSpPr>
          <p:cNvPr id="32" name="Text 29"/>
          <p:cNvSpPr/>
          <p:nvPr/>
        </p:nvSpPr>
        <p:spPr>
          <a:xfrm>
            <a:off x="640080" y="489204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2370582" y="4892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4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640080" y="534924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35" name="Shape 32"/>
          <p:cNvSpPr/>
          <p:nvPr/>
        </p:nvSpPr>
        <p:spPr>
          <a:xfrm>
            <a:off x="640080" y="5349240"/>
            <a:ext cx="2644902" cy="146304"/>
          </a:xfrm>
          <a:prstGeom prst="rect">
            <a:avLst/>
          </a:prstGeom>
          <a:solidFill>
            <a:srgbClr val="0B7470"/>
          </a:solidFill>
          <a:ln/>
        </p:spPr>
      </p:sp>
      <p:sp>
        <p:nvSpPr>
          <p:cNvPr id="36" name="Text 33"/>
          <p:cNvSpPr/>
          <p:nvPr/>
        </p:nvSpPr>
        <p:spPr>
          <a:xfrm>
            <a:off x="3394710" y="489204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5125212" y="4892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4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100%</a:t>
            </a:r>
            <a:endParaRPr lang="en-US" sz="1300" dirty="0"/>
          </a:p>
        </p:txBody>
      </p:sp>
      <p:sp>
        <p:nvSpPr>
          <p:cNvPr id="38" name="Shape 35"/>
          <p:cNvSpPr/>
          <p:nvPr/>
        </p:nvSpPr>
        <p:spPr>
          <a:xfrm>
            <a:off x="3394710" y="534924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39" name="Shape 36"/>
          <p:cNvSpPr/>
          <p:nvPr/>
        </p:nvSpPr>
        <p:spPr>
          <a:xfrm>
            <a:off x="3394710" y="5349240"/>
            <a:ext cx="2644902" cy="146304"/>
          </a:xfrm>
          <a:prstGeom prst="rect">
            <a:avLst/>
          </a:prstGeom>
          <a:solidFill>
            <a:srgbClr val="0B7470"/>
          </a:solidFill>
          <a:ln/>
        </p:spPr>
      </p:sp>
      <p:sp>
        <p:nvSpPr>
          <p:cNvPr id="40" name="Text 37"/>
          <p:cNvSpPr/>
          <p:nvPr/>
        </p:nvSpPr>
        <p:spPr>
          <a:xfrm>
            <a:off x="6149340" y="489204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7879842" y="4892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000" i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Not started</a:t>
            </a:r>
            <a:endParaRPr lang="en-US" sz="1000" dirty="0"/>
          </a:p>
        </p:txBody>
      </p:sp>
      <p:sp>
        <p:nvSpPr>
          <p:cNvPr id="42" name="Shape 39"/>
          <p:cNvSpPr/>
          <p:nvPr/>
        </p:nvSpPr>
        <p:spPr>
          <a:xfrm>
            <a:off x="6149340" y="534924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43" name="Text 40"/>
          <p:cNvSpPr/>
          <p:nvPr/>
        </p:nvSpPr>
        <p:spPr>
          <a:xfrm>
            <a:off x="8903970" y="4892040"/>
            <a:ext cx="18219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 &amp; Notifications</a:t>
            </a:r>
            <a:endParaRPr lang="en-US" sz="1100" dirty="0"/>
          </a:p>
        </p:txBody>
      </p:sp>
      <p:sp>
        <p:nvSpPr>
          <p:cNvPr id="44" name="Text 41"/>
          <p:cNvSpPr/>
          <p:nvPr/>
        </p:nvSpPr>
        <p:spPr>
          <a:xfrm>
            <a:off x="10634472" y="48920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47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80%</a:t>
            </a:r>
            <a:endParaRPr lang="en-US" sz="1300" dirty="0"/>
          </a:p>
        </p:txBody>
      </p:sp>
      <p:sp>
        <p:nvSpPr>
          <p:cNvPr id="45" name="Shape 42"/>
          <p:cNvSpPr/>
          <p:nvPr/>
        </p:nvSpPr>
        <p:spPr>
          <a:xfrm>
            <a:off x="8903970" y="5349240"/>
            <a:ext cx="2644902" cy="14630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46" name="Shape 43"/>
          <p:cNvSpPr/>
          <p:nvPr/>
        </p:nvSpPr>
        <p:spPr>
          <a:xfrm>
            <a:off x="8903970" y="5349240"/>
            <a:ext cx="2115922" cy="146304"/>
          </a:xfrm>
          <a:prstGeom prst="rect">
            <a:avLst/>
          </a:prstGeom>
          <a:solidFill>
            <a:srgbClr val="0B7470"/>
          </a:solidFill>
          <a:ln/>
        </p:spPr>
      </p:sp>
      <p:sp>
        <p:nvSpPr>
          <p:cNvPr id="47" name="Text 44"/>
          <p:cNvSpPr/>
          <p:nvPr/>
        </p:nvSpPr>
        <p:spPr>
          <a:xfrm>
            <a:off x="640080" y="5623560"/>
            <a:ext cx="1090879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Reminders are in final review; 4 of 5 parts verified.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Quality · Code Review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Quality Check: Issues Caught Before Release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L0Xly7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37360"/>
            <a:ext cx="3361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640080" y="2487168"/>
            <a:ext cx="3361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reviewed this week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4276344" y="1737360"/>
            <a:ext cx="3361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4400" dirty="0"/>
          </a:p>
        </p:txBody>
      </p:sp>
      <p:sp>
        <p:nvSpPr>
          <p:cNvPr id="12" name="Text 9"/>
          <p:cNvSpPr/>
          <p:nvPr/>
        </p:nvSpPr>
        <p:spPr>
          <a:xfrm>
            <a:off x="4276344" y="2487168"/>
            <a:ext cx="3361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Approved for release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7912608" y="1737360"/>
            <a:ext cx="33619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212</a:t>
            </a:r>
            <a:endParaRPr lang="en-US" sz="4400" dirty="0"/>
          </a:p>
        </p:txBody>
      </p:sp>
      <p:sp>
        <p:nvSpPr>
          <p:cNvPr id="14" name="Text 11"/>
          <p:cNvSpPr/>
          <p:nvPr/>
        </p:nvSpPr>
        <p:spPr>
          <a:xfrm>
            <a:off x="7912608" y="2487168"/>
            <a:ext cx="33619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Automated tests passing (100%)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40080" y="2971800"/>
            <a:ext cx="10908792" cy="0"/>
          </a:xfrm>
          <a:prstGeom prst="line">
            <a:avLst/>
          </a:prstGeom>
          <a:noFill/>
          <a:ln w="9525">
            <a:solidFill>
              <a:srgbClr val="1715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40080" y="3081528"/>
            <a:ext cx="27432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Appointment Reminders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3566160" y="3081528"/>
            <a:ext cx="566928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Clinics can send SMS and email reminders 24 hours and 2 hours before each appointment.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10643616" y="3145536"/>
            <a:ext cx="118872" cy="118872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844784" y="3081528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640080" y="396240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40080" y="4072128"/>
            <a:ext cx="27432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Reliability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3566160" y="4072128"/>
            <a:ext cx="566928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patient could receive the same reminder twice if sending is retried. Small fix identified.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912096" y="4136136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6C4CF5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113264" y="4072128"/>
            <a:ext cx="16367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Fix before release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40080" y="495300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0080" y="5062728"/>
            <a:ext cx="274320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Privacy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3566160" y="5062728"/>
            <a:ext cx="5669280" cy="8077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Patient phone numbers are hidden in system logs and only visible to clinic staff.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10643616" y="5126736"/>
            <a:ext cx="118872" cy="118872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0844784" y="5062728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Verified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640080" y="594360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lead's code reviews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340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Needs Attention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Blockers &amp; Decisions Needed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L0Xly7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" y="1783080"/>
            <a:ext cx="5088636" cy="0"/>
          </a:xfrm>
          <a:prstGeom prst="line">
            <a:avLst/>
          </a:prstGeom>
          <a:noFill/>
          <a:ln w="38100">
            <a:solidFill>
              <a:srgbClr val="D9472B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18745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340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Blockers and risks</a:t>
            </a:r>
            <a:pPr indent="0" marL="0">
              <a:buNone/>
            </a:pPr>
            <a:r>
              <a:rPr lang="en-US" sz="16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1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640080" y="24688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C34027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1143000" y="2468880"/>
            <a:ext cx="458571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Reminders release waiting on one fix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Duplicate reminders must be prevented before release. Fix is small and already tested.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Owner: Nina Rao @Nina · Expected: next week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460236" y="1783080"/>
            <a:ext cx="5088636" cy="0"/>
          </a:xfrm>
          <a:prstGeom prst="line">
            <a:avLst/>
          </a:prstGeom>
          <a:noFill/>
          <a:ln w="38100">
            <a:solidFill>
              <a:srgbClr val="1715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60236" y="1874520"/>
            <a:ext cx="508863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Decisions needed</a:t>
            </a:r>
            <a:pPr indent="0" marL="0">
              <a:buNone/>
            </a:pPr>
            <a:r>
              <a:rPr lang="en-US" sz="16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   1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60236" y="2468880"/>
            <a:ext cx="457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1.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6963156" y="2468880"/>
            <a:ext cx="4585716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 patients turn off SMS reminders and keep email only?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Today every patient with a phone number receives SMS reminders; some clinics report complaints.</a:t>
            </a:r>
            <a:endParaRPr lang="en-US" sz="1500" dirty="0"/>
          </a:p>
          <a:p>
            <a:pPr indent="0" marL="0">
              <a:lnSpc>
                <a:spcPct val="112000"/>
              </a:lnSpc>
              <a:spcAft>
                <a:spcPts val="400"/>
              </a:spcAft>
              <a:buNone/>
            </a:pPr>
            <a:r>
              <a:rPr lang="en-US" sz="1100" i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Options: allow opt-out · clinic decides per patient · keep as today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· Task Tracker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Developer Task Track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L0Xly7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89280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Leo Park @Leo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40080" y="222199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App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514600"/>
            <a:ext cx="31089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Sign-in and clinic search done; booking calendar in progress.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4023360" y="1965960"/>
            <a:ext cx="219456" cy="219456"/>
          </a:xfrm>
          <a:prstGeom prst="rect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4297680" y="1965960"/>
            <a:ext cx="219456" cy="219456"/>
          </a:xfrm>
          <a:prstGeom prst="rect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4572000" y="1965960"/>
            <a:ext cx="219456" cy="219456"/>
          </a:xfrm>
          <a:prstGeom prst="rect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846320" y="1965960"/>
            <a:ext cx="219456" cy="219456"/>
          </a:xfrm>
          <a:prstGeom prst="rect">
            <a:avLst/>
          </a:prstGeom>
          <a:solidFill>
            <a:srgbClr val="F7F4EE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120640" y="1965960"/>
            <a:ext cx="219456" cy="219456"/>
          </a:xfrm>
          <a:prstGeom prst="rect">
            <a:avLst/>
          </a:prstGeom>
          <a:solidFill>
            <a:srgbClr val="F7F4EE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023360" y="225856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 done, 2 open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023360" y="253288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60%</a:t>
            </a:r>
            <a:endParaRPr lang="en-US" sz="2200" dirty="0"/>
          </a:p>
        </p:txBody>
      </p:sp>
      <p:sp>
        <p:nvSpPr>
          <p:cNvPr id="19" name="Shape 16"/>
          <p:cNvSpPr/>
          <p:nvPr/>
        </p:nvSpPr>
        <p:spPr>
          <a:xfrm>
            <a:off x="4023360" y="2971800"/>
            <a:ext cx="2377440" cy="5486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20" name="Shape 17"/>
          <p:cNvSpPr/>
          <p:nvPr/>
        </p:nvSpPr>
        <p:spPr>
          <a:xfrm>
            <a:off x="4023360" y="2971800"/>
            <a:ext cx="1426464" cy="54864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21" name="Shape 18"/>
          <p:cNvSpPr/>
          <p:nvPr/>
        </p:nvSpPr>
        <p:spPr>
          <a:xfrm>
            <a:off x="6858000" y="2020824"/>
            <a:ext cx="109728" cy="109728"/>
          </a:xfrm>
          <a:prstGeom prst="ellipse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059168" y="1947672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Accounts &amp; Sign-in (3/3)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6858000" y="2350008"/>
            <a:ext cx="109728" cy="109728"/>
          </a:xfrm>
          <a:prstGeom prst="ellipse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059168" y="2276856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Clinic Search &amp; Maps (5/5)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9203436" y="2020824"/>
            <a:ext cx="109728" cy="109728"/>
          </a:xfrm>
          <a:prstGeom prst="ellipse">
            <a:avLst/>
          </a:prstGeom>
          <a:solidFill>
            <a:srgbClr val="F7F4EE"/>
          </a:solidFill>
          <a:ln w="15875">
            <a:solidFill>
              <a:srgbClr val="10A6A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404604" y="1947672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Booking Calendar (2/5)</a:t>
            </a:r>
            <a:endParaRPr lang="en-US" sz="1100" dirty="0"/>
          </a:p>
        </p:txBody>
      </p:sp>
      <p:sp>
        <p:nvSpPr>
          <p:cNvPr id="27" name="Shape 24"/>
          <p:cNvSpPr/>
          <p:nvPr/>
        </p:nvSpPr>
        <p:spPr>
          <a:xfrm>
            <a:off x="9203436" y="2350008"/>
            <a:ext cx="109728" cy="109728"/>
          </a:xfrm>
          <a:prstGeom prst="ellipse">
            <a:avLst/>
          </a:prstGeom>
          <a:solidFill>
            <a:srgbClr val="F7F4EE"/>
          </a:solidFill>
          <a:ln w="15875">
            <a:solidFill>
              <a:srgbClr val="68667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404604" y="2276856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Payments &amp; Receipts (0/4)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40080" y="316992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0080" y="327964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Nina Rao @Nina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640080" y="360883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Clinic Dashboard</a:t>
            </a:r>
            <a:endParaRPr lang="en-US" sz="1100" dirty="0"/>
          </a:p>
        </p:txBody>
      </p:sp>
      <p:sp>
        <p:nvSpPr>
          <p:cNvPr id="32" name="Text 29"/>
          <p:cNvSpPr/>
          <p:nvPr/>
        </p:nvSpPr>
        <p:spPr>
          <a:xfrm>
            <a:off x="640080" y="3901440"/>
            <a:ext cx="31089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 and schedules done; reminders in final review.</a:t>
            </a:r>
            <a:endParaRPr lang="en-US" sz="1100" dirty="0"/>
          </a:p>
        </p:txBody>
      </p:sp>
      <p:sp>
        <p:nvSpPr>
          <p:cNvPr id="33" name="Shape 30"/>
          <p:cNvSpPr/>
          <p:nvPr/>
        </p:nvSpPr>
        <p:spPr>
          <a:xfrm>
            <a:off x="4023360" y="3352800"/>
            <a:ext cx="219456" cy="219456"/>
          </a:xfrm>
          <a:prstGeom prst="rect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4297680" y="3352800"/>
            <a:ext cx="219456" cy="219456"/>
          </a:xfrm>
          <a:prstGeom prst="rect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572000" y="3352800"/>
            <a:ext cx="219456" cy="219456"/>
          </a:xfrm>
          <a:prstGeom prst="rect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4846320" y="3352800"/>
            <a:ext cx="219456" cy="219456"/>
          </a:xfrm>
          <a:prstGeom prst="rect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120640" y="3352800"/>
            <a:ext cx="219456" cy="219456"/>
          </a:xfrm>
          <a:prstGeom prst="rect">
            <a:avLst/>
          </a:prstGeom>
          <a:solidFill>
            <a:srgbClr val="F7F4EE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023360" y="364540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 done, 1 open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4023360" y="391972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70%</a:t>
            </a:r>
            <a:endParaRPr lang="en-US" sz="2200" dirty="0"/>
          </a:p>
        </p:txBody>
      </p:sp>
      <p:sp>
        <p:nvSpPr>
          <p:cNvPr id="40" name="Shape 37"/>
          <p:cNvSpPr/>
          <p:nvPr/>
        </p:nvSpPr>
        <p:spPr>
          <a:xfrm>
            <a:off x="4023360" y="4358640"/>
            <a:ext cx="2377440" cy="5486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41" name="Shape 38"/>
          <p:cNvSpPr/>
          <p:nvPr/>
        </p:nvSpPr>
        <p:spPr>
          <a:xfrm>
            <a:off x="4023360" y="4358640"/>
            <a:ext cx="1664208" cy="54864"/>
          </a:xfrm>
          <a:prstGeom prst="rect">
            <a:avLst/>
          </a:prstGeom>
          <a:solidFill>
            <a:srgbClr val="10A6A0"/>
          </a:solidFill>
          <a:ln/>
        </p:spPr>
      </p:sp>
      <p:sp>
        <p:nvSpPr>
          <p:cNvPr id="42" name="Shape 39"/>
          <p:cNvSpPr/>
          <p:nvPr/>
        </p:nvSpPr>
        <p:spPr>
          <a:xfrm>
            <a:off x="6858000" y="3407664"/>
            <a:ext cx="109728" cy="109728"/>
          </a:xfrm>
          <a:prstGeom prst="ellipse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7059168" y="3334512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Clinic Onboarding (3/3)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6858000" y="3736848"/>
            <a:ext cx="109728" cy="109728"/>
          </a:xfrm>
          <a:prstGeom prst="ellipse">
            <a:avLst/>
          </a:prstGeom>
          <a:solidFill>
            <a:srgbClr val="10A6A0"/>
          </a:solidFill>
          <a:ln w="12700">
            <a:solidFill>
              <a:srgbClr val="10A6A0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059168" y="3663696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Doctor Schedules (5/5)</a:t>
            </a:r>
            <a:endParaRPr lang="en-US" sz="1100" dirty="0"/>
          </a:p>
        </p:txBody>
      </p:sp>
      <p:sp>
        <p:nvSpPr>
          <p:cNvPr id="46" name="Shape 43"/>
          <p:cNvSpPr/>
          <p:nvPr/>
        </p:nvSpPr>
        <p:spPr>
          <a:xfrm>
            <a:off x="9203436" y="3407664"/>
            <a:ext cx="109728" cy="109728"/>
          </a:xfrm>
          <a:prstGeom prst="ellipse">
            <a:avLst/>
          </a:prstGeom>
          <a:solidFill>
            <a:srgbClr val="F7F4EE"/>
          </a:solidFill>
          <a:ln w="15875">
            <a:solidFill>
              <a:srgbClr val="10A6A0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9404604" y="3334512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Reminders, in review (5/5)</a:t>
            </a:r>
            <a:endParaRPr lang="en-US" sz="1100" dirty="0"/>
          </a:p>
        </p:txBody>
      </p:sp>
      <p:sp>
        <p:nvSpPr>
          <p:cNvPr id="48" name="Shape 45"/>
          <p:cNvSpPr/>
          <p:nvPr/>
        </p:nvSpPr>
        <p:spPr>
          <a:xfrm>
            <a:off x="9203436" y="3736848"/>
            <a:ext cx="109728" cy="109728"/>
          </a:xfrm>
          <a:prstGeom prst="ellipse">
            <a:avLst/>
          </a:prstGeom>
          <a:solidFill>
            <a:srgbClr val="F7F4EE"/>
          </a:solidFill>
          <a:ln w="15875">
            <a:solidFill>
              <a:srgbClr val="68667A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9404604" y="3663696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Reports &amp; Exports (0/3)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640080" y="455676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640080" y="4666488"/>
            <a:ext cx="31089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 @Maya</a:t>
            </a:r>
            <a:endParaRPr lang="en-US" sz="1500" dirty="0"/>
          </a:p>
        </p:txBody>
      </p:sp>
      <p:sp>
        <p:nvSpPr>
          <p:cNvPr id="52" name="Text 49"/>
          <p:cNvSpPr/>
          <p:nvPr/>
        </p:nvSpPr>
        <p:spPr>
          <a:xfrm>
            <a:off x="640080" y="4995672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00" b="1" dirty="0">
                <a:solidFill>
                  <a:srgbClr val="86611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PulseBoard · Analytics</a:t>
            </a:r>
            <a:endParaRPr lang="en-US" sz="1100" dirty="0"/>
          </a:p>
        </p:txBody>
      </p:sp>
      <p:sp>
        <p:nvSpPr>
          <p:cNvPr id="53" name="Text 50"/>
          <p:cNvSpPr/>
          <p:nvPr/>
        </p:nvSpPr>
        <p:spPr>
          <a:xfrm>
            <a:off x="640080" y="5288280"/>
            <a:ext cx="310896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i="1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done; usage tracking rolling out.</a:t>
            </a:r>
            <a:endParaRPr lang="en-US" sz="1100" dirty="0"/>
          </a:p>
        </p:txBody>
      </p:sp>
      <p:sp>
        <p:nvSpPr>
          <p:cNvPr id="54" name="Shape 51"/>
          <p:cNvSpPr/>
          <p:nvPr/>
        </p:nvSpPr>
        <p:spPr>
          <a:xfrm>
            <a:off x="4023360" y="4739640"/>
            <a:ext cx="219456" cy="219456"/>
          </a:xfrm>
          <a:prstGeom prst="rect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55" name="Shape 52"/>
          <p:cNvSpPr/>
          <p:nvPr/>
        </p:nvSpPr>
        <p:spPr>
          <a:xfrm>
            <a:off x="4297680" y="4739640"/>
            <a:ext cx="219456" cy="219456"/>
          </a:xfrm>
          <a:prstGeom prst="rect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56" name="Shape 53"/>
          <p:cNvSpPr/>
          <p:nvPr/>
        </p:nvSpPr>
        <p:spPr>
          <a:xfrm>
            <a:off x="4572000" y="4739640"/>
            <a:ext cx="219456" cy="219456"/>
          </a:xfrm>
          <a:prstGeom prst="rect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4846320" y="4739640"/>
            <a:ext cx="219456" cy="219456"/>
          </a:xfrm>
          <a:prstGeom prst="rect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5120640" y="4739640"/>
            <a:ext cx="219456" cy="219456"/>
          </a:xfrm>
          <a:prstGeom prst="rect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59" name="Shape 56"/>
          <p:cNvSpPr/>
          <p:nvPr/>
        </p:nvSpPr>
        <p:spPr>
          <a:xfrm>
            <a:off x="5394960" y="4739640"/>
            <a:ext cx="219456" cy="219456"/>
          </a:xfrm>
          <a:prstGeom prst="rect">
            <a:avLst/>
          </a:prstGeom>
          <a:solidFill>
            <a:srgbClr val="F7F4EE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4023360" y="5032248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 done, 1 open</a:t>
            </a:r>
            <a:endParaRPr lang="en-US" sz="1100" dirty="0"/>
          </a:p>
        </p:txBody>
      </p:sp>
      <p:sp>
        <p:nvSpPr>
          <p:cNvPr id="61" name="Text 58"/>
          <p:cNvSpPr/>
          <p:nvPr/>
        </p:nvSpPr>
        <p:spPr>
          <a:xfrm>
            <a:off x="4023360" y="5306568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86611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75%</a:t>
            </a:r>
            <a:endParaRPr lang="en-US" sz="2200" dirty="0"/>
          </a:p>
        </p:txBody>
      </p:sp>
      <p:sp>
        <p:nvSpPr>
          <p:cNvPr id="62" name="Shape 59"/>
          <p:cNvSpPr/>
          <p:nvPr/>
        </p:nvSpPr>
        <p:spPr>
          <a:xfrm>
            <a:off x="4023360" y="5745480"/>
            <a:ext cx="2377440" cy="54864"/>
          </a:xfrm>
          <a:prstGeom prst="rect">
            <a:avLst/>
          </a:prstGeom>
          <a:solidFill>
            <a:srgbClr val="E6E1D6"/>
          </a:solidFill>
          <a:ln/>
        </p:spPr>
      </p:sp>
      <p:sp>
        <p:nvSpPr>
          <p:cNvPr id="63" name="Shape 60"/>
          <p:cNvSpPr/>
          <p:nvPr/>
        </p:nvSpPr>
        <p:spPr>
          <a:xfrm>
            <a:off x="4023360" y="5745480"/>
            <a:ext cx="1783080" cy="54864"/>
          </a:xfrm>
          <a:prstGeom prst="rect">
            <a:avLst/>
          </a:prstGeom>
          <a:solidFill>
            <a:srgbClr val="E0A21B"/>
          </a:solidFill>
          <a:ln/>
        </p:spPr>
      </p:sp>
      <p:sp>
        <p:nvSpPr>
          <p:cNvPr id="64" name="Shape 61"/>
          <p:cNvSpPr/>
          <p:nvPr/>
        </p:nvSpPr>
        <p:spPr>
          <a:xfrm>
            <a:off x="6858000" y="4794504"/>
            <a:ext cx="109728" cy="109728"/>
          </a:xfrm>
          <a:prstGeom prst="ellipse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7059168" y="4721352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transfer to new system</a:t>
            </a:r>
            <a:endParaRPr lang="en-US" sz="1100" dirty="0"/>
          </a:p>
        </p:txBody>
      </p:sp>
      <p:sp>
        <p:nvSpPr>
          <p:cNvPr id="66" name="Shape 63"/>
          <p:cNvSpPr/>
          <p:nvPr/>
        </p:nvSpPr>
        <p:spPr>
          <a:xfrm>
            <a:off x="6858000" y="5123688"/>
            <a:ext cx="109728" cy="109728"/>
          </a:xfrm>
          <a:prstGeom prst="ellipse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7059168" y="5050536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 plan agreed</a:t>
            </a:r>
            <a:endParaRPr lang="en-US" sz="1100" dirty="0"/>
          </a:p>
        </p:txBody>
      </p:sp>
      <p:sp>
        <p:nvSpPr>
          <p:cNvPr id="68" name="Shape 65"/>
          <p:cNvSpPr/>
          <p:nvPr/>
        </p:nvSpPr>
        <p:spPr>
          <a:xfrm>
            <a:off x="9203436" y="4794504"/>
            <a:ext cx="109728" cy="109728"/>
          </a:xfrm>
          <a:prstGeom prst="ellipse">
            <a:avLst/>
          </a:prstGeom>
          <a:solidFill>
            <a:srgbClr val="F7F4EE"/>
          </a:solidFill>
          <a:ln w="15875">
            <a:solidFill>
              <a:srgbClr val="E0A21B"/>
            </a:solidFill>
            <a:prstDash val="solid"/>
          </a:ln>
        </p:spPr>
      </p:sp>
      <p:sp>
        <p:nvSpPr>
          <p:cNvPr id="69" name="Text 66"/>
          <p:cNvSpPr/>
          <p:nvPr/>
        </p:nvSpPr>
        <p:spPr>
          <a:xfrm>
            <a:off x="9404604" y="4721352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Usage tracking rollout</a:t>
            </a:r>
            <a:endParaRPr lang="en-US" sz="1100" dirty="0"/>
          </a:p>
        </p:txBody>
      </p:sp>
      <p:sp>
        <p:nvSpPr>
          <p:cNvPr id="70" name="Shape 67"/>
          <p:cNvSpPr/>
          <p:nvPr/>
        </p:nvSpPr>
        <p:spPr>
          <a:xfrm>
            <a:off x="9203436" y="5123688"/>
            <a:ext cx="109728" cy="109728"/>
          </a:xfrm>
          <a:prstGeom prst="ellipse">
            <a:avLst/>
          </a:prstGeom>
          <a:solidFill>
            <a:srgbClr val="E0A21B"/>
          </a:solidFill>
          <a:ln w="12700">
            <a:solidFill>
              <a:srgbClr val="E0A21B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9404604" y="5050536"/>
            <a:ext cx="20711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reviews, 3 features</a:t>
            </a:r>
            <a:endParaRPr lang="en-US" sz="1100" dirty="0"/>
          </a:p>
        </p:txBody>
      </p:sp>
      <p:sp>
        <p:nvSpPr>
          <p:cNvPr id="72" name="Text 69"/>
          <p:cNvSpPr/>
          <p:nvPr/>
        </p:nvSpPr>
        <p:spPr>
          <a:xfrm>
            <a:off x="640080" y="5989320"/>
            <a:ext cx="109087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Done/Open = planned tasks this week; work in review stays open until approved.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Engineering Activity · GitHub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Team Delivery Activity This Week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L0Xly7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874520"/>
            <a:ext cx="2743200" cy="86624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4400" dirty="0"/>
          </a:p>
        </p:txBody>
      </p:sp>
      <p:sp>
        <p:nvSpPr>
          <p:cNvPr id="10" name="Text 7"/>
          <p:cNvSpPr/>
          <p:nvPr/>
        </p:nvSpPr>
        <p:spPr>
          <a:xfrm>
            <a:off x="640080" y="2770632"/>
            <a:ext cx="2743200" cy="477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Features approved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640080" y="3276600"/>
            <a:ext cx="2743200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0080" y="3368040"/>
            <a:ext cx="2743200" cy="86624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3200" dirty="0"/>
          </a:p>
        </p:txBody>
      </p:sp>
      <p:sp>
        <p:nvSpPr>
          <p:cNvPr id="13" name="Text 10"/>
          <p:cNvSpPr/>
          <p:nvPr/>
        </p:nvSpPr>
        <p:spPr>
          <a:xfrm>
            <a:off x="640080" y="4264152"/>
            <a:ext cx="2743200" cy="477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final review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4770120"/>
            <a:ext cx="2743200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0080" y="4861560"/>
            <a:ext cx="2743200" cy="86624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3200" dirty="0"/>
          </a:p>
        </p:txBody>
      </p:sp>
      <p:sp>
        <p:nvSpPr>
          <p:cNvPr id="16" name="Text 13"/>
          <p:cNvSpPr/>
          <p:nvPr/>
        </p:nvSpPr>
        <p:spPr>
          <a:xfrm>
            <a:off x="640080" y="5757672"/>
            <a:ext cx="2743200" cy="4779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8465C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Code reviews completed</a:t>
            </a:r>
            <a:endParaRPr lang="en-US" sz="1200" dirty="0"/>
          </a:p>
        </p:txBody>
      </p:sp>
      <p:graphicFrame>
        <p:nvGraphicFramePr>
          <p:cNvPr id="17" name="Chart 0" descr=""/>
          <p:cNvGraphicFramePr/>
          <p:nvPr/>
        </p:nvGraphicFramePr>
        <p:xfrm>
          <a:off x="3840480" y="1737360"/>
          <a:ext cx="770839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8" name="Text 14"/>
          <p:cNvSpPr/>
          <p:nvPr/>
        </p:nvSpPr>
        <p:spPr>
          <a:xfrm>
            <a:off x="3840480" y="5897880"/>
            <a:ext cx="7708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GitHub activity this week.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Looking Ahead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31520"/>
            <a:ext cx="10908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 Week's Plan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1481328"/>
            <a:ext cx="10908792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6446520"/>
            <a:ext cx="6400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October 9, 2026</a:t>
            </a:r>
            <a:endParaRPr lang="en-US" sz="1100" dirty="0"/>
          </a:p>
        </p:txBody>
      </p:sp>
      <p:pic>
        <p:nvPicPr>
          <p:cNvPr id="6" name="Image 0" descr="/var/folders/lw/rmylcyvd5rjfxk9g1z9rrm8w0000gq/T/showship-deck-L0Xly7/paper_m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28" y="6464808"/>
            <a:ext cx="201168" cy="20116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966960" y="6446520"/>
            <a:ext cx="1371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Shipped with </a:t>
            </a:r>
            <a:pPr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Showship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11274552" y="6446520"/>
            <a:ext cx="274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10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3736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Project / track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737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Owner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5669280" y="1737360"/>
            <a:ext cx="3867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Next focus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9720072" y="1737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Status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640080" y="2057400"/>
            <a:ext cx="10908792" cy="0"/>
          </a:xfrm>
          <a:prstGeom prst="line">
            <a:avLst/>
          </a:prstGeom>
          <a:noFill/>
          <a:ln w="9525">
            <a:solidFill>
              <a:srgbClr val="1715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40080" y="210312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Patient App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657600" y="21031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Leo Park @Leo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5669280" y="2103120"/>
            <a:ext cx="3776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the booking calendar, then start payments and receipts.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10643616" y="2496312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10A6A0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844784" y="2432304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P3 · 40%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40080" y="301752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0080" y="301752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ClinicBook · Clinic Dashboard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3657600" y="30175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Nina Rao @Nina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5669280" y="3017520"/>
            <a:ext cx="3776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the duplicate-reminder fix and release reminders; start reports and exports.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10643616" y="3410712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10A6A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844784" y="3346704"/>
            <a:ext cx="9052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C7D7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P4 · 80%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640080" y="393192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0080" y="393192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86611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PulseBoard · Usage Tracking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3657600" y="39319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 @Maya</a:t>
            </a:r>
            <a:endParaRPr lang="en-US" sz="1150" dirty="0"/>
          </a:p>
        </p:txBody>
      </p:sp>
      <p:sp>
        <p:nvSpPr>
          <p:cNvPr id="28" name="Text 25"/>
          <p:cNvSpPr/>
          <p:nvPr/>
        </p:nvSpPr>
        <p:spPr>
          <a:xfrm>
            <a:off x="5669280" y="3931920"/>
            <a:ext cx="3776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Finish adding usage tracking to the web app, then open the first dashboard to managers.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10424160" y="4325112"/>
            <a:ext cx="118872" cy="118872"/>
          </a:xfrm>
          <a:prstGeom prst="ellipse">
            <a:avLst/>
          </a:prstGeom>
          <a:solidFill>
            <a:srgbClr val="F7F4EE"/>
          </a:solidFill>
          <a:ln w="19050">
            <a:solidFill>
              <a:srgbClr val="E0A21B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10625328" y="4261104"/>
            <a:ext cx="11247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611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In progress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640080" y="484632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0080" y="484632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App Store Release</a:t>
            </a:r>
            <a:endParaRPr lang="en-US" sz="1300" dirty="0"/>
          </a:p>
        </p:txBody>
      </p:sp>
      <p:sp>
        <p:nvSpPr>
          <p:cNvPr id="33" name="Text 30"/>
          <p:cNvSpPr/>
          <p:nvPr/>
        </p:nvSpPr>
        <p:spPr>
          <a:xfrm>
            <a:off x="3657600" y="484632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4846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Maya Lin @Maya</a:t>
            </a:r>
            <a:endParaRPr lang="en-US" sz="1150" dirty="0"/>
          </a:p>
        </p:txBody>
      </p:sp>
      <p:sp>
        <p:nvSpPr>
          <p:cNvPr id="34" name="Text 31"/>
          <p:cNvSpPr/>
          <p:nvPr/>
        </p:nvSpPr>
        <p:spPr>
          <a:xfrm>
            <a:off x="5669280" y="4846320"/>
            <a:ext cx="3776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1715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Invite the first 20 clinic staff to TestFlight.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10936224" y="5239512"/>
            <a:ext cx="118872" cy="118872"/>
          </a:xfrm>
          <a:prstGeom prst="ellipse">
            <a:avLst/>
          </a:prstGeom>
          <a:solidFill>
            <a:srgbClr val="6C4CF5"/>
          </a:solidFill>
          <a:ln w="12700">
            <a:solidFill>
              <a:srgbClr val="6C4CF5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11137392" y="5175504"/>
            <a:ext cx="612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Done</a:t>
            </a:r>
            <a:endParaRPr lang="en-US" sz="1100" dirty="0"/>
          </a:p>
        </p:txBody>
      </p:sp>
      <p:sp>
        <p:nvSpPr>
          <p:cNvPr id="37" name="Shape 34"/>
          <p:cNvSpPr/>
          <p:nvPr/>
        </p:nvSpPr>
        <p:spPr>
          <a:xfrm>
            <a:off x="640080" y="5760720"/>
            <a:ext cx="10908792" cy="0"/>
          </a:xfrm>
          <a:prstGeom prst="line">
            <a:avLst/>
          </a:prstGeom>
          <a:noFill/>
          <a:ln w="9525">
            <a:solidFill>
              <a:srgbClr val="D6D0C3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lw/rmylcyvd5rjfxk9g1z9rrm8w0000gq/T/showship-deck-L0Xly7/paper_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14032" y="0"/>
            <a:ext cx="5080406" cy="6858000"/>
          </a:xfrm>
          <a:prstGeom prst="rect">
            <a:avLst/>
          </a:prstGeom>
        </p:spPr>
      </p:pic>
      <p:pic>
        <p:nvPicPr>
          <p:cNvPr id="3" name="Image 1" descr="/var/folders/lw/rmylcyvd5rjfxk9g1z9rrm8w0000gq/T/showship-deck-L0Xly7/logo_trimm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566928"/>
            <a:ext cx="489642" cy="566928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371600" y="566928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300" dirty="0"/>
          </a:p>
        </p:txBody>
      </p:sp>
      <p:sp>
        <p:nvSpPr>
          <p:cNvPr id="5" name="Text 1"/>
          <p:cNvSpPr/>
          <p:nvPr/>
        </p:nvSpPr>
        <p:spPr>
          <a:xfrm>
            <a:off x="640080" y="246888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6" name="Text 2"/>
          <p:cNvSpPr/>
          <p:nvPr/>
        </p:nvSpPr>
        <p:spPr>
          <a:xfrm>
            <a:off x="640080" y="3566160"/>
            <a:ext cx="6400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6C4CF5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Questions and discussion</a:t>
            </a:r>
            <a:endParaRPr lang="en-US" sz="2200" dirty="0"/>
          </a:p>
        </p:txBody>
      </p:sp>
      <p:sp>
        <p:nvSpPr>
          <p:cNvPr id="7" name="Shape 3"/>
          <p:cNvSpPr/>
          <p:nvPr/>
        </p:nvSpPr>
        <p:spPr>
          <a:xfrm>
            <a:off x="640080" y="5440680"/>
            <a:ext cx="6035040" cy="0"/>
          </a:xfrm>
          <a:prstGeom prst="line">
            <a:avLst/>
          </a:prstGeom>
          <a:noFill/>
          <a:ln w="12700">
            <a:solidFill>
              <a:srgbClr val="17153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0080" y="5577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Presenter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640080" y="5833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Maya Lin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3840480" y="5577840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8667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Date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840480" y="5833872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53A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October 9, 2026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2026-10-09T12:20:50Z</dcterms:created>
  <dcterms:modified xsi:type="dcterms:W3CDTF">2026-10-09T12:20:50Z</dcterms:modified>
</cp:coreProperties>
</file>