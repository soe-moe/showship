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6C4C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71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BDAEF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A9A6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715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15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MhqDBR/paper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0"/>
            <a:ext cx="5080406" cy="6858000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MhqDBR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64008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report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40080" y="265176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Development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Report</a:t>
            </a:r>
            <a:endParaRPr lang="en-US" sz="4400" dirty="0"/>
          </a:p>
        </p:txBody>
      </p:sp>
      <p:sp>
        <p:nvSpPr>
          <p:cNvPr id="7" name="Shape 3"/>
          <p:cNvSpPr/>
          <p:nvPr/>
        </p:nvSpPr>
        <p:spPr>
          <a:xfrm>
            <a:off x="640080" y="5440680"/>
            <a:ext cx="6035040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8404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8404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9, 2026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MhqDBR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update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3291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decision is needed this week: can patients turn off SMS reminders and keep email only? (see Decisions Needed)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480560" y="1892808"/>
            <a:ext cx="2103120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766560" y="192938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570464" y="1993392"/>
            <a:ext cx="118872" cy="118872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71632" y="1929384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219456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Account Verified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766560" y="2569464"/>
            <a:ext cx="4782312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480560" y="3276600"/>
            <a:ext cx="706831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80560" y="3386328"/>
            <a:ext cx="2103120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65%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766560" y="342290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643616" y="3486912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10A6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844784" y="342290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66560" y="36880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of 8 Phases Complete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66560" y="4062984"/>
            <a:ext cx="4782312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480560" y="4770120"/>
            <a:ext cx="706831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80560" y="4879848"/>
            <a:ext cx="2103120" cy="127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/ 2</a:t>
            </a:r>
            <a:endParaRPr lang="en-US" sz="4400" dirty="0"/>
          </a:p>
        </p:txBody>
      </p:sp>
      <p:sp>
        <p:nvSpPr>
          <p:cNvPr id="26" name="Text 23"/>
          <p:cNvSpPr/>
          <p:nvPr/>
        </p:nvSpPr>
        <p:spPr>
          <a:xfrm>
            <a:off x="6766560" y="491642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643616" y="4980432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E0A21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844784" y="491642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66560" y="518160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Workstreams Complete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766560" y="5556504"/>
            <a:ext cx="4782312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· App Store Release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Store: Developer Account Verified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MhqDBR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0" y="1847088"/>
            <a:ext cx="118872" cy="118872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59568" y="178308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 resolved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1783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app is published under the company's own verified account, ready for beta testers.</a:t>
            </a:r>
            <a:endParaRPr lang="en-US" sz="1900" dirty="0"/>
          </a:p>
        </p:txBody>
      </p:sp>
      <p:pic>
        <p:nvPicPr>
          <p:cNvPr id="12" name="Image 1" descr="/var/folders/lw/rmylcyvd5rjfxk9g1z9rrm8w0000gq/T/showship-deck-MhqDBR/paper_tl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80"/>
            <a:ext cx="10908792" cy="548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13232" y="3273552"/>
            <a:ext cx="310896" cy="310896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13232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34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13232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Blocked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13232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187952" y="3273552"/>
            <a:ext cx="310896" cy="310896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154680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154680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Number Received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154680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662672" y="3273552"/>
            <a:ext cx="310896" cy="310896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29400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629400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 Verified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6629400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11137392" y="3273552"/>
            <a:ext cx="310896" cy="310896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070848" y="3794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070848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TestFlight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9070848" y="4434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Progress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MhqDBR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2423160"/>
            <a:ext cx="3474720" cy="3474720"/>
          </a:xfrm>
          <a:prstGeom prst="blockArc">
            <a:avLst>
              <a:gd name="adj1" fmla="val 10800000"/>
              <a:gd name="adj2" fmla="val 0"/>
              <a:gd name="adj3" fmla="val 6000"/>
            </a:avLst>
          </a:prstGeom>
          <a:solidFill>
            <a:srgbClr val="E6E1D6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" y="2423160"/>
            <a:ext cx="3474720" cy="3474720"/>
          </a:xfrm>
          <a:prstGeom prst="blockArc">
            <a:avLst>
              <a:gd name="adj1" fmla="val 10800000"/>
              <a:gd name="adj2" fmla="val 17820000"/>
              <a:gd name="adj3" fmla="val 6000"/>
            </a:avLst>
          </a:prstGeom>
          <a:solidFill>
            <a:srgbClr val="10A6A0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30175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65%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640080" y="4297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Combined Progress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4663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+ Clinic dashboard · 8 phases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177272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77840" y="2103120"/>
            <a:ext cx="5971032" cy="0"/>
          </a:xfrm>
          <a:prstGeom prst="line">
            <a:avLst/>
          </a:prstGeom>
          <a:noFill/>
          <a:ln w="9525">
            <a:solidFill>
              <a:srgbClr val="1715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219456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App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577840" y="2542032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177272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5577840" y="2907792"/>
            <a:ext cx="5971032" cy="64008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21" name="Shape 18"/>
          <p:cNvSpPr/>
          <p:nvPr/>
        </p:nvSpPr>
        <p:spPr>
          <a:xfrm>
            <a:off x="5577840" y="2907792"/>
            <a:ext cx="3582619" cy="64008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22" name="Shape 19"/>
          <p:cNvSpPr/>
          <p:nvPr/>
        </p:nvSpPr>
        <p:spPr>
          <a:xfrm>
            <a:off x="5577840" y="3108960"/>
            <a:ext cx="597103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77840" y="3154680"/>
            <a:ext cx="4507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 Dashboard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577840" y="3502152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177272" y="3154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n-US" sz="2600" dirty="0"/>
          </a:p>
        </p:txBody>
      </p:sp>
      <p:sp>
        <p:nvSpPr>
          <p:cNvPr id="26" name="Shape 23"/>
          <p:cNvSpPr/>
          <p:nvPr/>
        </p:nvSpPr>
        <p:spPr>
          <a:xfrm>
            <a:off x="5577840" y="3867912"/>
            <a:ext cx="5971032" cy="64008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27" name="Shape 24"/>
          <p:cNvSpPr/>
          <p:nvPr/>
        </p:nvSpPr>
        <p:spPr>
          <a:xfrm>
            <a:off x="5577840" y="3867912"/>
            <a:ext cx="4179722" cy="64008"/>
          </a:xfrm>
          <a:prstGeom prst="rect">
            <a:avLst/>
          </a:prstGeom>
          <a:solidFill>
            <a:srgbClr val="0B7470"/>
          </a:solidFill>
          <a:ln/>
        </p:spPr>
      </p:sp>
      <p:sp>
        <p:nvSpPr>
          <p:cNvPr id="28" name="Shape 25"/>
          <p:cNvSpPr/>
          <p:nvPr/>
        </p:nvSpPr>
        <p:spPr>
          <a:xfrm>
            <a:off x="5577840" y="4069080"/>
            <a:ext cx="597103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77840" y="4343400"/>
            <a:ext cx="5971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 </a:t>
            </a:r>
            <a:pPr indent="0" marL="0">
              <a:buNone/>
            </a:pPr>
            <a:r>
              <a:rPr lang="en-US" sz="1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phases completed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</a:t>
            </a:r>
            <a:pPr indent="0" marL="0">
              <a:buNone/>
            </a:pPr>
            <a:r>
              <a:rPr lang="en-US" sz="1200" dirty="0">
                <a:solidFill>
                  <a:srgbClr val="88D3D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 </a:t>
            </a:r>
            <a:pPr indent="0" marL="0">
              <a:buNone/>
            </a:pPr>
            <a:r>
              <a:rPr lang="en-US" sz="1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phases in progress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  </a:t>
            </a:r>
            <a:pPr indent="0" marL="0">
              <a:buNone/>
            </a:pPr>
            <a:r>
              <a:rPr lang="en-US" sz="1200" dirty="0">
                <a:solidFill>
                  <a:srgbClr val="D6D0C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●  </a:t>
            </a:r>
            <a:pPr indent="0" marL="0">
              <a:buNone/>
            </a:pPr>
            <a:r>
              <a:rPr lang="en-US" sz="1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phases not started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577840" y="5897880"/>
            <a:ext cx="5971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= average completion of each track's four phases.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Phase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Status of Each Phase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MhqDBR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89280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App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0080" y="2286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63840" y="1874520"/>
            <a:ext cx="3685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pPr algn="r"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of the track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0080" y="265176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70582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10896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3108960"/>
            <a:ext cx="2644902" cy="146304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16" name="Text 13"/>
          <p:cNvSpPr/>
          <p:nvPr/>
        </p:nvSpPr>
        <p:spPr>
          <a:xfrm>
            <a:off x="3394710" y="265176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125212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394710" y="310896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19" name="Shape 16"/>
          <p:cNvSpPr/>
          <p:nvPr/>
        </p:nvSpPr>
        <p:spPr>
          <a:xfrm>
            <a:off x="3394710" y="3108960"/>
            <a:ext cx="2644902" cy="146304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20" name="Text 17"/>
          <p:cNvSpPr/>
          <p:nvPr/>
        </p:nvSpPr>
        <p:spPr>
          <a:xfrm>
            <a:off x="6149340" y="265176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879842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49340" y="310896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23" name="Shape 20"/>
          <p:cNvSpPr/>
          <p:nvPr/>
        </p:nvSpPr>
        <p:spPr>
          <a:xfrm>
            <a:off x="6149340" y="3108960"/>
            <a:ext cx="1057961" cy="146304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24" name="Text 21"/>
          <p:cNvSpPr/>
          <p:nvPr/>
        </p:nvSpPr>
        <p:spPr>
          <a:xfrm>
            <a:off x="8903970" y="265176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634472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903970" y="310896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33832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calendar underway; payments are next.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" y="397764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41330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 Dashboard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64008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863840" y="4114800"/>
            <a:ext cx="3685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pPr algn="r"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of the track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640080" y="489204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370582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40080" y="534924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35" name="Shape 32"/>
          <p:cNvSpPr/>
          <p:nvPr/>
        </p:nvSpPr>
        <p:spPr>
          <a:xfrm>
            <a:off x="640080" y="5349240"/>
            <a:ext cx="2644902" cy="146304"/>
          </a:xfrm>
          <a:prstGeom prst="rect">
            <a:avLst/>
          </a:prstGeom>
          <a:solidFill>
            <a:srgbClr val="0B7470"/>
          </a:solidFill>
          <a:ln/>
        </p:spPr>
      </p:sp>
      <p:sp>
        <p:nvSpPr>
          <p:cNvPr id="36" name="Text 33"/>
          <p:cNvSpPr/>
          <p:nvPr/>
        </p:nvSpPr>
        <p:spPr>
          <a:xfrm>
            <a:off x="3394710" y="489204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125212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3394710" y="534924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39" name="Shape 36"/>
          <p:cNvSpPr/>
          <p:nvPr/>
        </p:nvSpPr>
        <p:spPr>
          <a:xfrm>
            <a:off x="3394710" y="5349240"/>
            <a:ext cx="2644902" cy="146304"/>
          </a:xfrm>
          <a:prstGeom prst="rect">
            <a:avLst/>
          </a:prstGeom>
          <a:solidFill>
            <a:srgbClr val="0B7470"/>
          </a:solidFill>
          <a:ln/>
        </p:spPr>
      </p:sp>
      <p:sp>
        <p:nvSpPr>
          <p:cNvPr id="40" name="Text 37"/>
          <p:cNvSpPr/>
          <p:nvPr/>
        </p:nvSpPr>
        <p:spPr>
          <a:xfrm>
            <a:off x="6149340" y="489204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879842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149340" y="534924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43" name="Text 40"/>
          <p:cNvSpPr/>
          <p:nvPr/>
        </p:nvSpPr>
        <p:spPr>
          <a:xfrm>
            <a:off x="8903970" y="4892040"/>
            <a:ext cx="18219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 &amp; Notifications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0634472" y="4892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8903970" y="5349240"/>
            <a:ext cx="2644902" cy="14630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46" name="Shape 43"/>
          <p:cNvSpPr/>
          <p:nvPr/>
        </p:nvSpPr>
        <p:spPr>
          <a:xfrm>
            <a:off x="8903970" y="5349240"/>
            <a:ext cx="2115922" cy="146304"/>
          </a:xfrm>
          <a:prstGeom prst="rect">
            <a:avLst/>
          </a:prstGeom>
          <a:solidFill>
            <a:srgbClr val="0B7470"/>
          </a:solidFill>
          <a:ln/>
        </p:spPr>
      </p:sp>
      <p:sp>
        <p:nvSpPr>
          <p:cNvPr id="47" name="Text 44"/>
          <p:cNvSpPr/>
          <p:nvPr/>
        </p:nvSpPr>
        <p:spPr>
          <a:xfrm>
            <a:off x="640080" y="562356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are in final review; 4 of 5 parts verified.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What Was Done on Each Task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MhqDBR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3453384" cy="0"/>
          </a:xfrm>
          <a:prstGeom prst="line">
            <a:avLst/>
          </a:prstGeom>
          <a:noFill/>
          <a:ln w="25400">
            <a:solidFill>
              <a:srgbClr val="1715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029968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10A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196596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17" name="Text 14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19" name="Text 16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10A6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6866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6866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67784" y="1783080"/>
            <a:ext cx="3453384" cy="0"/>
          </a:xfrm>
          <a:prstGeom prst="line">
            <a:avLst/>
          </a:prstGeom>
          <a:noFill/>
          <a:ln w="25400">
            <a:solidFill>
              <a:srgbClr val="17153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30624" y="1783080"/>
            <a:ext cx="0" cy="3694938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96384" y="2029968"/>
            <a:ext cx="118872" cy="118872"/>
          </a:xfrm>
          <a:prstGeom prst="ellipse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97552" y="196596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5" name="Text 32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7" name="Text 34"/>
          <p:cNvSpPr/>
          <p:nvPr/>
        </p:nvSpPr>
        <p:spPr>
          <a:xfrm>
            <a:off x="4843272" y="4536186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596384" y="4813554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3272" y="475869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96384" y="5036058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3272" y="498119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095488" y="1783080"/>
            <a:ext cx="3453384" cy="0"/>
          </a:xfrm>
          <a:prstGeom prst="line">
            <a:avLst/>
          </a:prstGeom>
          <a:noFill/>
          <a:ln w="25400">
            <a:solidFill>
              <a:srgbClr val="17153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958328" y="1783080"/>
            <a:ext cx="0" cy="3694938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324088" y="2029968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68667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25256" y="196596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324088" y="2871597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8324088" y="360311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8324088" y="3932301"/>
            <a:ext cx="118872" cy="118872"/>
          </a:xfrm>
          <a:prstGeom prst="ellipse">
            <a:avLst/>
          </a:prstGeom>
          <a:ln w="19050">
            <a:solidFill>
              <a:srgbClr val="68667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570976" y="387743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8324088" y="4154805"/>
            <a:ext cx="118872" cy="118872"/>
          </a:xfrm>
          <a:prstGeom prst="ellipse">
            <a:avLst/>
          </a:prstGeom>
          <a:ln w="19050">
            <a:solidFill>
              <a:srgbClr val="68667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570976" y="409994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8324088" y="4377309"/>
            <a:ext cx="118872" cy="118872"/>
          </a:xfrm>
          <a:prstGeom prst="ellipse">
            <a:avLst/>
          </a:prstGeom>
          <a:ln w="19050">
            <a:solidFill>
              <a:srgbClr val="68667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70976" y="432244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640080" y="561517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· Code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Check: Issues Caught Before Release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MhqDBR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3361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" y="2487168"/>
            <a:ext cx="3361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 reviewed this week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76344" y="1737360"/>
            <a:ext cx="3361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276344" y="2487168"/>
            <a:ext cx="3361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 for release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12608" y="1737360"/>
            <a:ext cx="3361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212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7912608" y="2487168"/>
            <a:ext cx="3361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tests passing (100%)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2971800"/>
            <a:ext cx="10908792" cy="0"/>
          </a:xfrm>
          <a:prstGeom prst="line">
            <a:avLst/>
          </a:prstGeom>
          <a:noFill/>
          <a:ln w="9525">
            <a:solidFill>
              <a:srgbClr val="1715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081528"/>
            <a:ext cx="27432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 Reminders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66160" y="3081528"/>
            <a:ext cx="566928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643616" y="3145536"/>
            <a:ext cx="118872" cy="118872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844784" y="308152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96240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4072128"/>
            <a:ext cx="27432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566160" y="4072128"/>
            <a:ext cx="566928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912096" y="4136136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6C4C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113264" y="407212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495300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062728"/>
            <a:ext cx="27432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Privacy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566160" y="5062728"/>
            <a:ext cx="566928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643616" y="5126736"/>
            <a:ext cx="118872" cy="118872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844784" y="5062728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34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Needs Attention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Blockers &amp; Decisions Needed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MhqDBR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5088636" cy="0"/>
          </a:xfrm>
          <a:prstGeom prst="line">
            <a:avLst/>
          </a:prstGeom>
          <a:noFill/>
          <a:ln w="38100">
            <a:solidFill>
              <a:srgbClr val="D947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8745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34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Blockers and risks</a:t>
            </a:r>
            <a:pPr indent="0" marL="0">
              <a:buNone/>
            </a:pPr>
            <a:r>
              <a:rPr lang="en-US" sz="16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340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3000" y="2468880"/>
            <a:ext cx="45857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Reminders release waiting on one fix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Duplicate reminders must be prevented before release. Fix is small and already tested.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Owner: Nina Rao @Nina · Expected: next week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60236" y="1783080"/>
            <a:ext cx="5088636" cy="0"/>
          </a:xfrm>
          <a:prstGeom prst="line">
            <a:avLst/>
          </a:prstGeom>
          <a:noFill/>
          <a:ln w="38100">
            <a:solidFill>
              <a:srgbClr val="1715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0236" y="1874520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Decisions needed</a:t>
            </a:r>
            <a:pPr indent="0" marL="0">
              <a:buNone/>
            </a:pPr>
            <a:r>
              <a:rPr lang="en-US" sz="16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60236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963156" y="2468880"/>
            <a:ext cx="45857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patients turn off SMS reminders and keep email only?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 every patient with a phone number receives SMS reminders; some clinics report complaints.</a:t>
            </a:r>
            <a:endParaRPr lang="en-US" sz="1500" dirty="0"/>
          </a:p>
          <a:p>
            <a:pPr indent="0" marL="0">
              <a:lnSpc>
                <a:spcPct val="112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Options: allow opt-out · clinic decides per patient · keep as today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· Task Tracker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Task Track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MhqDBR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892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Leo Park @Leo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2221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514600"/>
            <a:ext cx="310896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23360" y="196596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0" y="196596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196596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46320" y="1965960"/>
            <a:ext cx="219456" cy="219456"/>
          </a:xfrm>
          <a:prstGeom prst="rect">
            <a:avLst/>
          </a:prstGeom>
          <a:solidFill>
            <a:srgbClr val="F7F4EE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120640" y="1965960"/>
            <a:ext cx="219456" cy="219456"/>
          </a:xfrm>
          <a:prstGeom prst="rect">
            <a:avLst/>
          </a:prstGeom>
          <a:solidFill>
            <a:srgbClr val="F7F4EE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2258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done, 2 open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023360" y="25328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023360" y="2971800"/>
            <a:ext cx="2377440" cy="5486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20" name="Shape 17"/>
          <p:cNvSpPr/>
          <p:nvPr/>
        </p:nvSpPr>
        <p:spPr>
          <a:xfrm>
            <a:off x="4023360" y="2971800"/>
            <a:ext cx="1426464" cy="54864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21" name="Shape 18"/>
          <p:cNvSpPr/>
          <p:nvPr/>
        </p:nvSpPr>
        <p:spPr>
          <a:xfrm>
            <a:off x="6858000" y="2020824"/>
            <a:ext cx="109728" cy="109728"/>
          </a:xfrm>
          <a:prstGeom prst="ellipse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59168" y="194767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0" y="2350008"/>
            <a:ext cx="109728" cy="109728"/>
          </a:xfrm>
          <a:prstGeom prst="ellipse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59168" y="227685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9203436" y="2020824"/>
            <a:ext cx="109728" cy="109728"/>
          </a:xfrm>
          <a:prstGeom prst="ellipse">
            <a:avLst/>
          </a:prstGeom>
          <a:solidFill>
            <a:srgbClr val="F7F4EE"/>
          </a:solidFill>
          <a:ln w="15875">
            <a:solidFill>
              <a:srgbClr val="10A6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04604" y="194767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203436" y="2350008"/>
            <a:ext cx="109728" cy="109728"/>
          </a:xfrm>
          <a:prstGeom prst="ellipse">
            <a:avLst/>
          </a:prstGeom>
          <a:solidFill>
            <a:srgbClr val="F7F4EE"/>
          </a:solidFill>
          <a:ln w="15875">
            <a:solidFill>
              <a:srgbClr val="68667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404604" y="227685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0080" y="316992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" y="32796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Nina Rao @Nina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40080" y="36088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40080" y="3901440"/>
            <a:ext cx="310896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023360" y="335280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297680" y="335280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0" y="335280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46320" y="3352800"/>
            <a:ext cx="219456" cy="219456"/>
          </a:xfrm>
          <a:prstGeom prst="rect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120640" y="3352800"/>
            <a:ext cx="219456" cy="219456"/>
          </a:xfrm>
          <a:prstGeom prst="rect">
            <a:avLst/>
          </a:prstGeom>
          <a:solidFill>
            <a:srgbClr val="F7F4EE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23360" y="3645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done, 1 open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023360" y="39197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4023360" y="4358640"/>
            <a:ext cx="2377440" cy="5486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41" name="Shape 38"/>
          <p:cNvSpPr/>
          <p:nvPr/>
        </p:nvSpPr>
        <p:spPr>
          <a:xfrm>
            <a:off x="4023360" y="4358640"/>
            <a:ext cx="1664208" cy="54864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42" name="Shape 39"/>
          <p:cNvSpPr/>
          <p:nvPr/>
        </p:nvSpPr>
        <p:spPr>
          <a:xfrm>
            <a:off x="6858000" y="3407664"/>
            <a:ext cx="109728" cy="109728"/>
          </a:xfrm>
          <a:prstGeom prst="ellipse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059168" y="333451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858000" y="3736848"/>
            <a:ext cx="109728" cy="109728"/>
          </a:xfrm>
          <a:prstGeom prst="ellipse">
            <a:avLst/>
          </a:prstGeom>
          <a:solidFill>
            <a:srgbClr val="10A6A0"/>
          </a:solidFill>
          <a:ln w="12700">
            <a:solidFill>
              <a:srgbClr val="10A6A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59168" y="366369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203436" y="3407664"/>
            <a:ext cx="109728" cy="109728"/>
          </a:xfrm>
          <a:prstGeom prst="ellipse">
            <a:avLst/>
          </a:prstGeom>
          <a:solidFill>
            <a:srgbClr val="F7F4EE"/>
          </a:solidFill>
          <a:ln w="15875">
            <a:solidFill>
              <a:srgbClr val="10A6A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404604" y="333451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203436" y="3736848"/>
            <a:ext cx="109728" cy="109728"/>
          </a:xfrm>
          <a:prstGeom prst="ellipse">
            <a:avLst/>
          </a:prstGeom>
          <a:solidFill>
            <a:srgbClr val="F7F4EE"/>
          </a:solidFill>
          <a:ln w="15875">
            <a:solidFill>
              <a:srgbClr val="68667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404604" y="366369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0080" y="455676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0080" y="46664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640080" y="49956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40080" y="5288280"/>
            <a:ext cx="310896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4023360" y="4739640"/>
            <a:ext cx="219456" cy="219456"/>
          </a:xfrm>
          <a:prstGeom prst="rect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297680" y="4739640"/>
            <a:ext cx="219456" cy="219456"/>
          </a:xfrm>
          <a:prstGeom prst="rect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572000" y="4739640"/>
            <a:ext cx="219456" cy="219456"/>
          </a:xfrm>
          <a:prstGeom prst="rect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846320" y="4739640"/>
            <a:ext cx="219456" cy="219456"/>
          </a:xfrm>
          <a:prstGeom prst="rect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120640" y="4739640"/>
            <a:ext cx="219456" cy="219456"/>
          </a:xfrm>
          <a:prstGeom prst="rect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394960" y="4739640"/>
            <a:ext cx="219456" cy="219456"/>
          </a:xfrm>
          <a:prstGeom prst="rect">
            <a:avLst/>
          </a:prstGeom>
          <a:solidFill>
            <a:srgbClr val="F7F4EE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023360" y="5032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done, 1 open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4023360" y="53065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75%</a:t>
            </a:r>
            <a:endParaRPr lang="en-US" sz="2200" dirty="0"/>
          </a:p>
        </p:txBody>
      </p:sp>
      <p:sp>
        <p:nvSpPr>
          <p:cNvPr id="62" name="Shape 59"/>
          <p:cNvSpPr/>
          <p:nvPr/>
        </p:nvSpPr>
        <p:spPr>
          <a:xfrm>
            <a:off x="4023360" y="5745480"/>
            <a:ext cx="2377440" cy="54864"/>
          </a:xfrm>
          <a:prstGeom prst="rect">
            <a:avLst/>
          </a:prstGeom>
          <a:solidFill>
            <a:srgbClr val="E6E1D6"/>
          </a:solidFill>
          <a:ln/>
        </p:spPr>
      </p:sp>
      <p:sp>
        <p:nvSpPr>
          <p:cNvPr id="63" name="Shape 60"/>
          <p:cNvSpPr/>
          <p:nvPr/>
        </p:nvSpPr>
        <p:spPr>
          <a:xfrm>
            <a:off x="4023360" y="5745480"/>
            <a:ext cx="1783080" cy="54864"/>
          </a:xfrm>
          <a:prstGeom prst="rect">
            <a:avLst/>
          </a:prstGeom>
          <a:solidFill>
            <a:srgbClr val="E0A21B"/>
          </a:solidFill>
          <a:ln/>
        </p:spPr>
      </p:sp>
      <p:sp>
        <p:nvSpPr>
          <p:cNvPr id="64" name="Shape 61"/>
          <p:cNvSpPr/>
          <p:nvPr/>
        </p:nvSpPr>
        <p:spPr>
          <a:xfrm>
            <a:off x="6858000" y="4794504"/>
            <a:ext cx="109728" cy="109728"/>
          </a:xfrm>
          <a:prstGeom prst="ellipse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059168" y="472135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6858000" y="5123688"/>
            <a:ext cx="109728" cy="109728"/>
          </a:xfrm>
          <a:prstGeom prst="ellipse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059168" y="505053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9203436" y="4794504"/>
            <a:ext cx="109728" cy="109728"/>
          </a:xfrm>
          <a:prstGeom prst="ellipse">
            <a:avLst/>
          </a:prstGeom>
          <a:solidFill>
            <a:srgbClr val="F7F4EE"/>
          </a:solidFill>
          <a:ln w="15875">
            <a:solidFill>
              <a:srgbClr val="E0A21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404604" y="4721352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9203436" y="5123688"/>
            <a:ext cx="109728" cy="109728"/>
          </a:xfrm>
          <a:prstGeom prst="ellipse">
            <a:avLst/>
          </a:prstGeom>
          <a:solidFill>
            <a:srgbClr val="E0A21B"/>
          </a:solidFill>
          <a:ln w="12700">
            <a:solidFill>
              <a:srgbClr val="E0A21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404604" y="5050536"/>
            <a:ext cx="20711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72" name="Text 69"/>
          <p:cNvSpPr/>
          <p:nvPr/>
        </p:nvSpPr>
        <p:spPr>
          <a:xfrm>
            <a:off x="640080" y="5989320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 Activity ·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Delivery Activity This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MhqDBR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2743200" cy="8662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640080" y="2770632"/>
            <a:ext cx="2743200" cy="477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 approved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276600"/>
            <a:ext cx="2743200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3368040"/>
            <a:ext cx="2743200" cy="8662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40080" y="4264152"/>
            <a:ext cx="2743200" cy="477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final review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770120"/>
            <a:ext cx="2743200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861560"/>
            <a:ext cx="2743200" cy="8662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40080" y="5757672"/>
            <a:ext cx="2743200" cy="477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8465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reviews completed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840480" y="1737360"/>
          <a:ext cx="770839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/>
          <p:nvPr/>
        </p:nvSpPr>
        <p:spPr>
          <a:xfrm>
            <a:off x="3840480" y="5897880"/>
            <a:ext cx="7708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GitHub activity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Week's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465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6" name="Image 0" descr="/var/folders/lw/rmylcyvd5rjfxk9g1z9rrm8w0000gq/T/showship-deck-MhqDBR/paper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6464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0" y="6446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/ track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173736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focus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720072" y="1737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057400"/>
            <a:ext cx="10908792" cy="0"/>
          </a:xfrm>
          <a:prstGeom prst="line">
            <a:avLst/>
          </a:prstGeom>
          <a:noFill/>
          <a:ln w="9525">
            <a:solidFill>
              <a:srgbClr val="1715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1031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57600" y="21031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Park @Leo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0" y="2103120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booking calendar, then start payments and receipts.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643616" y="2496312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10A6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844784" y="243230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40%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0175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Clinic Dashboard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0" y="3017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Rao @Nina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0" y="3017520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duplicate-reminder fix and release reminders; start reports and exports.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643616" y="3410712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10A6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844784" y="3346704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7D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80%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393192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3931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· Usage Tracking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657600" y="39319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669280" y="3931920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adding usage tracking to the web app, then open the first dashboard to managers.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10424160" y="4325112"/>
            <a:ext cx="118872" cy="118872"/>
          </a:xfrm>
          <a:prstGeom prst="ellipse">
            <a:avLst/>
          </a:prstGeom>
          <a:solidFill>
            <a:srgbClr val="F7F4EE"/>
          </a:solidFill>
          <a:ln w="19050">
            <a:solidFill>
              <a:srgbClr val="E0A21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25328" y="4261104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611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" y="484632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48463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 Release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657600" y="48463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84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Lin @Maya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669280" y="4846320"/>
            <a:ext cx="3776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the first 20 clinic staff to TestFlight.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10936224" y="5239512"/>
            <a:ext cx="118872" cy="118872"/>
          </a:xfrm>
          <a:prstGeom prst="ellipse">
            <a:avLst/>
          </a:prstGeom>
          <a:solidFill>
            <a:srgbClr val="6C4CF5"/>
          </a:solidFill>
          <a:ln w="12700">
            <a:solidFill>
              <a:srgbClr val="6C4CF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137392" y="5175504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0080" y="5760720"/>
            <a:ext cx="10908792" cy="0"/>
          </a:xfrm>
          <a:prstGeom prst="line">
            <a:avLst/>
          </a:prstGeom>
          <a:noFill/>
          <a:ln w="9525">
            <a:solidFill>
              <a:srgbClr val="D6D0C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MhqDBR/paper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2" y="0"/>
            <a:ext cx="5080406" cy="6858000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MhqDBR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489642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71600" y="56692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640080" y="24688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640080" y="3566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and discussion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640080" y="5440680"/>
            <a:ext cx="6035040" cy="0"/>
          </a:xfrm>
          <a:prstGeom prst="line">
            <a:avLst/>
          </a:prstGeom>
          <a:noFill/>
          <a:ln w="12700">
            <a:solidFill>
              <a:srgbClr val="17153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840480" y="5577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667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840480" y="5833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9,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2026-10-11T16:36:11Z</dcterms:created>
  <dcterms:modified xsi:type="dcterms:W3CDTF">2026-10-11T16:36:11Z</dcterms:modified>
</cp:coreProperties>
</file>