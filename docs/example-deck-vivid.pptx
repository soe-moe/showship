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Combined Progress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4C5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65</c:v>
                </c:pt>
                <c:pt idx="1">
                  <c:v>35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Patient App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40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Clinic Dashboard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E36414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E9E4DC"/>
              </a:solidFill>
              <a:ln w="9525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Complete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Accounts &amp; Sign-in</c:v>
                  </c:pt>
                  <c:pt idx="1">
                    <c:v>P2 · Clinic Search &amp; Maps</c:v>
                  </c:pt>
                  <c:pt idx="2">
                    <c:v>P3 · Booking Calendar</c:v>
                  </c:pt>
                  <c:pt idx="3">
                    <c:v>P4 · Payments &amp; Receipts (Not started)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40</c:v>
                </c:pt>
                <c:pt idx="3">
                  <c:v>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Completed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100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 Progress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0&quot;%&quot;;;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P1 · Clinic Onboarding</c:v>
                  </c:pt>
                  <c:pt idx="1">
                    <c:v>P2 · Doctor Schedules</c:v>
                  </c:pt>
                  <c:pt idx="2">
                    <c:v>P3 · Reports &amp; Exports (Not started)</c:v>
                  </c:pt>
                  <c:pt idx="3">
                    <c:v>P4 · Reminders &amp; Notifications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80</c:v>
                </c:pt>
              </c:numCache>
            </c:numRef>
          </c:val>
        </c:ser>
        <c:dLbls>
          <c:numFmt formatCode="0&quot;%&quot;;;;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E3641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0F4C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F8C9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8A8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F4C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F4C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A3A34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A8A8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xH3gX6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85800" y="2514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880360"/>
            <a:ext cx="7498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Weekly Development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Progress Report</a:t>
            </a:r>
            <a:endParaRPr lang="en-US" sz="46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874520"/>
            <a:ext cx="3392424" cy="82296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5400" dirty="0"/>
          </a:p>
        </p:txBody>
      </p:sp>
      <p:sp>
        <p:nvSpPr>
          <p:cNvPr id="10" name="Shape 8"/>
          <p:cNvSpPr/>
          <p:nvPr/>
        </p:nvSpPr>
        <p:spPr>
          <a:xfrm>
            <a:off x="914400" y="356616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661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Developer Account Verified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914400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398264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98264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4672584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672584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5400" dirty="0"/>
          </a:p>
        </p:txBody>
      </p:sp>
      <p:sp>
        <p:nvSpPr>
          <p:cNvPr id="18" name="Shape 16"/>
          <p:cNvSpPr/>
          <p:nvPr/>
        </p:nvSpPr>
        <p:spPr>
          <a:xfrm>
            <a:off x="4672584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9" name="Text 17"/>
          <p:cNvSpPr/>
          <p:nvPr/>
        </p:nvSpPr>
        <p:spPr>
          <a:xfrm>
            <a:off x="4672584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72584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of 8 Phases Complete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672584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156448" y="1874520"/>
            <a:ext cx="3392424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156448" y="1874520"/>
            <a:ext cx="3392424" cy="82296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8430768" y="219456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30768" y="2560320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/ 2</a:t>
            </a:r>
            <a:endParaRPr lang="en-US" sz="5400" dirty="0"/>
          </a:p>
        </p:txBody>
      </p:sp>
      <p:sp>
        <p:nvSpPr>
          <p:cNvPr id="26" name="Shape 24"/>
          <p:cNvSpPr/>
          <p:nvPr/>
        </p:nvSpPr>
        <p:spPr>
          <a:xfrm>
            <a:off x="8430768" y="3566160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7" name="Text 25"/>
          <p:cNvSpPr/>
          <p:nvPr/>
        </p:nvSpPr>
        <p:spPr>
          <a:xfrm>
            <a:off x="8430768" y="3566160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30768" y="4023360"/>
            <a:ext cx="2843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Workstreams Complete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8430768" y="4389120"/>
            <a:ext cx="28437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5532120"/>
            <a:ext cx="10908792" cy="640080"/>
          </a:xfrm>
          <a:prstGeom prst="roundRect">
            <a:avLst>
              <a:gd name="adj" fmla="val 25714"/>
            </a:avLst>
          </a:prstGeom>
          <a:solidFill>
            <a:srgbClr val="0F4C5C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5321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364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update   </a:t>
            </a:r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decision is needed this week: can patients turn off SMS reminders and keep email only? (see Decisions Needed)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168249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16824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35099" y="3017520"/>
            <a:ext cx="8321497" cy="0"/>
          </a:xfrm>
          <a:prstGeom prst="line">
            <a:avLst/>
          </a:prstGeom>
          <a:noFill/>
          <a:ln w="38100">
            <a:solidFill>
              <a:srgbClr val="E3641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79067" y="2761488"/>
            <a:ext cx="512064" cy="512064"/>
          </a:xfrm>
          <a:prstGeom prst="ellipse">
            <a:avLst/>
          </a:prstGeom>
          <a:solidFill>
            <a:srgbClr val="FFFFFF"/>
          </a:solidFill>
          <a:ln w="38100">
            <a:solidFill>
              <a:srgbClr val="C1121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79067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11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452899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5" name="Text 13"/>
          <p:cNvSpPr/>
          <p:nvPr/>
        </p:nvSpPr>
        <p:spPr>
          <a:xfrm>
            <a:off x="4452899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413912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13912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Received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505352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26732" y="2761488"/>
            <a:ext cx="512064" cy="51206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7226732" y="27614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187745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87745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Verified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79185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927412" y="2688336"/>
            <a:ext cx="658368" cy="658368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5" name="Text 23"/>
          <p:cNvSpPr/>
          <p:nvPr/>
        </p:nvSpPr>
        <p:spPr>
          <a:xfrm>
            <a:off x="9927412" y="26883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961577" y="3566160"/>
            <a:ext cx="259003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8961577" y="3840480"/>
            <a:ext cx="25900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TestFlight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053017" y="4224528"/>
            <a:ext cx="24071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486400"/>
            <a:ext cx="10908792" cy="777240"/>
          </a:xfrm>
          <a:prstGeom prst="roundRect">
            <a:avLst>
              <a:gd name="adj" fmla="val 2117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914400" y="548640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Impact:  </a:t>
            </a:r>
            <a:pPr indent="0" marL="0">
              <a:buNone/>
            </a:pPr>
            <a:r>
              <a:rPr lang="en-US" sz="135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app is published under the company's own verified account, ready for beta testers.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1376172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1376172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65%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822960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22960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98264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2" name="Chart 1" descr=""/>
          <p:cNvGraphicFramePr/>
          <p:nvPr/>
        </p:nvGraphicFramePr>
        <p:xfrm>
          <a:off x="5134356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/>
          <p:nvPr/>
        </p:nvSpPr>
        <p:spPr>
          <a:xfrm>
            <a:off x="5134356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4581144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4581144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156448" y="1783080"/>
            <a:ext cx="3392424" cy="2971800"/>
          </a:xfrm>
          <a:prstGeom prst="roundRect">
            <a:avLst>
              <a:gd name="adj" fmla="val 5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17" name="Chart 2" descr=""/>
          <p:cNvGraphicFramePr/>
          <p:nvPr/>
        </p:nvGraphicFramePr>
        <p:xfrm>
          <a:off x="8892540" y="196596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3"/>
          <p:cNvSpPr/>
          <p:nvPr/>
        </p:nvSpPr>
        <p:spPr>
          <a:xfrm>
            <a:off x="8892540" y="1965960"/>
            <a:ext cx="1920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70%</a:t>
            </a:r>
            <a:endParaRPr lang="en-US" sz="2400" dirty="0"/>
          </a:p>
        </p:txBody>
      </p:sp>
      <p:sp>
        <p:nvSpPr>
          <p:cNvPr id="19" name="Text 14"/>
          <p:cNvSpPr/>
          <p:nvPr/>
        </p:nvSpPr>
        <p:spPr>
          <a:xfrm>
            <a:off x="8339328" y="3977640"/>
            <a:ext cx="30266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39328" y="4325112"/>
            <a:ext cx="3026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40080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0080" y="4983480"/>
            <a:ext cx="91440" cy="868680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3" name="Text 18"/>
          <p:cNvSpPr/>
          <p:nvPr/>
        </p:nvSpPr>
        <p:spPr>
          <a:xfrm>
            <a:off x="914400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24" name="Text 19"/>
          <p:cNvSpPr/>
          <p:nvPr/>
        </p:nvSpPr>
        <p:spPr>
          <a:xfrm>
            <a:off x="1645920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400" dirty="0"/>
          </a:p>
        </p:txBody>
      </p:sp>
      <p:sp>
        <p:nvSpPr>
          <p:cNvPr id="25" name="Shape 20"/>
          <p:cNvSpPr/>
          <p:nvPr/>
        </p:nvSpPr>
        <p:spPr>
          <a:xfrm>
            <a:off x="4398264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98264" y="4983480"/>
            <a:ext cx="91440" cy="86868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7" name="Text 22"/>
          <p:cNvSpPr/>
          <p:nvPr/>
        </p:nvSpPr>
        <p:spPr>
          <a:xfrm>
            <a:off x="4672584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28" name="Text 23"/>
          <p:cNvSpPr/>
          <p:nvPr/>
        </p:nvSpPr>
        <p:spPr>
          <a:xfrm>
            <a:off x="5404104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In Progress</a:t>
            </a:r>
            <a:endParaRPr lang="en-US" sz="1400" dirty="0"/>
          </a:p>
        </p:txBody>
      </p:sp>
      <p:sp>
        <p:nvSpPr>
          <p:cNvPr id="29" name="Shape 24"/>
          <p:cNvSpPr/>
          <p:nvPr/>
        </p:nvSpPr>
        <p:spPr>
          <a:xfrm>
            <a:off x="8156448" y="4983480"/>
            <a:ext cx="3392424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30" name="Shape 25"/>
          <p:cNvSpPr/>
          <p:nvPr/>
        </p:nvSpPr>
        <p:spPr>
          <a:xfrm>
            <a:off x="8156448" y="4983480"/>
            <a:ext cx="91440" cy="868680"/>
          </a:xfrm>
          <a:prstGeom prst="rect">
            <a:avLst/>
          </a:prstGeom>
          <a:solidFill>
            <a:srgbClr val="E9E4DC"/>
          </a:solidFill>
          <a:ln/>
        </p:spPr>
      </p:sp>
      <p:sp>
        <p:nvSpPr>
          <p:cNvPr id="31" name="Text 26"/>
          <p:cNvSpPr/>
          <p:nvPr/>
        </p:nvSpPr>
        <p:spPr>
          <a:xfrm>
            <a:off x="8430768" y="4983480"/>
            <a:ext cx="731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32" name="Text 27"/>
          <p:cNvSpPr/>
          <p:nvPr/>
        </p:nvSpPr>
        <p:spPr>
          <a:xfrm>
            <a:off x="9162288" y="4983480"/>
            <a:ext cx="22037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Not Started</a:t>
            </a:r>
            <a:endParaRPr lang="en-US" sz="1400" dirty="0"/>
          </a:p>
        </p:txBody>
      </p:sp>
      <p:sp>
        <p:nvSpPr>
          <p:cNvPr id="33" name="Text 28"/>
          <p:cNvSpPr/>
          <p:nvPr/>
        </p:nvSpPr>
        <p:spPr>
          <a:xfrm>
            <a:off x="640080" y="60350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168396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Leo Park @Leo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914400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77356" y="1783080"/>
            <a:ext cx="5271516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51676" y="2011680"/>
            <a:ext cx="23454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805672" y="20116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Dev: Nina Rao @Nina</a:t>
            </a:r>
            <a:endParaRPr lang="en-US" sz="1200" dirty="0"/>
          </a:p>
        </p:txBody>
      </p:sp>
      <p:graphicFrame>
        <p:nvGraphicFramePr>
          <p:cNvPr id="14" name="Chart 1" descr=""/>
          <p:cNvGraphicFramePr/>
          <p:nvPr/>
        </p:nvGraphicFramePr>
        <p:xfrm>
          <a:off x="6414516" y="2423160"/>
          <a:ext cx="4997196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 11"/>
          <p:cNvSpPr/>
          <p:nvPr/>
        </p:nvSpPr>
        <p:spPr>
          <a:xfrm>
            <a:off x="6551676" y="5669280"/>
            <a:ext cx="47228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ClinicBook: What Was Done on Each Task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68680" y="196596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68680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P3 · Booking Calendar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68680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68680" y="2871597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pick a doctor, a day and a time slot in one screen. Free slots update as other patients book, so nobody is offered a time that is already taken.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380123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68680" y="4130421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4" name="Text 12"/>
          <p:cNvSpPr/>
          <p:nvPr/>
        </p:nvSpPr>
        <p:spPr>
          <a:xfrm>
            <a:off x="1115568" y="407555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Doctor and day picker built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68680" y="4352925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6" name="Text 14"/>
          <p:cNvSpPr/>
          <p:nvPr/>
        </p:nvSpPr>
        <p:spPr>
          <a:xfrm>
            <a:off x="1115568" y="429806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time slots shown live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68680" y="4575429"/>
            <a:ext cx="118872" cy="118872"/>
          </a:xfrm>
          <a:prstGeom prst="ellipse">
            <a:avLst/>
          </a:prstGeom>
          <a:ln w="19050">
            <a:solidFill>
              <a:srgbClr val="E3641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15568" y="452056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confirmation screen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68680" y="4797933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4743069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Rescheduling an existing booking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68680" y="5020437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15568" y="4965573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Cancellation with clinic notice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367784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96384" y="1965960"/>
            <a:ext cx="104241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25" name="Text 23"/>
          <p:cNvSpPr/>
          <p:nvPr/>
        </p:nvSpPr>
        <p:spPr>
          <a:xfrm>
            <a:off x="4596384" y="1965960"/>
            <a:ext cx="10424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96384" y="2313432"/>
            <a:ext cx="2996184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P2 · Clinic Search and Maps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4596384" y="283540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96384" y="3109722"/>
            <a:ext cx="2996184" cy="792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find nearby clinics by name, specialty or distance and open directions in their maps app. Reviewed and approved this week.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96384" y="4039362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96384" y="4368546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1" name="Text 29"/>
          <p:cNvSpPr/>
          <p:nvPr/>
        </p:nvSpPr>
        <p:spPr>
          <a:xfrm>
            <a:off x="4843272" y="4313682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by name and specialty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96384" y="4591050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3" name="Text 31"/>
          <p:cNvSpPr/>
          <p:nvPr/>
        </p:nvSpPr>
        <p:spPr>
          <a:xfrm>
            <a:off x="4843272" y="4536186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 sorting from the patient's location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96384" y="4813554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5" name="Text 33"/>
          <p:cNvSpPr/>
          <p:nvPr/>
        </p:nvSpPr>
        <p:spPr>
          <a:xfrm>
            <a:off x="4843272" y="4758690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Directions open in the maps app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96384" y="503605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37" name="Text 35"/>
          <p:cNvSpPr/>
          <p:nvPr/>
        </p:nvSpPr>
        <p:spPr>
          <a:xfrm>
            <a:off x="4843272" y="4981194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offline for recent searches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095488" y="1783080"/>
            <a:ext cx="3453384" cy="3694938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8324088" y="1965960"/>
            <a:ext cx="1225296" cy="292608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40" name="Text 38"/>
          <p:cNvSpPr/>
          <p:nvPr/>
        </p:nvSpPr>
        <p:spPr>
          <a:xfrm>
            <a:off x="8324088" y="1965960"/>
            <a:ext cx="12252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324088" y="2313432"/>
            <a:ext cx="2996184" cy="238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P4 · Payments and Receipts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324088" y="259727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8324088" y="2871597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Patients pay the booking deposit in the app and get a receipt by email. Starts after the booking calendar is approved.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8324088" y="3603117"/>
            <a:ext cx="29961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24088" y="3932301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570976" y="3877437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a payment method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24088" y="4154805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570976" y="4099941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the booking deposit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8324088" y="4377309"/>
            <a:ext cx="118872" cy="118872"/>
          </a:xfrm>
          <a:prstGeom prst="ellipse">
            <a:avLst/>
          </a:prstGeom>
          <a:ln w="19050">
            <a:solidFill>
              <a:srgbClr val="B8B8B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570976" y="4322445"/>
            <a:ext cx="2749296" cy="22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Receipt sent by email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640080" y="561517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as of this week's review; detail comes from the task tracker and the lead's code reviews.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017520" cy="4434840"/>
          </a:xfrm>
          <a:prstGeom prst="roundRect">
            <a:avLst>
              <a:gd name="adj" fmla="val 5455"/>
            </a:avLst>
          </a:prstGeom>
          <a:solidFill>
            <a:srgbClr val="0F4C5C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01168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14400" y="280720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reviewed this week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331927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333756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914400" y="413308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for release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4645152"/>
            <a:ext cx="2468880" cy="0"/>
          </a:xfrm>
          <a:prstGeom prst="line">
            <a:avLst/>
          </a:prstGeom>
          <a:noFill/>
          <a:ln w="9525">
            <a:solidFill>
              <a:srgbClr val="3A3A3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4663440"/>
            <a:ext cx="2468880" cy="76901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914400" y="5458968"/>
            <a:ext cx="2468880" cy="4773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 passing (100%)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77640" y="1783080"/>
            <a:ext cx="7571232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2084832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17" name="Text 15"/>
          <p:cNvSpPr/>
          <p:nvPr/>
        </p:nvSpPr>
        <p:spPr>
          <a:xfrm>
            <a:off x="4389120" y="2048256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304288"/>
            <a:ext cx="5751576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369296" y="2066544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0369296" y="2066544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06240" y="3325368"/>
            <a:ext cx="64008" cy="984504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2" name="Text 20"/>
          <p:cNvSpPr/>
          <p:nvPr/>
        </p:nvSpPr>
        <p:spPr>
          <a:xfrm>
            <a:off x="4389120" y="3288792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3544824"/>
            <a:ext cx="4837176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454896" y="3307080"/>
            <a:ext cx="1865376" cy="292608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25" name="Text 23"/>
          <p:cNvSpPr/>
          <p:nvPr/>
        </p:nvSpPr>
        <p:spPr>
          <a:xfrm>
            <a:off x="9454896" y="330708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206240" y="4565904"/>
            <a:ext cx="64008" cy="98450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27" name="Text 25"/>
          <p:cNvSpPr/>
          <p:nvPr/>
        </p:nvSpPr>
        <p:spPr>
          <a:xfrm>
            <a:off x="4389120" y="4529328"/>
            <a:ext cx="5285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4785360"/>
            <a:ext cx="5751576" cy="801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0369296" y="4547616"/>
            <a:ext cx="950976" cy="292608"/>
          </a:xfrm>
          <a:prstGeom prst="roundRect">
            <a:avLst>
              <a:gd name="adj" fmla="val 50000"/>
            </a:avLst>
          </a:prstGeom>
          <a:solidFill>
            <a:srgbClr val="E36414"/>
          </a:solidFill>
          <a:ln/>
        </p:spPr>
      </p:sp>
      <p:sp>
        <p:nvSpPr>
          <p:cNvPr id="30" name="Text 28"/>
          <p:cNvSpPr/>
          <p:nvPr/>
        </p:nvSpPr>
        <p:spPr>
          <a:xfrm>
            <a:off x="10369296" y="4547616"/>
            <a:ext cx="950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389120" y="5760720"/>
            <a:ext cx="69311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71516" cy="82296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B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Blockers &amp; Risks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2532888"/>
            <a:ext cx="329184" cy="329184"/>
          </a:xfrm>
          <a:prstGeom prst="ellipse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!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371600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release waiting on one fix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Duplicate reminders must be prevented before release. Fix is small and already tested.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 · Expected: next week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277356" y="1783080"/>
            <a:ext cx="5271516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77356" y="1783080"/>
            <a:ext cx="5271516" cy="82296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14" name="Text 12"/>
          <p:cNvSpPr/>
          <p:nvPr/>
        </p:nvSpPr>
        <p:spPr>
          <a:xfrm>
            <a:off x="6551676" y="2039112"/>
            <a:ext cx="47228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Needed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51676" y="2532888"/>
            <a:ext cx="329184" cy="329184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16" name="Text 14"/>
          <p:cNvSpPr/>
          <p:nvPr/>
        </p:nvSpPr>
        <p:spPr>
          <a:xfrm>
            <a:off x="6551676" y="25328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008876" y="2514600"/>
            <a:ext cx="42656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35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patients turn off SMS reminders and keep email only?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every patient with a phone number receives SMS reminders; some clinics report complaints.</a:t>
            </a:r>
            <a:endParaRPr lang="en-US" sz="1350" dirty="0"/>
          </a:p>
          <a:p>
            <a:pPr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100" i="1" dirty="0">
                <a:solidFill>
                  <a:srgbClr val="8A8A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Options: allow opt-out · clinic decides per patient · keep as today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3268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258568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2715768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32688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15" name="Shape 13"/>
          <p:cNvSpPr/>
          <p:nvPr/>
        </p:nvSpPr>
        <p:spPr>
          <a:xfrm>
            <a:off x="932688" y="3200400"/>
            <a:ext cx="1441094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16" name="Text 14"/>
          <p:cNvSpPr/>
          <p:nvPr/>
        </p:nvSpPr>
        <p:spPr>
          <a:xfrm>
            <a:off x="3334512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32688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32688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0" name="Text 18"/>
          <p:cNvSpPr/>
          <p:nvPr/>
        </p:nvSpPr>
        <p:spPr>
          <a:xfrm>
            <a:off x="1152144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32688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22" name="Text 20"/>
          <p:cNvSpPr/>
          <p:nvPr/>
        </p:nvSpPr>
        <p:spPr>
          <a:xfrm>
            <a:off x="1152144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24" name="Text 22"/>
          <p:cNvSpPr/>
          <p:nvPr/>
        </p:nvSpPr>
        <p:spPr>
          <a:xfrm>
            <a:off x="1152144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26" name="Text 24"/>
          <p:cNvSpPr/>
          <p:nvPr/>
        </p:nvSpPr>
        <p:spPr>
          <a:xfrm>
            <a:off x="1152144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67784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367784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29" name="Text 27"/>
          <p:cNvSpPr/>
          <p:nvPr/>
        </p:nvSpPr>
        <p:spPr>
          <a:xfrm>
            <a:off x="4660392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660392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66039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117592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986272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6443472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60392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36" name="Shape 34"/>
          <p:cNvSpPr/>
          <p:nvPr/>
        </p:nvSpPr>
        <p:spPr>
          <a:xfrm>
            <a:off x="4660392" y="3200400"/>
            <a:ext cx="1681277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37" name="Text 35"/>
          <p:cNvSpPr/>
          <p:nvPr/>
        </p:nvSpPr>
        <p:spPr>
          <a:xfrm>
            <a:off x="7062216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660392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660392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660392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1" name="Text 39"/>
          <p:cNvSpPr/>
          <p:nvPr/>
        </p:nvSpPr>
        <p:spPr>
          <a:xfrm>
            <a:off x="4879848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660392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43" name="Text 41"/>
          <p:cNvSpPr/>
          <p:nvPr/>
        </p:nvSpPr>
        <p:spPr>
          <a:xfrm>
            <a:off x="4879848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660392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45" name="Text 43"/>
          <p:cNvSpPr/>
          <p:nvPr/>
        </p:nvSpPr>
        <p:spPr>
          <a:xfrm>
            <a:off x="4879848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660392" y="5641848"/>
            <a:ext cx="118872" cy="118872"/>
          </a:xfrm>
          <a:prstGeom prst="ellipse">
            <a:avLst/>
          </a:prstGeom>
          <a:solidFill>
            <a:srgbClr val="E9E4DC"/>
          </a:solidFill>
          <a:ln/>
        </p:spPr>
      </p:sp>
      <p:sp>
        <p:nvSpPr>
          <p:cNvPr id="47" name="Text 45"/>
          <p:cNvSpPr/>
          <p:nvPr/>
        </p:nvSpPr>
        <p:spPr>
          <a:xfrm>
            <a:off x="4879848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095488" y="1783080"/>
            <a:ext cx="3453384" cy="4434840"/>
          </a:xfrm>
          <a:prstGeom prst="roundRect">
            <a:avLst>
              <a:gd name="adj" fmla="val 476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8095488" y="1783080"/>
            <a:ext cx="82296" cy="4434840"/>
          </a:xfrm>
          <a:prstGeom prst="rect">
            <a:avLst/>
          </a:prstGeom>
          <a:solidFill>
            <a:srgbClr val="F8C9A6"/>
          </a:solidFill>
          <a:ln/>
        </p:spPr>
      </p:sp>
      <p:sp>
        <p:nvSpPr>
          <p:cNvPr id="50" name="Text 48"/>
          <p:cNvSpPr/>
          <p:nvPr/>
        </p:nvSpPr>
        <p:spPr>
          <a:xfrm>
            <a:off x="8388096" y="1984248"/>
            <a:ext cx="29504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388096" y="2295144"/>
            <a:ext cx="29504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4A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838809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600" dirty="0"/>
          </a:p>
        </p:txBody>
      </p:sp>
      <p:sp>
        <p:nvSpPr>
          <p:cNvPr id="53" name="Text 51"/>
          <p:cNvSpPr/>
          <p:nvPr/>
        </p:nvSpPr>
        <p:spPr>
          <a:xfrm>
            <a:off x="8845296" y="260604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 this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9713976" y="2606040"/>
            <a:ext cx="411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600" dirty="0"/>
          </a:p>
        </p:txBody>
      </p:sp>
      <p:sp>
        <p:nvSpPr>
          <p:cNvPr id="55" name="Text 53"/>
          <p:cNvSpPr/>
          <p:nvPr/>
        </p:nvSpPr>
        <p:spPr>
          <a:xfrm>
            <a:off x="10171176" y="26060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388096" y="3200400"/>
            <a:ext cx="2401824" cy="118872"/>
          </a:xfrm>
          <a:prstGeom prst="roundRect">
            <a:avLst>
              <a:gd name="adj" fmla="val 50000"/>
            </a:avLst>
          </a:prstGeom>
          <a:solidFill>
            <a:srgbClr val="E9E4DC"/>
          </a:solidFill>
          <a:ln/>
        </p:spPr>
      </p:sp>
      <p:sp>
        <p:nvSpPr>
          <p:cNvPr id="57" name="Shape 55"/>
          <p:cNvSpPr/>
          <p:nvPr/>
        </p:nvSpPr>
        <p:spPr>
          <a:xfrm>
            <a:off x="8388096" y="3200400"/>
            <a:ext cx="1801368" cy="118872"/>
          </a:xfrm>
          <a:prstGeom prst="roundRect">
            <a:avLst>
              <a:gd name="adj" fmla="val 50000"/>
            </a:avLst>
          </a:prstGeom>
          <a:solidFill>
            <a:srgbClr val="F8C9A6"/>
          </a:solidFill>
          <a:ln/>
        </p:spPr>
      </p:sp>
      <p:sp>
        <p:nvSpPr>
          <p:cNvPr id="58" name="Text 56"/>
          <p:cNvSpPr/>
          <p:nvPr/>
        </p:nvSpPr>
        <p:spPr>
          <a:xfrm>
            <a:off x="10789920" y="31272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8388096" y="3456432"/>
            <a:ext cx="29504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388096" y="4069080"/>
            <a:ext cx="2950464" cy="0"/>
          </a:xfrm>
          <a:prstGeom prst="line">
            <a:avLst/>
          </a:prstGeom>
          <a:noFill/>
          <a:ln w="9525">
            <a:solidFill>
              <a:srgbClr val="E0E2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388096" y="42702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2" name="Text 60"/>
          <p:cNvSpPr/>
          <p:nvPr/>
        </p:nvSpPr>
        <p:spPr>
          <a:xfrm>
            <a:off x="8607552" y="42062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8388096" y="47274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4" name="Text 62"/>
          <p:cNvSpPr/>
          <p:nvPr/>
        </p:nvSpPr>
        <p:spPr>
          <a:xfrm>
            <a:off x="8607552" y="46634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88096" y="5184648"/>
            <a:ext cx="118872" cy="118872"/>
          </a:xfrm>
          <a:prstGeom prst="ellipse">
            <a:avLst/>
          </a:prstGeom>
          <a:solidFill>
            <a:srgbClr val="F8C9A6"/>
          </a:solidFill>
          <a:ln/>
        </p:spPr>
      </p:sp>
      <p:sp>
        <p:nvSpPr>
          <p:cNvPr id="66" name="Text 64"/>
          <p:cNvSpPr/>
          <p:nvPr/>
        </p:nvSpPr>
        <p:spPr>
          <a:xfrm>
            <a:off x="8607552" y="51206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8388096" y="5641848"/>
            <a:ext cx="118872" cy="118872"/>
          </a:xfrm>
          <a:prstGeom prst="ellipse">
            <a:avLst/>
          </a:prstGeom>
          <a:solidFill>
            <a:srgbClr val="E36414"/>
          </a:solidFill>
          <a:ln/>
        </p:spPr>
      </p:sp>
      <p:sp>
        <p:nvSpPr>
          <p:cNvPr id="68" name="Text 66"/>
          <p:cNvSpPr/>
          <p:nvPr/>
        </p:nvSpPr>
        <p:spPr>
          <a:xfrm>
            <a:off x="8607552" y="5577840"/>
            <a:ext cx="27310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F4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640080" y="63093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B8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7680960" cy="443484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graphicFrame>
        <p:nvGraphicFramePr>
          <p:cNvPr id="7" name="Chart 0" descr=""/>
          <p:cNvGraphicFramePr/>
          <p:nvPr/>
        </p:nvGraphicFramePr>
        <p:xfrm>
          <a:off x="777240" y="1965960"/>
          <a:ext cx="740664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914400" y="57607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641080" y="178308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0F4C5C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89280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E36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1" name="Text 8"/>
          <p:cNvSpPr/>
          <p:nvPr/>
        </p:nvSpPr>
        <p:spPr>
          <a:xfrm>
            <a:off x="8869680" y="259689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8D8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641080" y="332232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869680" y="343204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8869680" y="413613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8641080" y="4861560"/>
            <a:ext cx="2907792" cy="1356360"/>
          </a:xfrm>
          <a:prstGeom prst="roundRect">
            <a:avLst>
              <a:gd name="adj" fmla="val 12135"/>
            </a:avLst>
          </a:prstGeom>
          <a:solidFill>
            <a:srgbClr val="FFFFFF"/>
          </a:solidFill>
          <a:ln w="12700">
            <a:solidFill>
              <a:srgbClr val="E9E4D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9680" y="4971288"/>
            <a:ext cx="2450592" cy="74599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0F4C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3200" dirty="0"/>
          </a:p>
        </p:txBody>
      </p:sp>
      <p:sp>
        <p:nvSpPr>
          <p:cNvPr id="17" name="Text 14"/>
          <p:cNvSpPr/>
          <p:nvPr/>
        </p:nvSpPr>
        <p:spPr>
          <a:xfrm>
            <a:off x="8869680" y="5675376"/>
            <a:ext cx="2450592" cy="47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4A4A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 completed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17320"/>
          </a:xfrm>
          <a:prstGeom prst="rect">
            <a:avLst/>
          </a:prstGeom>
          <a:solidFill>
            <a:srgbClr val="0F4C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417320"/>
            <a:ext cx="12191695" cy="54864"/>
          </a:xfrm>
          <a:prstGeom prst="rect">
            <a:avLst/>
          </a:prstGeom>
          <a:solidFill>
            <a:srgbClr val="E36414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9184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621792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Week's Plan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920240"/>
                <a:gridCol w="4965192"/>
                <a:gridCol w="15544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Project / track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focus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4C5C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Patient App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Leo Park @Leo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the booking calendar, then start payments and receipts.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P3 · 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ClinicBook · Clinic Dashboard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Nina Rao @Nina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Apply the duplicate-reminder fix and release reminders; start reports and exports.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P4 · 80%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PulseBoard · Usage Tracking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Finish adding usage tracking to the web app, then open the first dashboard to managers.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PROGRESS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9A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F4C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 Store Release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Maya Lin @Maya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Invite the first 20 clinic staff to TestFlight.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4A4A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STARTED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37160" marR="137160" marT="73152" marB="73152" anchor="ctr">
                    <a:lnL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E1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4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4C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0"/>
            <a:ext cx="3047695" cy="6858000"/>
          </a:xfrm>
          <a:prstGeom prst="rect">
            <a:avLst/>
          </a:prstGeom>
          <a:solidFill>
            <a:srgbClr val="E36414"/>
          </a:solidFill>
          <a:ln/>
        </p:spPr>
      </p:sp>
      <p:pic>
        <p:nvPicPr>
          <p:cNvPr id="3" name="Image 0" descr="/var/folders/lw/rmylcyvd5rjfxk9g1z9rrm8w0000gq/T/showship-deck-xH3gX6/logo_trim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0112" y="649224"/>
            <a:ext cx="568616" cy="658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91640" y="5486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256032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85800" y="36118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640080" y="5577840"/>
            <a:ext cx="6035040" cy="822960"/>
          </a:xfrm>
          <a:prstGeom prst="roundRect">
            <a:avLst>
              <a:gd name="adj" fmla="val 13333"/>
            </a:avLst>
          </a:prstGeom>
          <a:solidFill>
            <a:srgbClr val="FFFFFF">
              <a:alpha val="12000"/>
            </a:srgbClr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5778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206240" y="5577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8C9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Date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2026-10-15T14:34:37Z</dcterms:created>
  <dcterms:modified xsi:type="dcterms:W3CDTF">2026-10-15T14:34:37Z</dcterms:modified>
</cp:coreProperties>
</file>